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20–25 seconds.
Opening: “Kerala Police does not need another model that simply draws boxes around boats. The RFP calls for a complete operational platform integrating drone video, AI, telemetry, GIS, alerts, evidence, security and centralized monitoring. SmartQEye Coastal has been designed specifically for that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~35 seconds.
Do not read all cards. Say the RFP is system-level: 16 analytics, 20 feeds, central dashboard, GIS/telemetry, alerts/evidence, secure APIs and lifecycle support. That is the benchmark for our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~40 seconds.
Use one example: clustering can be normal during fishing; repeated turns can be normal in water sports; the same pattern near a restricted area at an unusual time may need attention. This is why our intelligence layer is contextual, not a generic anomaly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~45 seconds.
Say: “The most relevant point is that we have already developed and demonstrated drone-video analytics for Kerala Police under a formal work order. SmartQEye Coastal extends that engineering foundation into the coastal domain.” Do not mention pending final demo, hardware delays or procurement.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~50 seconds.
Explain only the transitions. Emphasize that CFS and CKFE are different. End with: “The final operational and legal interpretation remains with authorized Kerala Police personnel.”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3–3.5 minutes.
Demonstrate only what truly works. Preferred story: video → detection/tracking → zone or behaviour → event/alert → evidence/dashboard. Do not simulate unimplemented functions as if operational. Keep a prerecorded backup clip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~35 seconds.
Highlight temporary detector misses, occlusion and reappearance. SmartQEye Coastal preserves contact history when evidence supports continuity, and retains uncertainty when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~35 seconds.
State clearly: we initially use separate RGB and thermal models. We do not assume same resolution, FOV, frame rate or pixel alignment. Correlation occurs at the persistent-contact layer using time, telemetry and tracking.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~40 seconds.
This is where the RFP becomes operational: telemetry + GIS + analytics produce location-aware alerts, and significant events become evidence-linked records with clips, keyframes, contact history and auditability.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~40 seconds.
Do not claim 22-feed validation unless formally completed. Say the architecture is designed around the RFP minimum of 20 concurrent feeds and the final operating envelope will be benchmarked on the approved production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~50 seconds.
Key sentence: “This is not a criticism of YOLO technically. We deliberately avoid making Kerala Police architecturally dependent on one detector family or licensing decision.” Mention RTMDet/MMDetection and RT-DETR as permissively licensed candidates, subject to benchmark results.
Current official sources checked 15 Oct 2026: Ultralytics license page; Ultralytics GitHub AGPL-3.0; MMDetection Apache-2.0; official RT-DETR Apache-2.0.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~55 seconds.
Spend most time on Models 1 and 2. State that Models 3 and 4 are expansion options, not dependencies. This prevents the architecture from sounding unnecessarily complex.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~45 seconds.
Position the first three months as a development accelerator, not as a workaround for missing Police hardware. Say the final operational system remains under Kerala Police-approved infrastructure, security and data-governance arrangements.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~40 seconds.
Emphasize the 16-week commitment and the sequence. Mention that designated UAV/GCS access is most important during interface integration and field validation, not continuously throughout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~25 seconds.
Close with the final sentence on the slide, then stop. Do not add a separate “Thank You” slide. Invite questions verbally.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6F9FB"/>
        </a:solidFill>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1F33"/>
          </a:solidFill>
          <a:ln w="12700">
            <a:solidFill>
              <a:srgbClr val="0B1F33"/>
            </a:solidFill>
            <a:prstDash val="solid"/>
          </a:ln>
        </p:spPr>
      </p:sp>
      <p:sp>
        <p:nvSpPr>
          <p:cNvPr id="3" name="Text 1"/>
          <p:cNvSpPr/>
          <p:nvPr/>
        </p:nvSpPr>
        <p:spPr>
          <a:xfrm>
            <a:off x="502920" y="164592"/>
            <a:ext cx="2560320" cy="201168"/>
          </a:xfrm>
          <a:prstGeom prst="rect">
            <a:avLst/>
          </a:prstGeom>
          <a:noFill/>
          <a:ln/>
        </p:spPr>
        <p:txBody>
          <a:bodyPr wrap="square" lIns="0" tIns="0" rIns="0" bIns="0" rtlCol="0" anchor="ctr"/>
          <a:lstStyle/>
          <a:p>
            <a:pPr indent="0" marL="0">
              <a:buNone/>
            </a:pPr>
            <a:r>
              <a:rPr lang="en-US" sz="900" b="1" spc="110" kern="0" dirty="0">
                <a:solidFill>
                  <a:srgbClr val="FFFFFF"/>
                </a:solidFill>
                <a:latin typeface="Aptos" pitchFamily="34" charset="0"/>
                <a:ea typeface="Aptos" pitchFamily="34" charset="-122"/>
                <a:cs typeface="Aptos" pitchFamily="34" charset="-120"/>
              </a:rPr>
              <a:t>SMARTQ EYE COASTAL</a:t>
            </a:r>
            <a:endParaRPr lang="en-US" sz="900" dirty="0"/>
          </a:p>
        </p:txBody>
      </p:sp>
      <p:sp>
        <p:nvSpPr>
          <p:cNvPr id="4" name="Text 2"/>
          <p:cNvSpPr/>
          <p:nvPr/>
        </p:nvSpPr>
        <p:spPr>
          <a:xfrm>
            <a:off x="9555480" y="164592"/>
            <a:ext cx="2103120" cy="201168"/>
          </a:xfrm>
          <a:prstGeom prst="rect">
            <a:avLst/>
          </a:prstGeom>
          <a:noFill/>
          <a:ln/>
        </p:spPr>
        <p:txBody>
          <a:bodyPr wrap="square" lIns="0" tIns="0" rIns="0" bIns="0" rtlCol="0" anchor="ctr"/>
          <a:lstStyle/>
          <a:p>
            <a:pPr algn="r" indent="0" marL="0">
              <a:buNone/>
            </a:pPr>
            <a:r>
              <a:rPr lang="en-US" sz="800" dirty="0">
                <a:solidFill>
                  <a:srgbClr val="BFD6E6"/>
                </a:solidFill>
                <a:latin typeface="Aptos" pitchFamily="34" charset="0"/>
                <a:ea typeface="Aptos" pitchFamily="34" charset="-122"/>
                <a:cs typeface="Aptos" pitchFamily="34" charset="-120"/>
              </a:rPr>
              <a:t>Quantumweave Intelligence</a:t>
            </a:r>
            <a:endParaRPr lang="en-US" sz="800" dirty="0"/>
          </a:p>
        </p:txBody>
      </p:sp>
      <p:sp>
        <p:nvSpPr>
          <p:cNvPr id="5" name="Shape 3"/>
          <p:cNvSpPr/>
          <p:nvPr/>
        </p:nvSpPr>
        <p:spPr>
          <a:xfrm>
            <a:off x="502920" y="6528816"/>
            <a:ext cx="11155680" cy="18288"/>
          </a:xfrm>
          <a:prstGeom prst="rect">
            <a:avLst/>
          </a:prstGeom>
          <a:solidFill>
            <a:srgbClr val="D6E4EC"/>
          </a:solidFill>
          <a:ln w="12700">
            <a:solidFill>
              <a:srgbClr val="D6E4EC"/>
            </a:solidFill>
            <a:prstDash val="solid"/>
          </a:ln>
        </p:spPr>
      </p:sp>
      <p:sp>
        <p:nvSpPr>
          <p:cNvPr id="6" name="Text 4"/>
          <p:cNvSpPr/>
          <p:nvPr/>
        </p:nvSpPr>
        <p:spPr>
          <a:xfrm>
            <a:off x="502920" y="6565392"/>
            <a:ext cx="7315200" cy="146304"/>
          </a:xfrm>
          <a:prstGeom prst="rect">
            <a:avLst/>
          </a:prstGeom>
          <a:noFill/>
          <a:ln/>
        </p:spPr>
        <p:txBody>
          <a:bodyPr wrap="square" lIns="0" tIns="0" rIns="0" bIns="0" rtlCol="0" anchor="ctr"/>
          <a:lstStyle/>
          <a:p>
            <a:pPr indent="0" marL="0">
              <a:buNone/>
            </a:pPr>
            <a:r>
              <a:rPr lang="en-US" sz="750" dirty="0">
                <a:solidFill>
                  <a:srgbClr val="6B7D89"/>
                </a:solidFill>
                <a:latin typeface="Aptos" pitchFamily="34" charset="0"/>
                <a:ea typeface="Aptos" pitchFamily="34" charset="-122"/>
                <a:cs typeface="Aptos" pitchFamily="34" charset="-120"/>
              </a:rPr>
              <a:t>Kerala Police Coastal Drone Surveillance | Technical Presentation</a:t>
            </a:r>
            <a:endParaRPr lang="en-US" sz="750" dirty="0"/>
          </a:p>
        </p:txBody>
      </p:sp>
      <p:sp>
        <p:nvSpPr>
          <p:cNvPr id="25" name="Slide Number Placeholder 0"/>
          <p:cNvSpPr>
            <a:spLocks noGrp="1"/>
          </p:cNvSpPr>
          <p:nvPr>
            <p:ph type="sldNum" sz="quarter" idx="4294967295"/>
          </p:nvPr>
        </p:nvSpPr>
        <p:spPr>
          <a:xfrm>
            <a:off x="11631168" y="6547104"/>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B7D89"/>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31168" y="6547104"/>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B7D89"/>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image" Target="../media/image-2-9.png"/><Relationship Id="rId10" Type="http://schemas.openxmlformats.org/officeDocument/2006/relationships/image" Target="../media/image-2-10.svg"/><Relationship Id="rId11" Type="http://schemas.openxmlformats.org/officeDocument/2006/relationships/image" Target="../media/image-2-11.png"/><Relationship Id="rId12" Type="http://schemas.openxmlformats.org/officeDocument/2006/relationships/image" Target="../media/image-2-12.svg"/><Relationship Id="rId13" Type="http://schemas.openxmlformats.org/officeDocument/2006/relationships/slideLayout" Target="../slideLayouts/slideLayout2.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image" Target="../media/image-3-11.png"/><Relationship Id="rId12" Type="http://schemas.openxmlformats.org/officeDocument/2006/relationships/image" Target="../media/image-3-12.svg"/><Relationship Id="rId13" Type="http://schemas.openxmlformats.org/officeDocument/2006/relationships/image" Target="../media/image-3-13.png"/><Relationship Id="rId14" Type="http://schemas.openxmlformats.org/officeDocument/2006/relationships/image" Target="../media/image-3-14.svg"/><Relationship Id="rId15" Type="http://schemas.openxmlformats.org/officeDocument/2006/relationships/image" Target="../media/image-3-15.png"/><Relationship Id="rId16" Type="http://schemas.openxmlformats.org/officeDocument/2006/relationships/image" Target="../media/image-3-16.svg"/><Relationship Id="rId17" Type="http://schemas.openxmlformats.org/officeDocument/2006/relationships/image" Target="../media/image-3-17.png"/><Relationship Id="rId18" Type="http://schemas.openxmlformats.org/officeDocument/2006/relationships/image" Target="../media/image-3-18.svg"/><Relationship Id="rId19" Type="http://schemas.openxmlformats.org/officeDocument/2006/relationships/slideLayout" Target="../slideLayouts/slideLayout2.xml"/><Relationship Id="rId2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slideLayout" Target="../slideLayouts/slideLayout2.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image" Target="../media/image-9-7.png"/><Relationship Id="rId8" Type="http://schemas.openxmlformats.org/officeDocument/2006/relationships/image" Target="../media/image-9-8.svg"/><Relationship Id="rId9" Type="http://schemas.openxmlformats.org/officeDocument/2006/relationships/image" Target="../media/image-9-9.png"/><Relationship Id="rId10" Type="http://schemas.openxmlformats.org/officeDocument/2006/relationships/image" Target="../media/image-9-10.svg"/><Relationship Id="rId11" Type="http://schemas.openxmlformats.org/officeDocument/2006/relationships/image" Target="../media/image-9-11.png"/><Relationship Id="rId12" Type="http://schemas.openxmlformats.org/officeDocument/2006/relationships/image" Target="../media/image-9-12.svg"/><Relationship Id="rId13" Type="http://schemas.openxmlformats.org/officeDocument/2006/relationships/image" Target="../media/image-9-13.png"/><Relationship Id="rId14" Type="http://schemas.openxmlformats.org/officeDocument/2006/relationships/image" Target="../media/image-9-14.svg"/><Relationship Id="rId15" Type="http://schemas.openxmlformats.org/officeDocument/2006/relationships/image" Target="../media/image-9-15.png"/><Relationship Id="rId16" Type="http://schemas.openxmlformats.org/officeDocument/2006/relationships/image" Target="../media/image-9-16.svg"/><Relationship Id="rId17" Type="http://schemas.openxmlformats.org/officeDocument/2006/relationships/image" Target="../media/image-9-17.png"/><Relationship Id="rId18" Type="http://schemas.openxmlformats.org/officeDocument/2006/relationships/image" Target="../media/image-9-18.svg"/><Relationship Id="rId19" Type="http://schemas.openxmlformats.org/officeDocument/2006/relationships/image" Target="../media/image-9-19.png"/><Relationship Id="rId20" Type="http://schemas.openxmlformats.org/officeDocument/2006/relationships/image" Target="../media/image-9-20.svg"/><Relationship Id="rId21" Type="http://schemas.openxmlformats.org/officeDocument/2006/relationships/slideLayout" Target="../slideLayouts/slideLayout2.xml"/><Relationship Id="rId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svg"/><Relationship Id="rId9" Type="http://schemas.openxmlformats.org/officeDocument/2006/relationships/image" Target="../media/image-10-9.png"/><Relationship Id="rId10" Type="http://schemas.openxmlformats.org/officeDocument/2006/relationships/image" Target="../media/image-10-10.svg"/><Relationship Id="rId11" Type="http://schemas.openxmlformats.org/officeDocument/2006/relationships/image" Target="../media/image-10-11.png"/><Relationship Id="rId12" Type="http://schemas.openxmlformats.org/officeDocument/2006/relationships/image" Target="../media/image-10-12.svg"/><Relationship Id="rId13" Type="http://schemas.openxmlformats.org/officeDocument/2006/relationships/slideLayout" Target="../slideLayouts/slideLayout2.xml"/><Relationship Id="rId1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image" Target="../media/image-11-8.sv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image" Target="../media/image-13-3.png"/><Relationship Id="rId4" Type="http://schemas.openxmlformats.org/officeDocument/2006/relationships/image" Target="../media/image-13-4.svg"/><Relationship Id="rId5" Type="http://schemas.openxmlformats.org/officeDocument/2006/relationships/image" Target="../media/image-13-5.png"/><Relationship Id="rId6" Type="http://schemas.openxmlformats.org/officeDocument/2006/relationships/image" Target="../media/image-13-6.sv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7818120" y="45720"/>
            <a:ext cx="4251960" cy="4251960"/>
          </a:xfrm>
          <a:prstGeom prst="ellipse">
            <a:avLst/>
          </a:prstGeom>
          <a:solidFill>
            <a:srgbClr val="173E53">
              <a:alpha val="85000"/>
            </a:srgbClr>
          </a:solidFill>
          <a:ln w="12700">
            <a:solidFill>
              <a:srgbClr val="173E53">
                <a:alpha val="0"/>
              </a:srgbClr>
            </a:solidFill>
            <a:prstDash val="solid"/>
          </a:ln>
        </p:spPr>
      </p:sp>
      <p:sp>
        <p:nvSpPr>
          <p:cNvPr id="3" name="Shape 1"/>
          <p:cNvSpPr/>
          <p:nvPr/>
        </p:nvSpPr>
        <p:spPr>
          <a:xfrm>
            <a:off x="8412480" y="502920"/>
            <a:ext cx="3383280" cy="3383280"/>
          </a:xfrm>
          <a:prstGeom prst="ellipse">
            <a:avLst/>
          </a:prstGeom>
          <a:solidFill>
            <a:srgbClr val="1C5269">
              <a:alpha val="75000"/>
            </a:srgbClr>
          </a:solidFill>
          <a:ln w="12700">
            <a:solidFill>
              <a:srgbClr val="1C5269">
                <a:alpha val="0"/>
              </a:srgbClr>
            </a:solidFill>
            <a:prstDash val="solid"/>
          </a:ln>
        </p:spPr>
      </p:sp>
      <p:sp>
        <p:nvSpPr>
          <p:cNvPr id="4" name="Shape 2"/>
          <p:cNvSpPr/>
          <p:nvPr/>
        </p:nvSpPr>
        <p:spPr>
          <a:xfrm>
            <a:off x="8046720" y="2011680"/>
            <a:ext cx="3749040" cy="2011680"/>
          </a:xfrm>
          <a:prstGeom prst="arc">
            <a:avLst/>
          </a:prstGeom>
          <a:solidFill>
            <a:srgbClr val="0B1F33">
              <a:alpha val="0"/>
            </a:srgbClr>
          </a:solidFill>
          <a:ln w="25400">
            <a:solidFill>
              <a:srgbClr val="56C9B7">
                <a:alpha val="80000"/>
              </a:srgbClr>
            </a:solidFill>
            <a:prstDash val="solid"/>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778240" y="1051560"/>
            <a:ext cx="1051560" cy="685800"/>
          </a:xfrm>
          <a:prstGeom prst="rect">
            <a:avLst/>
          </a:prstGeom>
        </p:spPr>
      </p:pic>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26880" y="3429000"/>
            <a:ext cx="960120" cy="594360"/>
          </a:xfrm>
          <a:prstGeom prst="rect">
            <a:avLst/>
          </a:prstGeom>
        </p:spPr>
      </p:pic>
      <p:sp>
        <p:nvSpPr>
          <p:cNvPr id="7" name="Text 3"/>
          <p:cNvSpPr/>
          <p:nvPr/>
        </p:nvSpPr>
        <p:spPr>
          <a:xfrm>
            <a:off x="713232" y="1234440"/>
            <a:ext cx="6400800" cy="658368"/>
          </a:xfrm>
          <a:prstGeom prst="rect">
            <a:avLst/>
          </a:prstGeom>
          <a:noFill/>
          <a:ln/>
        </p:spPr>
        <p:txBody>
          <a:bodyPr wrap="square" lIns="0" tIns="0" rIns="0" bIns="0" rtlCol="0" anchor="ct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SmartQEye Coastal</a:t>
            </a:r>
            <a:endParaRPr lang="en-US" sz="3500" dirty="0"/>
          </a:p>
        </p:txBody>
      </p:sp>
      <p:sp>
        <p:nvSpPr>
          <p:cNvPr id="8" name="Text 4"/>
          <p:cNvSpPr/>
          <p:nvPr/>
        </p:nvSpPr>
        <p:spPr>
          <a:xfrm>
            <a:off x="749808" y="1993392"/>
            <a:ext cx="6766560" cy="475488"/>
          </a:xfrm>
          <a:prstGeom prst="rect">
            <a:avLst/>
          </a:prstGeom>
          <a:noFill/>
          <a:ln/>
        </p:spPr>
        <p:txBody>
          <a:bodyPr wrap="square" lIns="0" tIns="0" rIns="0" bIns="0" rtlCol="0" anchor="ctr">
            <a:normAutofit/>
          </a:bodyPr>
          <a:lstStyle/>
          <a:p>
            <a:pPr indent="0" marL="0">
              <a:buNone/>
            </a:pPr>
            <a:r>
              <a:rPr lang="en-US" sz="2000" dirty="0">
                <a:solidFill>
                  <a:srgbClr val="BFD6E6"/>
                </a:solidFill>
                <a:latin typeface="Aptos" pitchFamily="34" charset="0"/>
                <a:ea typeface="Aptos" pitchFamily="34" charset="-122"/>
                <a:cs typeface="Aptos" pitchFamily="34" charset="-120"/>
              </a:rPr>
              <a:t>AI-Based Coastal Drone Surveillance &amp; Maritime Intelligence</a:t>
            </a:r>
            <a:endParaRPr lang="en-US" sz="2000" dirty="0"/>
          </a:p>
        </p:txBody>
      </p:sp>
      <p:sp>
        <p:nvSpPr>
          <p:cNvPr id="9" name="Shape 5"/>
          <p:cNvSpPr/>
          <p:nvPr/>
        </p:nvSpPr>
        <p:spPr>
          <a:xfrm>
            <a:off x="749808" y="2670048"/>
            <a:ext cx="1143000" cy="64008"/>
          </a:xfrm>
          <a:prstGeom prst="rect">
            <a:avLst/>
          </a:prstGeom>
          <a:solidFill>
            <a:srgbClr val="56C9B7"/>
          </a:solidFill>
          <a:ln w="12700">
            <a:solidFill>
              <a:srgbClr val="56C9B7"/>
            </a:solidFill>
            <a:prstDash val="solid"/>
          </a:ln>
        </p:spPr>
      </p:sp>
      <p:sp>
        <p:nvSpPr>
          <p:cNvPr id="10" name="Text 6"/>
          <p:cNvSpPr/>
          <p:nvPr/>
        </p:nvSpPr>
        <p:spPr>
          <a:xfrm>
            <a:off x="749808" y="2907792"/>
            <a:ext cx="6492240" cy="731520"/>
          </a:xfrm>
          <a:prstGeom prst="rect">
            <a:avLst/>
          </a:prstGeom>
          <a:noFill/>
          <a:ln/>
        </p:spPr>
        <p:txBody>
          <a:bodyPr wrap="square" lIns="0" tIns="0" rIns="0" bIns="0" rtlCol="0" anchor="ctr">
            <a:normAutofit/>
          </a:bodyPr>
          <a:lstStyle/>
          <a:p>
            <a:pPr indent="0" marL="0">
              <a:buNone/>
            </a:pPr>
            <a:r>
              <a:rPr lang="en-US" sz="1800" b="1" dirty="0">
                <a:solidFill>
                  <a:srgbClr val="FFFFFF"/>
                </a:solidFill>
                <a:latin typeface="Aptos" pitchFamily="34" charset="0"/>
                <a:ea typeface="Aptos" pitchFamily="34" charset="-122"/>
                <a:cs typeface="Aptos" pitchFamily="34" charset="-120"/>
              </a:rPr>
              <a:t>From drone video to persistent, context-aware and evidence-linked coastal intelligence</a:t>
            </a:r>
            <a:endParaRPr lang="en-US" sz="1800" dirty="0"/>
          </a:p>
        </p:txBody>
      </p:sp>
      <p:sp>
        <p:nvSpPr>
          <p:cNvPr id="11" name="Shape 7"/>
          <p:cNvSpPr/>
          <p:nvPr/>
        </p:nvSpPr>
        <p:spPr>
          <a:xfrm>
            <a:off x="749808" y="3977640"/>
            <a:ext cx="2148840" cy="310896"/>
          </a:xfrm>
          <a:prstGeom prst="roundRect">
            <a:avLst>
              <a:gd name="adj" fmla="val 23529"/>
            </a:avLst>
          </a:prstGeom>
          <a:solidFill>
            <a:srgbClr val="153F52"/>
          </a:solidFill>
          <a:ln w="12700">
            <a:solidFill>
              <a:srgbClr val="153F52"/>
            </a:solidFill>
            <a:prstDash val="solid"/>
          </a:ln>
        </p:spPr>
      </p:sp>
      <p:sp>
        <p:nvSpPr>
          <p:cNvPr id="12" name="Text 8"/>
          <p:cNvSpPr/>
          <p:nvPr/>
        </p:nvSpPr>
        <p:spPr>
          <a:xfrm>
            <a:off x="822960" y="4032504"/>
            <a:ext cx="2002536" cy="164592"/>
          </a:xfrm>
          <a:prstGeom prst="rect">
            <a:avLst/>
          </a:prstGeom>
          <a:noFill/>
          <a:ln/>
        </p:spPr>
        <p:txBody>
          <a:bodyPr wrap="square" lIns="0" tIns="0" rIns="0" bIns="0" rtlCol="0" anchor="ctr">
            <a:normAutofit/>
          </a:bodyPr>
          <a:lstStyle/>
          <a:p>
            <a:pPr algn="ctr" indent="0" marL="0">
              <a:buNone/>
            </a:pPr>
            <a:r>
              <a:rPr lang="en-US" sz="900" b="1" dirty="0">
                <a:solidFill>
                  <a:srgbClr val="56C9B7"/>
                </a:solidFill>
              </a:rPr>
              <a:t>Kerala Police Technical Presentation</a:t>
            </a:r>
            <a:endParaRPr lang="en-US" sz="900" dirty="0"/>
          </a:p>
        </p:txBody>
      </p:sp>
      <p:sp>
        <p:nvSpPr>
          <p:cNvPr id="13" name="Text 9"/>
          <p:cNvSpPr/>
          <p:nvPr/>
        </p:nvSpPr>
        <p:spPr>
          <a:xfrm>
            <a:off x="749808" y="4443984"/>
            <a:ext cx="3840480" cy="274320"/>
          </a:xfrm>
          <a:prstGeom prst="rect">
            <a:avLst/>
          </a:prstGeom>
          <a:noFill/>
          <a:ln/>
        </p:spPr>
        <p:txBody>
          <a:bodyPr wrap="square" lIns="0" tIns="0" rIns="0" bIns="0" rtlCol="0" anchor="ctr"/>
          <a:lstStyle/>
          <a:p>
            <a:pPr indent="0" marL="0">
              <a:buNone/>
            </a:pPr>
            <a:r>
              <a:rPr lang="en-US" sz="1100" dirty="0">
                <a:solidFill>
                  <a:srgbClr val="BFD6E6"/>
                </a:solidFill>
              </a:rPr>
              <a:t>17 October 2026  •  Online Presentation</a:t>
            </a:r>
            <a:endParaRPr lang="en-US" sz="1100" dirty="0"/>
          </a:p>
        </p:txBody>
      </p:sp>
      <p:sp>
        <p:nvSpPr>
          <p:cNvPr id="14" name="Text 10"/>
          <p:cNvSpPr/>
          <p:nvPr/>
        </p:nvSpPr>
        <p:spPr>
          <a:xfrm>
            <a:off x="749808" y="5833872"/>
            <a:ext cx="4389120" cy="320040"/>
          </a:xfrm>
          <a:prstGeom prst="rect">
            <a:avLst/>
          </a:prstGeom>
          <a:noFill/>
          <a:ln/>
        </p:spPr>
        <p:txBody>
          <a:bodyPr wrap="square" lIns="0" tIns="0" rIns="0" bIns="0" rtlCol="0" anchor="ctr"/>
          <a:lstStyle/>
          <a:p>
            <a:pPr indent="0" marL="0">
              <a:buNone/>
            </a:pPr>
            <a:r>
              <a:rPr lang="en-US" sz="1300" b="1" dirty="0">
                <a:solidFill>
                  <a:srgbClr val="FFFFFF"/>
                </a:solidFill>
              </a:rPr>
              <a:t>Quantumweave Intelligence Private Limited</a:t>
            </a:r>
            <a:endParaRPr lang="en-US" sz="1300" dirty="0"/>
          </a:p>
        </p:txBody>
      </p:sp>
      <p:sp>
        <p:nvSpPr>
          <p:cNvPr id="15" name="Text 11"/>
          <p:cNvSpPr/>
          <p:nvPr/>
        </p:nvSpPr>
        <p:spPr>
          <a:xfrm>
            <a:off x="749808" y="6199632"/>
            <a:ext cx="3200400" cy="228600"/>
          </a:xfrm>
          <a:prstGeom prst="rect">
            <a:avLst/>
          </a:prstGeom>
          <a:noFill/>
          <a:ln/>
        </p:spPr>
        <p:txBody>
          <a:bodyPr wrap="square" lIns="0" tIns="0" rIns="0" bIns="0" rtlCol="0" anchor="ctr"/>
          <a:lstStyle/>
          <a:p>
            <a:pPr indent="0" marL="0">
              <a:buNone/>
            </a:pPr>
            <a:r>
              <a:rPr lang="en-US" sz="1000" dirty="0">
                <a:solidFill>
                  <a:srgbClr val="94B7C8"/>
                </a:solidFill>
              </a:rPr>
              <a:t>Thiruvananthapuram, Kerala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758952"/>
            <a:ext cx="10972800" cy="438912"/>
          </a:xfrm>
          <a:prstGeom prst="rect">
            <a:avLst/>
          </a:prstGeom>
          <a:noFill/>
          <a:ln/>
        </p:spPr>
        <p:txBody>
          <a:bodyPr wrap="square" lIns="0" tIns="0" rIns="0" bIns="0" rtlCol="0" anchor="ctr">
            <a:normAutofit/>
          </a:bodyP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What the RFP Actually Requires</a:t>
            </a:r>
            <a:endParaRPr lang="en-US" sz="2500" dirty="0"/>
          </a:p>
        </p:txBody>
      </p:sp>
      <p:sp>
        <p:nvSpPr>
          <p:cNvPr id="3" name="Shape 1"/>
          <p:cNvSpPr/>
          <p:nvPr/>
        </p:nvSpPr>
        <p:spPr>
          <a:xfrm>
            <a:off x="566928" y="1243584"/>
            <a:ext cx="914400" cy="45720"/>
          </a:xfrm>
          <a:prstGeom prst="rect">
            <a:avLst/>
          </a:prstGeom>
          <a:solidFill>
            <a:srgbClr val="2A9D8F"/>
          </a:solidFill>
          <a:ln w="12700">
            <a:solidFill>
              <a:srgbClr val="2A9D8F"/>
            </a:solidFill>
            <a:prstDash val="solid"/>
          </a:ln>
        </p:spPr>
      </p:sp>
      <p:sp>
        <p:nvSpPr>
          <p:cNvPr id="4" name="Text 2"/>
          <p:cNvSpPr/>
          <p:nvPr/>
        </p:nvSpPr>
        <p:spPr>
          <a:xfrm>
            <a:off x="1600200" y="1115568"/>
            <a:ext cx="9784080" cy="228600"/>
          </a:xfrm>
          <a:prstGeom prst="rect">
            <a:avLst/>
          </a:prstGeom>
          <a:noFill/>
          <a:ln/>
        </p:spPr>
        <p:txBody>
          <a:bodyPr wrap="square" lIns="0" tIns="0" rIns="0" bIns="0" rtlCol="0" anchor="ctr">
            <a:normAutofit/>
          </a:bodyPr>
          <a:lstStyle/>
          <a:p>
            <a:pPr indent="0" marL="0">
              <a:buNone/>
            </a:pPr>
            <a:r>
              <a:rPr lang="en-US" sz="1050" dirty="0">
                <a:solidFill>
                  <a:srgbClr val="5F7280"/>
                </a:solidFill>
                <a:latin typeface="Aptos" pitchFamily="34" charset="0"/>
                <a:ea typeface="Aptos" pitchFamily="34" charset="-122"/>
                <a:cs typeface="Aptos" pitchFamily="34" charset="-120"/>
              </a:rPr>
              <a:t>A complete operational platform — not a standalone detector</a:t>
            </a:r>
            <a:endParaRPr lang="en-US" sz="1050" dirty="0"/>
          </a:p>
        </p:txBody>
      </p:sp>
      <p:sp>
        <p:nvSpPr>
          <p:cNvPr id="5" name="Shape 3"/>
          <p:cNvSpPr/>
          <p:nvPr/>
        </p:nvSpPr>
        <p:spPr>
          <a:xfrm>
            <a:off x="658368" y="1572768"/>
            <a:ext cx="3493008" cy="1755648"/>
          </a:xfrm>
          <a:prstGeom prst="roundRect">
            <a:avLst>
              <a:gd name="adj" fmla="val 4167"/>
            </a:avLst>
          </a:prstGeom>
          <a:solidFill>
            <a:srgbClr val="FFFFFF"/>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6" name="Shape 4"/>
          <p:cNvSpPr/>
          <p:nvPr/>
        </p:nvSpPr>
        <p:spPr>
          <a:xfrm>
            <a:off x="658368" y="1572768"/>
            <a:ext cx="64008" cy="1755648"/>
          </a:xfrm>
          <a:prstGeom prst="rect">
            <a:avLst/>
          </a:prstGeom>
          <a:solidFill>
            <a:srgbClr val="2A9D8F"/>
          </a:solidFill>
          <a:ln w="12700">
            <a:solidFill>
              <a:srgbClr val="2A9D8F"/>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9536" y="1773936"/>
            <a:ext cx="320040" cy="320040"/>
          </a:xfrm>
          <a:prstGeom prst="rect">
            <a:avLst/>
          </a:prstGeom>
        </p:spPr>
      </p:pic>
      <p:sp>
        <p:nvSpPr>
          <p:cNvPr id="8" name="Text 5"/>
          <p:cNvSpPr/>
          <p:nvPr/>
        </p:nvSpPr>
        <p:spPr>
          <a:xfrm>
            <a:off x="1280160" y="1737360"/>
            <a:ext cx="2670048" cy="329184"/>
          </a:xfrm>
          <a:prstGeom prst="rect">
            <a:avLst/>
          </a:prstGeom>
          <a:noFill/>
          <a:ln/>
        </p:spPr>
        <p:txBody>
          <a:bodyPr wrap="square" lIns="0" tIns="0" rIns="0" bIns="0" rtlCol="0" anchor="ctr">
            <a:normAutofit/>
          </a:bodyPr>
          <a:lstStyle/>
          <a:p>
            <a:pPr indent="0" marL="0">
              <a:buNone/>
            </a:pPr>
            <a:r>
              <a:rPr lang="en-US" sz="1500" b="1" dirty="0">
                <a:solidFill>
                  <a:srgbClr val="17313E"/>
                </a:solidFill>
                <a:latin typeface="Aptos Display" pitchFamily="34" charset="0"/>
                <a:ea typeface="Aptos Display" pitchFamily="34" charset="-122"/>
                <a:cs typeface="Aptos Display" pitchFamily="34" charset="-120"/>
              </a:rPr>
              <a:t>16 AI Analytics</a:t>
            </a:r>
            <a:endParaRPr lang="en-US" sz="1500" dirty="0"/>
          </a:p>
        </p:txBody>
      </p:sp>
      <p:sp>
        <p:nvSpPr>
          <p:cNvPr id="9" name="Text 6"/>
          <p:cNvSpPr/>
          <p:nvPr/>
        </p:nvSpPr>
        <p:spPr>
          <a:xfrm>
            <a:off x="859536" y="2231136"/>
            <a:ext cx="3090672" cy="914400"/>
          </a:xfrm>
          <a:prstGeom prst="rect">
            <a:avLst/>
          </a:prstGeom>
          <a:noFill/>
          <a:ln/>
        </p:spPr>
        <p:txBody>
          <a:bodyPr wrap="square" lIns="254" tIns="254" rIns="254" bIns="254" rtlCol="0" anchor="t">
            <a:normAutofit/>
          </a:bodyPr>
          <a:lstStyle/>
          <a:p>
            <a:pPr indent="0" marL="0">
              <a:buNone/>
            </a:pPr>
            <a:r>
              <a:rPr lang="en-US" sz="1020" dirty="0">
                <a:solidFill>
                  <a:srgbClr val="5F7280"/>
                </a:solidFill>
                <a:latin typeface="Aptos" pitchFamily="34" charset="0"/>
                <a:ea typeface="Aptos" pitchFamily="34" charset="-122"/>
                <a:cs typeface="Aptos" pitchFamily="34" charset="-120"/>
              </a:rPr>
              <a:t>Person • Vehicle • Vessel • Crowd • Tracking • Zones • Behaviour • Thermal • Event recording</a:t>
            </a:r>
            <a:endParaRPr lang="en-US" sz="1020" dirty="0"/>
          </a:p>
        </p:txBody>
      </p:sp>
      <p:sp>
        <p:nvSpPr>
          <p:cNvPr id="10" name="Shape 7"/>
          <p:cNvSpPr/>
          <p:nvPr/>
        </p:nvSpPr>
        <p:spPr>
          <a:xfrm>
            <a:off x="4471416" y="1572768"/>
            <a:ext cx="3493008" cy="1755648"/>
          </a:xfrm>
          <a:prstGeom prst="roundRect">
            <a:avLst>
              <a:gd name="adj" fmla="val 4167"/>
            </a:avLst>
          </a:prstGeom>
          <a:solidFill>
            <a:srgbClr val="FFFFFF"/>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11" name="Shape 8"/>
          <p:cNvSpPr/>
          <p:nvPr/>
        </p:nvSpPr>
        <p:spPr>
          <a:xfrm>
            <a:off x="4471416" y="1572768"/>
            <a:ext cx="64008" cy="1755648"/>
          </a:xfrm>
          <a:prstGeom prst="rect">
            <a:avLst/>
          </a:prstGeom>
          <a:solidFill>
            <a:srgbClr val="3F7CAC"/>
          </a:solidFill>
          <a:ln w="12700">
            <a:solidFill>
              <a:srgbClr val="3F7CAC"/>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72584" y="1773936"/>
            <a:ext cx="320040" cy="320040"/>
          </a:xfrm>
          <a:prstGeom prst="rect">
            <a:avLst/>
          </a:prstGeom>
        </p:spPr>
      </p:pic>
      <p:sp>
        <p:nvSpPr>
          <p:cNvPr id="13" name="Text 9"/>
          <p:cNvSpPr/>
          <p:nvPr/>
        </p:nvSpPr>
        <p:spPr>
          <a:xfrm>
            <a:off x="5093208" y="1737360"/>
            <a:ext cx="2670048" cy="329184"/>
          </a:xfrm>
          <a:prstGeom prst="rect">
            <a:avLst/>
          </a:prstGeom>
          <a:noFill/>
          <a:ln/>
        </p:spPr>
        <p:txBody>
          <a:bodyPr wrap="square" lIns="0" tIns="0" rIns="0" bIns="0" rtlCol="0" anchor="ctr">
            <a:normAutofit/>
          </a:bodyPr>
          <a:lstStyle/>
          <a:p>
            <a:pPr indent="0" marL="0">
              <a:buNone/>
            </a:pPr>
            <a:r>
              <a:rPr lang="en-US" sz="1500" b="1" dirty="0">
                <a:solidFill>
                  <a:srgbClr val="17313E"/>
                </a:solidFill>
                <a:latin typeface="Aptos Display" pitchFamily="34" charset="0"/>
                <a:ea typeface="Aptos Display" pitchFamily="34" charset="-122"/>
                <a:cs typeface="Aptos Display" pitchFamily="34" charset="-120"/>
              </a:rPr>
              <a:t>≥20 Concurrent Feeds</a:t>
            </a:r>
            <a:endParaRPr lang="en-US" sz="1500" dirty="0"/>
          </a:p>
        </p:txBody>
      </p:sp>
      <p:sp>
        <p:nvSpPr>
          <p:cNvPr id="14" name="Text 10"/>
          <p:cNvSpPr/>
          <p:nvPr/>
        </p:nvSpPr>
        <p:spPr>
          <a:xfrm>
            <a:off x="4672584" y="2231136"/>
            <a:ext cx="3090672" cy="914400"/>
          </a:xfrm>
          <a:prstGeom prst="rect">
            <a:avLst/>
          </a:prstGeom>
          <a:noFill/>
          <a:ln/>
        </p:spPr>
        <p:txBody>
          <a:bodyPr wrap="square" lIns="254" tIns="254" rIns="254" bIns="254" rtlCol="0" anchor="t">
            <a:normAutofit/>
          </a:bodyPr>
          <a:lstStyle/>
          <a:p>
            <a:pPr indent="0" marL="0">
              <a:buNone/>
            </a:pPr>
            <a:r>
              <a:rPr lang="en-US" sz="1020" dirty="0">
                <a:solidFill>
                  <a:srgbClr val="5F7280"/>
                </a:solidFill>
                <a:latin typeface="Aptos" pitchFamily="34" charset="0"/>
                <a:ea typeface="Aptos" pitchFamily="34" charset="-122"/>
                <a:cs typeface="Aptos" pitchFamily="34" charset="-120"/>
              </a:rPr>
              <a:t>Live + recorded UAV video, HD/FHD+, expandable with operational need</a:t>
            </a:r>
            <a:endParaRPr lang="en-US" sz="1020" dirty="0"/>
          </a:p>
        </p:txBody>
      </p:sp>
      <p:sp>
        <p:nvSpPr>
          <p:cNvPr id="15" name="Shape 11"/>
          <p:cNvSpPr/>
          <p:nvPr/>
        </p:nvSpPr>
        <p:spPr>
          <a:xfrm>
            <a:off x="8284464" y="1572768"/>
            <a:ext cx="3493008" cy="1755648"/>
          </a:xfrm>
          <a:prstGeom prst="roundRect">
            <a:avLst>
              <a:gd name="adj" fmla="val 4167"/>
            </a:avLst>
          </a:prstGeom>
          <a:solidFill>
            <a:srgbClr val="FFFFFF"/>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16" name="Shape 12"/>
          <p:cNvSpPr/>
          <p:nvPr/>
        </p:nvSpPr>
        <p:spPr>
          <a:xfrm>
            <a:off x="8284464" y="1572768"/>
            <a:ext cx="64008" cy="1755648"/>
          </a:xfrm>
          <a:prstGeom prst="rect">
            <a:avLst/>
          </a:prstGeom>
          <a:solidFill>
            <a:srgbClr val="0F6B6F"/>
          </a:solidFill>
          <a:ln w="12700">
            <a:solidFill>
              <a:srgbClr val="0F6B6F"/>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85632" y="1773936"/>
            <a:ext cx="320040" cy="320040"/>
          </a:xfrm>
          <a:prstGeom prst="rect">
            <a:avLst/>
          </a:prstGeom>
        </p:spPr>
      </p:pic>
      <p:sp>
        <p:nvSpPr>
          <p:cNvPr id="18" name="Text 13"/>
          <p:cNvSpPr/>
          <p:nvPr/>
        </p:nvSpPr>
        <p:spPr>
          <a:xfrm>
            <a:off x="8906256" y="1737360"/>
            <a:ext cx="2670048" cy="329184"/>
          </a:xfrm>
          <a:prstGeom prst="rect">
            <a:avLst/>
          </a:prstGeom>
          <a:noFill/>
          <a:ln/>
        </p:spPr>
        <p:txBody>
          <a:bodyPr wrap="square" lIns="0" tIns="0" rIns="0" bIns="0" rtlCol="0" anchor="ctr">
            <a:normAutofit/>
          </a:bodyPr>
          <a:lstStyle/>
          <a:p>
            <a:pPr indent="0" marL="0">
              <a:buNone/>
            </a:pPr>
            <a:r>
              <a:rPr lang="en-US" sz="1500" b="1" dirty="0">
                <a:solidFill>
                  <a:srgbClr val="17313E"/>
                </a:solidFill>
                <a:latin typeface="Aptos Display" pitchFamily="34" charset="0"/>
                <a:ea typeface="Aptos Display" pitchFamily="34" charset="-122"/>
                <a:cs typeface="Aptos Display" pitchFamily="34" charset="-120"/>
              </a:rPr>
              <a:t>Centralized Dashboard</a:t>
            </a:r>
            <a:endParaRPr lang="en-US" sz="1500" dirty="0"/>
          </a:p>
        </p:txBody>
      </p:sp>
      <p:sp>
        <p:nvSpPr>
          <p:cNvPr id="19" name="Text 14"/>
          <p:cNvSpPr/>
          <p:nvPr/>
        </p:nvSpPr>
        <p:spPr>
          <a:xfrm>
            <a:off x="8485632" y="2231136"/>
            <a:ext cx="3090672" cy="914400"/>
          </a:xfrm>
          <a:prstGeom prst="rect">
            <a:avLst/>
          </a:prstGeom>
          <a:noFill/>
          <a:ln/>
        </p:spPr>
        <p:txBody>
          <a:bodyPr wrap="square" lIns="254" tIns="254" rIns="254" bIns="254" rtlCol="0" anchor="t">
            <a:normAutofit/>
          </a:bodyPr>
          <a:lstStyle/>
          <a:p>
            <a:pPr indent="0" marL="0">
              <a:buNone/>
            </a:pPr>
            <a:r>
              <a:rPr lang="en-US" sz="1020" dirty="0">
                <a:solidFill>
                  <a:srgbClr val="5F7280"/>
                </a:solidFill>
                <a:latin typeface="Aptos" pitchFamily="34" charset="0"/>
                <a:ea typeface="Aptos" pitchFamily="34" charset="-122"/>
                <a:cs typeface="Aptos" pitchFamily="34" charset="-120"/>
              </a:rPr>
              <a:t>Multi-feed monitoring, historical playback, system health, user and role management</a:t>
            </a:r>
            <a:endParaRPr lang="en-US" sz="1020" dirty="0"/>
          </a:p>
        </p:txBody>
      </p:sp>
      <p:sp>
        <p:nvSpPr>
          <p:cNvPr id="20" name="Shape 15"/>
          <p:cNvSpPr/>
          <p:nvPr/>
        </p:nvSpPr>
        <p:spPr>
          <a:xfrm>
            <a:off x="658368" y="3657600"/>
            <a:ext cx="3493008" cy="1755648"/>
          </a:xfrm>
          <a:prstGeom prst="roundRect">
            <a:avLst>
              <a:gd name="adj" fmla="val 4167"/>
            </a:avLst>
          </a:prstGeom>
          <a:solidFill>
            <a:srgbClr val="FFFFFF"/>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21" name="Shape 16"/>
          <p:cNvSpPr/>
          <p:nvPr/>
        </p:nvSpPr>
        <p:spPr>
          <a:xfrm>
            <a:off x="658368" y="3657600"/>
            <a:ext cx="64008" cy="1755648"/>
          </a:xfrm>
          <a:prstGeom prst="rect">
            <a:avLst/>
          </a:prstGeom>
          <a:solidFill>
            <a:srgbClr val="2F8F6D"/>
          </a:solidFill>
          <a:ln w="12700">
            <a:solidFill>
              <a:srgbClr val="2F8F6D"/>
            </a:solidFill>
            <a:prstDash val="solid"/>
          </a:ln>
        </p:spPr>
      </p:sp>
      <p:pic>
        <p:nvPicPr>
          <p:cNvPr id="2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59536" y="3858768"/>
            <a:ext cx="320040" cy="320040"/>
          </a:xfrm>
          <a:prstGeom prst="rect">
            <a:avLst/>
          </a:prstGeom>
        </p:spPr>
      </p:pic>
      <p:sp>
        <p:nvSpPr>
          <p:cNvPr id="23" name="Text 17"/>
          <p:cNvSpPr/>
          <p:nvPr/>
        </p:nvSpPr>
        <p:spPr>
          <a:xfrm>
            <a:off x="1280160" y="3822192"/>
            <a:ext cx="2670048" cy="329184"/>
          </a:xfrm>
          <a:prstGeom prst="rect">
            <a:avLst/>
          </a:prstGeom>
          <a:noFill/>
          <a:ln/>
        </p:spPr>
        <p:txBody>
          <a:bodyPr wrap="square" lIns="0" tIns="0" rIns="0" bIns="0" rtlCol="0" anchor="ctr">
            <a:normAutofit/>
          </a:bodyPr>
          <a:lstStyle/>
          <a:p>
            <a:pPr indent="0" marL="0">
              <a:buNone/>
            </a:pPr>
            <a:r>
              <a:rPr lang="en-US" sz="1500" b="1" dirty="0">
                <a:solidFill>
                  <a:srgbClr val="17313E"/>
                </a:solidFill>
                <a:latin typeface="Aptos Display" pitchFamily="34" charset="0"/>
                <a:ea typeface="Aptos Display" pitchFamily="34" charset="-122"/>
                <a:cs typeface="Aptos Display" pitchFamily="34" charset="-120"/>
              </a:rPr>
              <a:t>GIS + Telemetry</a:t>
            </a:r>
            <a:endParaRPr lang="en-US" sz="1500" dirty="0"/>
          </a:p>
        </p:txBody>
      </p:sp>
      <p:sp>
        <p:nvSpPr>
          <p:cNvPr id="24" name="Text 18"/>
          <p:cNvSpPr/>
          <p:nvPr/>
        </p:nvSpPr>
        <p:spPr>
          <a:xfrm>
            <a:off x="859536" y="4315968"/>
            <a:ext cx="3090672" cy="914400"/>
          </a:xfrm>
          <a:prstGeom prst="rect">
            <a:avLst/>
          </a:prstGeom>
          <a:noFill/>
          <a:ln/>
        </p:spPr>
        <p:txBody>
          <a:bodyPr wrap="square" lIns="254" tIns="254" rIns="254" bIns="254" rtlCol="0" anchor="t">
            <a:normAutofit/>
          </a:bodyPr>
          <a:lstStyle/>
          <a:p>
            <a:pPr indent="0" marL="0">
              <a:buNone/>
            </a:pPr>
            <a:r>
              <a:rPr lang="en-US" sz="1020" dirty="0">
                <a:solidFill>
                  <a:srgbClr val="5F7280"/>
                </a:solidFill>
                <a:latin typeface="Aptos" pitchFamily="34" charset="0"/>
                <a:ea typeface="Aptos" pitchFamily="34" charset="-122"/>
                <a:cs typeface="Aptos" pitchFamily="34" charset="-120"/>
              </a:rPr>
              <a:t>GPS, altitude, heading, speed, mission context, geofences and location-linked events</a:t>
            </a:r>
            <a:endParaRPr lang="en-US" sz="1020" dirty="0"/>
          </a:p>
        </p:txBody>
      </p:sp>
      <p:sp>
        <p:nvSpPr>
          <p:cNvPr id="25" name="Shape 19"/>
          <p:cNvSpPr/>
          <p:nvPr/>
        </p:nvSpPr>
        <p:spPr>
          <a:xfrm>
            <a:off x="4471416" y="3657600"/>
            <a:ext cx="3493008" cy="1755648"/>
          </a:xfrm>
          <a:prstGeom prst="roundRect">
            <a:avLst>
              <a:gd name="adj" fmla="val 4167"/>
            </a:avLst>
          </a:prstGeom>
          <a:solidFill>
            <a:srgbClr val="FFFFFF"/>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26" name="Shape 20"/>
          <p:cNvSpPr/>
          <p:nvPr/>
        </p:nvSpPr>
        <p:spPr>
          <a:xfrm>
            <a:off x="4471416" y="3657600"/>
            <a:ext cx="64008" cy="1755648"/>
          </a:xfrm>
          <a:prstGeom prst="rect">
            <a:avLst/>
          </a:prstGeom>
          <a:solidFill>
            <a:srgbClr val="E69A45"/>
          </a:solidFill>
          <a:ln w="12700">
            <a:solidFill>
              <a:srgbClr val="E69A45"/>
            </a:solidFill>
            <a:prstDash val="solid"/>
          </a:ln>
        </p:spPr>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72584" y="3858768"/>
            <a:ext cx="320040" cy="320040"/>
          </a:xfrm>
          <a:prstGeom prst="rect">
            <a:avLst/>
          </a:prstGeom>
        </p:spPr>
      </p:pic>
      <p:sp>
        <p:nvSpPr>
          <p:cNvPr id="28" name="Text 21"/>
          <p:cNvSpPr/>
          <p:nvPr/>
        </p:nvSpPr>
        <p:spPr>
          <a:xfrm>
            <a:off x="5093208" y="3822192"/>
            <a:ext cx="2670048" cy="329184"/>
          </a:xfrm>
          <a:prstGeom prst="rect">
            <a:avLst/>
          </a:prstGeom>
          <a:noFill/>
          <a:ln/>
        </p:spPr>
        <p:txBody>
          <a:bodyPr wrap="square" lIns="0" tIns="0" rIns="0" bIns="0" rtlCol="0" anchor="ctr">
            <a:normAutofit/>
          </a:bodyPr>
          <a:lstStyle/>
          <a:p>
            <a:pPr indent="0" marL="0">
              <a:buNone/>
            </a:pPr>
            <a:r>
              <a:rPr lang="en-US" sz="1500" b="1" dirty="0">
                <a:solidFill>
                  <a:srgbClr val="17313E"/>
                </a:solidFill>
                <a:latin typeface="Aptos Display" pitchFamily="34" charset="0"/>
                <a:ea typeface="Aptos Display" pitchFamily="34" charset="-122"/>
                <a:cs typeface="Aptos Display" pitchFamily="34" charset="-120"/>
              </a:rPr>
              <a:t>Alerts + Evidence + Audit</a:t>
            </a:r>
            <a:endParaRPr lang="en-US" sz="1500" dirty="0"/>
          </a:p>
        </p:txBody>
      </p:sp>
      <p:sp>
        <p:nvSpPr>
          <p:cNvPr id="29" name="Text 22"/>
          <p:cNvSpPr/>
          <p:nvPr/>
        </p:nvSpPr>
        <p:spPr>
          <a:xfrm>
            <a:off x="4672584" y="4315968"/>
            <a:ext cx="3090672" cy="914400"/>
          </a:xfrm>
          <a:prstGeom prst="rect">
            <a:avLst/>
          </a:prstGeom>
          <a:noFill/>
          <a:ln/>
        </p:spPr>
        <p:txBody>
          <a:bodyPr wrap="square" lIns="254" tIns="254" rIns="254" bIns="254" rtlCol="0" anchor="t">
            <a:normAutofit/>
          </a:bodyPr>
          <a:lstStyle/>
          <a:p>
            <a:pPr indent="0" marL="0">
              <a:buNone/>
            </a:pPr>
            <a:r>
              <a:rPr lang="en-US" sz="1020" dirty="0">
                <a:solidFill>
                  <a:srgbClr val="5F7280"/>
                </a:solidFill>
                <a:latin typeface="Aptos" pitchFamily="34" charset="0"/>
                <a:ea typeface="Aptos" pitchFamily="34" charset="-122"/>
                <a:cs typeface="Aptos" pitchFamily="34" charset="-120"/>
              </a:rPr>
              <a:t>Configurable thresholds, event clips, metadata, operator actions and traceability</a:t>
            </a:r>
            <a:endParaRPr lang="en-US" sz="1020" dirty="0"/>
          </a:p>
        </p:txBody>
      </p:sp>
      <p:sp>
        <p:nvSpPr>
          <p:cNvPr id="30" name="Shape 23"/>
          <p:cNvSpPr/>
          <p:nvPr/>
        </p:nvSpPr>
        <p:spPr>
          <a:xfrm>
            <a:off x="8284464" y="3657600"/>
            <a:ext cx="3493008" cy="1755648"/>
          </a:xfrm>
          <a:prstGeom prst="roundRect">
            <a:avLst>
              <a:gd name="adj" fmla="val 4167"/>
            </a:avLst>
          </a:prstGeom>
          <a:solidFill>
            <a:srgbClr val="FFFFFF"/>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31" name="Shape 24"/>
          <p:cNvSpPr/>
          <p:nvPr/>
        </p:nvSpPr>
        <p:spPr>
          <a:xfrm>
            <a:off x="8284464" y="3657600"/>
            <a:ext cx="64008" cy="1755648"/>
          </a:xfrm>
          <a:prstGeom prst="rect">
            <a:avLst/>
          </a:prstGeom>
          <a:solidFill>
            <a:srgbClr val="123A4A"/>
          </a:solidFill>
          <a:ln w="12700">
            <a:solidFill>
              <a:srgbClr val="123A4A"/>
            </a:solidFill>
            <a:prstDash val="solid"/>
          </a:ln>
        </p:spPr>
      </p:sp>
      <p:pic>
        <p:nvPicPr>
          <p:cNvPr id="32"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485632" y="3858768"/>
            <a:ext cx="320040" cy="320040"/>
          </a:xfrm>
          <a:prstGeom prst="rect">
            <a:avLst/>
          </a:prstGeom>
        </p:spPr>
      </p:pic>
      <p:sp>
        <p:nvSpPr>
          <p:cNvPr id="33" name="Text 25"/>
          <p:cNvSpPr/>
          <p:nvPr/>
        </p:nvSpPr>
        <p:spPr>
          <a:xfrm>
            <a:off x="8906256" y="3822192"/>
            <a:ext cx="2670048" cy="329184"/>
          </a:xfrm>
          <a:prstGeom prst="rect">
            <a:avLst/>
          </a:prstGeom>
          <a:noFill/>
          <a:ln/>
        </p:spPr>
        <p:txBody>
          <a:bodyPr wrap="square" lIns="0" tIns="0" rIns="0" bIns="0" rtlCol="0" anchor="ctr">
            <a:normAutofit/>
          </a:bodyPr>
          <a:lstStyle/>
          <a:p>
            <a:pPr indent="0" marL="0">
              <a:buNone/>
            </a:pPr>
            <a:r>
              <a:rPr lang="en-US" sz="1500" b="1" dirty="0">
                <a:solidFill>
                  <a:srgbClr val="17313E"/>
                </a:solidFill>
                <a:latin typeface="Aptos Display" pitchFamily="34" charset="0"/>
                <a:ea typeface="Aptos Display" pitchFamily="34" charset="-122"/>
                <a:cs typeface="Aptos Display" pitchFamily="34" charset="-120"/>
              </a:rPr>
              <a:t>API + Security + Lifecycle</a:t>
            </a:r>
            <a:endParaRPr lang="en-US" sz="1500" dirty="0"/>
          </a:p>
        </p:txBody>
      </p:sp>
      <p:sp>
        <p:nvSpPr>
          <p:cNvPr id="34" name="Text 26"/>
          <p:cNvSpPr/>
          <p:nvPr/>
        </p:nvSpPr>
        <p:spPr>
          <a:xfrm>
            <a:off x="8485632" y="4315968"/>
            <a:ext cx="3090672" cy="914400"/>
          </a:xfrm>
          <a:prstGeom prst="rect">
            <a:avLst/>
          </a:prstGeom>
          <a:noFill/>
          <a:ln/>
        </p:spPr>
        <p:txBody>
          <a:bodyPr wrap="square" lIns="254" tIns="254" rIns="254" bIns="254" rtlCol="0" anchor="t">
            <a:normAutofit/>
          </a:bodyPr>
          <a:lstStyle/>
          <a:p>
            <a:pPr indent="0" marL="0">
              <a:buNone/>
            </a:pPr>
            <a:r>
              <a:rPr lang="en-US" sz="1020" dirty="0">
                <a:solidFill>
                  <a:srgbClr val="5F7280"/>
                </a:solidFill>
                <a:latin typeface="Aptos" pitchFamily="34" charset="0"/>
                <a:ea typeface="Aptos" pitchFamily="34" charset="-122"/>
                <a:cs typeface="Aptos" pitchFamily="34" charset="-120"/>
              </a:rPr>
              <a:t>REST APIs, RBAC, secure storage, model management, training and ≥3-year support</a:t>
            </a:r>
            <a:endParaRPr lang="en-US" sz="1020" dirty="0"/>
          </a:p>
        </p:txBody>
      </p:sp>
      <p:sp>
        <p:nvSpPr>
          <p:cNvPr id="35" name="Text 27"/>
          <p:cNvSpPr/>
          <p:nvPr/>
        </p:nvSpPr>
        <p:spPr>
          <a:xfrm>
            <a:off x="822960" y="5907024"/>
            <a:ext cx="10607040" cy="365760"/>
          </a:xfrm>
          <a:prstGeom prst="rect">
            <a:avLst/>
          </a:prstGeom>
          <a:noFill/>
          <a:ln/>
        </p:spPr>
        <p:txBody>
          <a:bodyPr wrap="square" lIns="0" tIns="0" rIns="0" bIns="0" rtlCol="0" anchor="ctr">
            <a:normAutofit/>
          </a:bodyPr>
          <a:lstStyle/>
          <a:p>
            <a:pPr algn="ctr" indent="0" marL="0">
              <a:buNone/>
            </a:pPr>
            <a:r>
              <a:rPr lang="en-US" sz="1250" b="1" dirty="0">
                <a:solidFill>
                  <a:srgbClr val="0B1F33"/>
                </a:solidFill>
              </a:rPr>
              <a:t>Evaluation lens: demonstrate the full chain — acquire → analyse → contextualize → alert → preserve evidence → centrally manage</a:t>
            </a:r>
            <a:endParaRPr lang="en-US" sz="1250" dirty="0"/>
          </a:p>
        </p:txBody>
      </p:sp>
      <p:sp>
        <p:nvSpPr>
          <p:cNvPr id="25" name="Slide Number Placeholder 0"/>
          <p:cNvSpPr>
            <a:spLocks noGrp="1"/>
          </p:cNvSpPr>
          <p:nvPr>
            <p:ph type="sldNum" sz="quarter" idx="4294967295"/>
          </p:nvPr>
        </p:nvSpPr>
        <p:spPr>
          <a:xfrm>
            <a:off x="11631168" y="6547104"/>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B7D89"/>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758952"/>
            <a:ext cx="10972800" cy="438912"/>
          </a:xfrm>
          <a:prstGeom prst="rect">
            <a:avLst/>
          </a:prstGeom>
          <a:noFill/>
          <a:ln/>
        </p:spPr>
        <p:txBody>
          <a:bodyPr wrap="square" lIns="0" tIns="0" rIns="0" bIns="0" rtlCol="0" anchor="ctr">
            <a:normAutofit/>
          </a:bodyP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Kerala Coastal Surveillance Is a Context Problem</a:t>
            </a:r>
            <a:endParaRPr lang="en-US" sz="2500" dirty="0"/>
          </a:p>
        </p:txBody>
      </p:sp>
      <p:sp>
        <p:nvSpPr>
          <p:cNvPr id="3" name="Shape 1"/>
          <p:cNvSpPr/>
          <p:nvPr/>
        </p:nvSpPr>
        <p:spPr>
          <a:xfrm>
            <a:off x="566928" y="1243584"/>
            <a:ext cx="914400" cy="45720"/>
          </a:xfrm>
          <a:prstGeom prst="rect">
            <a:avLst/>
          </a:prstGeom>
          <a:solidFill>
            <a:srgbClr val="2A9D8F"/>
          </a:solidFill>
          <a:ln w="12700">
            <a:solidFill>
              <a:srgbClr val="2A9D8F"/>
            </a:solidFill>
            <a:prstDash val="solid"/>
          </a:ln>
        </p:spPr>
      </p:sp>
      <p:sp>
        <p:nvSpPr>
          <p:cNvPr id="4" name="Text 2"/>
          <p:cNvSpPr/>
          <p:nvPr/>
        </p:nvSpPr>
        <p:spPr>
          <a:xfrm>
            <a:off x="1600200" y="1115568"/>
            <a:ext cx="9784080" cy="228600"/>
          </a:xfrm>
          <a:prstGeom prst="rect">
            <a:avLst/>
          </a:prstGeom>
          <a:noFill/>
          <a:ln/>
        </p:spPr>
        <p:txBody>
          <a:bodyPr wrap="square" lIns="0" tIns="0" rIns="0" bIns="0" rtlCol="0" anchor="ctr">
            <a:normAutofit/>
          </a:bodyPr>
          <a:lstStyle/>
          <a:p>
            <a:pPr indent="0" marL="0">
              <a:buNone/>
            </a:pPr>
            <a:r>
              <a:rPr lang="en-US" sz="1050" dirty="0">
                <a:solidFill>
                  <a:srgbClr val="5F7280"/>
                </a:solidFill>
                <a:latin typeface="Aptos" pitchFamily="34" charset="0"/>
                <a:ea typeface="Aptos" pitchFamily="34" charset="-122"/>
                <a:cs typeface="Aptos" pitchFamily="34" charset="-120"/>
              </a:rPr>
              <a:t>The difficult question is not “Did we detect a boat?” but “Does this activity deserve police attention?”</a:t>
            </a:r>
            <a:endParaRPr lang="en-US" sz="1050" dirty="0"/>
          </a:p>
        </p:txBody>
      </p:sp>
      <p:sp>
        <p:nvSpPr>
          <p:cNvPr id="5" name="Shape 3"/>
          <p:cNvSpPr/>
          <p:nvPr/>
        </p:nvSpPr>
        <p:spPr>
          <a:xfrm>
            <a:off x="658368" y="1627632"/>
            <a:ext cx="10881360" cy="1389888"/>
          </a:xfrm>
          <a:prstGeom prst="roundRect">
            <a:avLst>
              <a:gd name="adj" fmla="val 5263"/>
            </a:avLst>
          </a:prstGeom>
          <a:solidFill>
            <a:srgbClr val="EAF5F7"/>
          </a:solidFill>
          <a:ln w="12700">
            <a:solidFill>
              <a:srgbClr val="C9E1E5"/>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400" y="1847088"/>
            <a:ext cx="438912" cy="438912"/>
          </a:xfrm>
          <a:prstGeom prst="rect">
            <a:avLst/>
          </a:prstGeom>
        </p:spPr>
      </p:pic>
      <p:sp>
        <p:nvSpPr>
          <p:cNvPr id="7" name="Text 4"/>
          <p:cNvSpPr/>
          <p:nvPr/>
        </p:nvSpPr>
        <p:spPr>
          <a:xfrm>
            <a:off x="731520" y="2350008"/>
            <a:ext cx="822960" cy="310896"/>
          </a:xfrm>
          <a:prstGeom prst="rect">
            <a:avLst/>
          </a:prstGeom>
          <a:noFill/>
          <a:ln/>
        </p:spPr>
        <p:txBody>
          <a:bodyPr wrap="square" lIns="0" tIns="0" rIns="0" bIns="0" rtlCol="0" anchor="ctr">
            <a:normAutofit/>
          </a:bodyPr>
          <a:lstStyle/>
          <a:p>
            <a:pPr algn="ctr" indent="0" marL="0">
              <a:buNone/>
            </a:pPr>
            <a:r>
              <a:rPr lang="en-US" sz="950" b="1" dirty="0">
                <a:solidFill>
                  <a:srgbClr val="17313E"/>
                </a:solidFill>
              </a:rPr>
              <a:t>Fishing craft</a:t>
            </a:r>
            <a:endParaRPr lang="en-US" sz="9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651760" y="1847088"/>
            <a:ext cx="438912" cy="438912"/>
          </a:xfrm>
          <a:prstGeom prst="rect">
            <a:avLst/>
          </a:prstGeom>
        </p:spPr>
      </p:pic>
      <p:sp>
        <p:nvSpPr>
          <p:cNvPr id="9" name="Text 5"/>
          <p:cNvSpPr/>
          <p:nvPr/>
        </p:nvSpPr>
        <p:spPr>
          <a:xfrm>
            <a:off x="2468880" y="2350008"/>
            <a:ext cx="822960" cy="310896"/>
          </a:xfrm>
          <a:prstGeom prst="rect">
            <a:avLst/>
          </a:prstGeom>
          <a:noFill/>
          <a:ln/>
        </p:spPr>
        <p:txBody>
          <a:bodyPr wrap="square" lIns="0" tIns="0" rIns="0" bIns="0" rtlCol="0" anchor="ctr">
            <a:normAutofit/>
          </a:bodyPr>
          <a:lstStyle/>
          <a:p>
            <a:pPr algn="ctr" indent="0" marL="0">
              <a:buNone/>
            </a:pPr>
            <a:r>
              <a:rPr lang="en-US" sz="950" b="1" dirty="0">
                <a:solidFill>
                  <a:srgbClr val="17313E"/>
                </a:solidFill>
              </a:rPr>
              <a:t>Harbours</a:t>
            </a:r>
            <a:endParaRPr lang="en-US" sz="9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89120" y="1847088"/>
            <a:ext cx="438912" cy="438912"/>
          </a:xfrm>
          <a:prstGeom prst="rect">
            <a:avLst/>
          </a:prstGeom>
        </p:spPr>
      </p:pic>
      <p:sp>
        <p:nvSpPr>
          <p:cNvPr id="11" name="Text 6"/>
          <p:cNvSpPr/>
          <p:nvPr/>
        </p:nvSpPr>
        <p:spPr>
          <a:xfrm>
            <a:off x="4206240" y="2350008"/>
            <a:ext cx="822960" cy="310896"/>
          </a:xfrm>
          <a:prstGeom prst="rect">
            <a:avLst/>
          </a:prstGeom>
          <a:noFill/>
          <a:ln/>
        </p:spPr>
        <p:txBody>
          <a:bodyPr wrap="square" lIns="0" tIns="0" rIns="0" bIns="0" rtlCol="0" anchor="ctr">
            <a:normAutofit/>
          </a:bodyPr>
          <a:lstStyle/>
          <a:p>
            <a:pPr algn="ctr" indent="0" marL="0">
              <a:buNone/>
            </a:pPr>
            <a:r>
              <a:rPr lang="en-US" sz="950" b="1" dirty="0">
                <a:solidFill>
                  <a:srgbClr val="17313E"/>
                </a:solidFill>
              </a:rPr>
              <a:t>Beaches / crowds</a:t>
            </a:r>
            <a:endParaRPr lang="en-US" sz="9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26480" y="1847088"/>
            <a:ext cx="438912" cy="438912"/>
          </a:xfrm>
          <a:prstGeom prst="rect">
            <a:avLst/>
          </a:prstGeom>
        </p:spPr>
      </p:pic>
      <p:sp>
        <p:nvSpPr>
          <p:cNvPr id="13" name="Text 7"/>
          <p:cNvSpPr/>
          <p:nvPr/>
        </p:nvSpPr>
        <p:spPr>
          <a:xfrm>
            <a:off x="5943600" y="2350008"/>
            <a:ext cx="822960" cy="310896"/>
          </a:xfrm>
          <a:prstGeom prst="rect">
            <a:avLst/>
          </a:prstGeom>
          <a:noFill/>
          <a:ln/>
        </p:spPr>
        <p:txBody>
          <a:bodyPr wrap="square" lIns="0" tIns="0" rIns="0" bIns="0" rtlCol="0" anchor="ctr">
            <a:normAutofit/>
          </a:bodyPr>
          <a:lstStyle/>
          <a:p>
            <a:pPr algn="ctr" indent="0" marL="0">
              <a:buNone/>
            </a:pPr>
            <a:r>
              <a:rPr lang="en-US" sz="950" b="1" dirty="0">
                <a:solidFill>
                  <a:srgbClr val="17313E"/>
                </a:solidFill>
              </a:rPr>
              <a:t>Water sports</a:t>
            </a:r>
            <a:endParaRPr lang="en-US" sz="950" dirty="0"/>
          </a:p>
        </p:txBody>
      </p:sp>
      <p:pic>
        <p:nvPicPr>
          <p:cNvPr id="14"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63840" y="1847088"/>
            <a:ext cx="438912" cy="438912"/>
          </a:xfrm>
          <a:prstGeom prst="rect">
            <a:avLst/>
          </a:prstGeom>
        </p:spPr>
      </p:pic>
      <p:sp>
        <p:nvSpPr>
          <p:cNvPr id="15" name="Text 8"/>
          <p:cNvSpPr/>
          <p:nvPr/>
        </p:nvSpPr>
        <p:spPr>
          <a:xfrm>
            <a:off x="7680960" y="2350008"/>
            <a:ext cx="822960" cy="310896"/>
          </a:xfrm>
          <a:prstGeom prst="rect">
            <a:avLst/>
          </a:prstGeom>
          <a:noFill/>
          <a:ln/>
        </p:spPr>
        <p:txBody>
          <a:bodyPr wrap="square" lIns="0" tIns="0" rIns="0" bIns="0" rtlCol="0" anchor="ctr">
            <a:normAutofit/>
          </a:bodyPr>
          <a:lstStyle/>
          <a:p>
            <a:pPr algn="ctr" indent="0" marL="0">
              <a:buNone/>
            </a:pPr>
            <a:r>
              <a:rPr lang="en-US" sz="950" b="1" dirty="0">
                <a:solidFill>
                  <a:srgbClr val="17313E"/>
                </a:solidFill>
              </a:rPr>
              <a:t>Estuaries</a:t>
            </a:r>
            <a:endParaRPr lang="en-US" sz="950" dirty="0"/>
          </a:p>
        </p:txBody>
      </p:sp>
      <p:pic>
        <p:nvPicPr>
          <p:cNvPr id="16"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601200" y="1847088"/>
            <a:ext cx="438912" cy="438912"/>
          </a:xfrm>
          <a:prstGeom prst="rect">
            <a:avLst/>
          </a:prstGeom>
        </p:spPr>
      </p:pic>
      <p:sp>
        <p:nvSpPr>
          <p:cNvPr id="17" name="Text 9"/>
          <p:cNvSpPr/>
          <p:nvPr/>
        </p:nvSpPr>
        <p:spPr>
          <a:xfrm>
            <a:off x="9418320" y="2350008"/>
            <a:ext cx="822960" cy="310896"/>
          </a:xfrm>
          <a:prstGeom prst="rect">
            <a:avLst/>
          </a:prstGeom>
          <a:noFill/>
          <a:ln/>
        </p:spPr>
        <p:txBody>
          <a:bodyPr wrap="square" lIns="0" tIns="0" rIns="0" bIns="0" rtlCol="0" anchor="ctr">
            <a:normAutofit/>
          </a:bodyPr>
          <a:lstStyle/>
          <a:p>
            <a:pPr algn="ctr" indent="0" marL="0">
              <a:buNone/>
            </a:pPr>
            <a:r>
              <a:rPr lang="en-US" sz="950" b="1" dirty="0">
                <a:solidFill>
                  <a:srgbClr val="17313E"/>
                </a:solidFill>
              </a:rPr>
              <a:t>Night / thermal</a:t>
            </a:r>
            <a:endParaRPr lang="en-US" sz="950" dirty="0"/>
          </a:p>
        </p:txBody>
      </p:sp>
      <p:sp>
        <p:nvSpPr>
          <p:cNvPr id="18" name="Text 10"/>
          <p:cNvSpPr/>
          <p:nvPr/>
        </p:nvSpPr>
        <p:spPr>
          <a:xfrm>
            <a:off x="1051560" y="3310128"/>
            <a:ext cx="10058400" cy="457200"/>
          </a:xfrm>
          <a:prstGeom prst="rect">
            <a:avLst/>
          </a:prstGeom>
          <a:noFill/>
          <a:ln/>
        </p:spPr>
        <p:txBody>
          <a:bodyPr wrap="square" lIns="0" tIns="0" rIns="0" bIns="0" rtlCol="0" anchor="ctr">
            <a:normAutofit/>
          </a:bodyPr>
          <a:lstStyle/>
          <a:p>
            <a:pPr algn="ctr" indent="0" marL="0">
              <a:buNone/>
            </a:pPr>
            <a:r>
              <a:rPr lang="en-US" sz="2000" b="1" dirty="0">
                <a:solidFill>
                  <a:srgbClr val="0B1F33"/>
                </a:solidFill>
              </a:rPr>
              <a:t>The same movement can be normal in one context and operationally relevant in another.</a:t>
            </a:r>
            <a:endParaRPr lang="en-US" sz="2000" dirty="0"/>
          </a:p>
        </p:txBody>
      </p:sp>
      <p:sp>
        <p:nvSpPr>
          <p:cNvPr id="19" name="Shape 11"/>
          <p:cNvSpPr/>
          <p:nvPr/>
        </p:nvSpPr>
        <p:spPr>
          <a:xfrm>
            <a:off x="749808" y="4078224"/>
            <a:ext cx="3429000" cy="1325880"/>
          </a:xfrm>
          <a:prstGeom prst="roundRect">
            <a:avLst>
              <a:gd name="adj" fmla="val 5517"/>
            </a:avLst>
          </a:prstGeom>
          <a:solidFill>
            <a:srgbClr val="FFF9F2"/>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20" name="Shape 12"/>
          <p:cNvSpPr/>
          <p:nvPr/>
        </p:nvSpPr>
        <p:spPr>
          <a:xfrm>
            <a:off x="749808" y="4078224"/>
            <a:ext cx="64008" cy="1325880"/>
          </a:xfrm>
          <a:prstGeom prst="rect">
            <a:avLst/>
          </a:prstGeom>
          <a:solidFill>
            <a:srgbClr val="E69A45"/>
          </a:solidFill>
          <a:ln w="12700">
            <a:solidFill>
              <a:srgbClr val="E69A45"/>
            </a:solidFill>
            <a:prstDash val="solid"/>
          </a:ln>
        </p:spPr>
      </p:sp>
      <p:pic>
        <p:nvPicPr>
          <p:cNvPr id="2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50976" y="4279392"/>
            <a:ext cx="320040" cy="320040"/>
          </a:xfrm>
          <a:prstGeom prst="rect">
            <a:avLst/>
          </a:prstGeom>
        </p:spPr>
      </p:pic>
      <p:sp>
        <p:nvSpPr>
          <p:cNvPr id="22" name="Text 13"/>
          <p:cNvSpPr/>
          <p:nvPr/>
        </p:nvSpPr>
        <p:spPr>
          <a:xfrm>
            <a:off x="1371600" y="4242816"/>
            <a:ext cx="2606040" cy="329184"/>
          </a:xfrm>
          <a:prstGeom prst="rect">
            <a:avLst/>
          </a:prstGeom>
          <a:noFill/>
          <a:ln/>
        </p:spPr>
        <p:txBody>
          <a:bodyPr wrap="square" lIns="0" tIns="0" rIns="0" bIns="0" rtlCol="0" anchor="ctr">
            <a:normAutofit/>
          </a:bodyPr>
          <a:lstStyle/>
          <a:p>
            <a:pPr indent="0" marL="0">
              <a:buNone/>
            </a:pPr>
            <a:r>
              <a:rPr lang="en-US" sz="1500" b="1" dirty="0">
                <a:solidFill>
                  <a:srgbClr val="17313E"/>
                </a:solidFill>
                <a:latin typeface="Aptos Display" pitchFamily="34" charset="0"/>
                <a:ea typeface="Aptos Display" pitchFamily="34" charset="-122"/>
                <a:cs typeface="Aptos Display" pitchFamily="34" charset="-120"/>
              </a:rPr>
              <a:t>Generic anomaly logic</a:t>
            </a:r>
            <a:endParaRPr lang="en-US" sz="1500" dirty="0"/>
          </a:p>
        </p:txBody>
      </p:sp>
      <p:sp>
        <p:nvSpPr>
          <p:cNvPr id="23" name="Text 14"/>
          <p:cNvSpPr/>
          <p:nvPr/>
        </p:nvSpPr>
        <p:spPr>
          <a:xfrm>
            <a:off x="950976" y="4736592"/>
            <a:ext cx="3026664" cy="484632"/>
          </a:xfrm>
          <a:prstGeom prst="rect">
            <a:avLst/>
          </a:prstGeom>
          <a:noFill/>
          <a:ln/>
        </p:spPr>
        <p:txBody>
          <a:bodyPr wrap="square" lIns="254" tIns="254" rIns="254" bIns="254" rtlCol="0" anchor="t">
            <a:normAutofit/>
          </a:bodyPr>
          <a:lstStyle/>
          <a:p>
            <a:pPr indent="0" marL="0">
              <a:buNone/>
            </a:pPr>
            <a:r>
              <a:rPr lang="en-US" sz="1050" dirty="0">
                <a:solidFill>
                  <a:srgbClr val="5F7280"/>
                </a:solidFill>
                <a:latin typeface="Aptos" pitchFamily="34" charset="0"/>
                <a:ea typeface="Aptos" pitchFamily="34" charset="-122"/>
                <a:cs typeface="Aptos" pitchFamily="34" charset="-120"/>
              </a:rPr>
              <a:t>Vessel clustering, repeated manoeuvres or shoreline approach may trigger excessive alerts.</a:t>
            </a:r>
            <a:endParaRPr lang="en-US" sz="1050" dirty="0"/>
          </a:p>
        </p:txBody>
      </p:sp>
      <p:sp>
        <p:nvSpPr>
          <p:cNvPr id="24" name="Shape 15"/>
          <p:cNvSpPr/>
          <p:nvPr/>
        </p:nvSpPr>
        <p:spPr>
          <a:xfrm>
            <a:off x="4379976" y="4078224"/>
            <a:ext cx="3429000" cy="1325880"/>
          </a:xfrm>
          <a:prstGeom prst="roundRect">
            <a:avLst>
              <a:gd name="adj" fmla="val 5517"/>
            </a:avLst>
          </a:prstGeom>
          <a:solidFill>
            <a:srgbClr val="F3FAF8"/>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25" name="Shape 16"/>
          <p:cNvSpPr/>
          <p:nvPr/>
        </p:nvSpPr>
        <p:spPr>
          <a:xfrm>
            <a:off x="4379976" y="4078224"/>
            <a:ext cx="64008" cy="1325880"/>
          </a:xfrm>
          <a:prstGeom prst="rect">
            <a:avLst/>
          </a:prstGeom>
          <a:solidFill>
            <a:srgbClr val="2A9D8F"/>
          </a:solidFill>
          <a:ln w="12700">
            <a:solidFill>
              <a:srgbClr val="2A9D8F"/>
            </a:solidFill>
            <a:prstDash val="solid"/>
          </a:ln>
        </p:spPr>
      </p:sp>
      <p:pic>
        <p:nvPicPr>
          <p:cNvPr id="26"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581144" y="4279392"/>
            <a:ext cx="320040" cy="320040"/>
          </a:xfrm>
          <a:prstGeom prst="rect">
            <a:avLst/>
          </a:prstGeom>
        </p:spPr>
      </p:pic>
      <p:sp>
        <p:nvSpPr>
          <p:cNvPr id="27" name="Text 17"/>
          <p:cNvSpPr/>
          <p:nvPr/>
        </p:nvSpPr>
        <p:spPr>
          <a:xfrm>
            <a:off x="5001768" y="4242816"/>
            <a:ext cx="2606040" cy="329184"/>
          </a:xfrm>
          <a:prstGeom prst="rect">
            <a:avLst/>
          </a:prstGeom>
          <a:noFill/>
          <a:ln/>
        </p:spPr>
        <p:txBody>
          <a:bodyPr wrap="square" lIns="0" tIns="0" rIns="0" bIns="0" rtlCol="0" anchor="ctr">
            <a:normAutofit/>
          </a:bodyPr>
          <a:lstStyle/>
          <a:p>
            <a:pPr indent="0" marL="0">
              <a:buNone/>
            </a:pPr>
            <a:r>
              <a:rPr lang="en-US" sz="1500" b="1" dirty="0">
                <a:solidFill>
                  <a:srgbClr val="17313E"/>
                </a:solidFill>
                <a:latin typeface="Aptos Display" pitchFamily="34" charset="0"/>
                <a:ea typeface="Aptos Display" pitchFamily="34" charset="-122"/>
                <a:cs typeface="Aptos Display" pitchFamily="34" charset="-120"/>
              </a:rPr>
              <a:t>Kerala Coastal Context</a:t>
            </a:r>
            <a:endParaRPr lang="en-US" sz="1500" dirty="0"/>
          </a:p>
        </p:txBody>
      </p:sp>
      <p:sp>
        <p:nvSpPr>
          <p:cNvPr id="28" name="Text 18"/>
          <p:cNvSpPr/>
          <p:nvPr/>
        </p:nvSpPr>
        <p:spPr>
          <a:xfrm>
            <a:off x="4581144" y="4736592"/>
            <a:ext cx="3026664" cy="484632"/>
          </a:xfrm>
          <a:prstGeom prst="rect">
            <a:avLst/>
          </a:prstGeom>
          <a:noFill/>
          <a:ln/>
        </p:spPr>
        <p:txBody>
          <a:bodyPr wrap="square" lIns="254" tIns="254" rIns="254" bIns="254" rtlCol="0" anchor="t">
            <a:normAutofit/>
          </a:bodyPr>
          <a:lstStyle/>
          <a:p>
            <a:pPr indent="0" marL="0">
              <a:buNone/>
            </a:pPr>
            <a:r>
              <a:rPr lang="en-US" sz="1050" dirty="0">
                <a:solidFill>
                  <a:srgbClr val="5F7280"/>
                </a:solidFill>
                <a:latin typeface="Aptos" pitchFamily="34" charset="0"/>
                <a:ea typeface="Aptos" pitchFamily="34" charset="-122"/>
                <a:cs typeface="Aptos" pitchFamily="34" charset="-120"/>
              </a:rPr>
              <a:t>Location + time + season + mission profile + police-defined operational context.</a:t>
            </a:r>
            <a:endParaRPr lang="en-US" sz="1050" dirty="0"/>
          </a:p>
        </p:txBody>
      </p:sp>
      <p:sp>
        <p:nvSpPr>
          <p:cNvPr id="29" name="Shape 19"/>
          <p:cNvSpPr/>
          <p:nvPr/>
        </p:nvSpPr>
        <p:spPr>
          <a:xfrm>
            <a:off x="8010144" y="4078224"/>
            <a:ext cx="3429000" cy="1325880"/>
          </a:xfrm>
          <a:prstGeom prst="roundRect">
            <a:avLst>
              <a:gd name="adj" fmla="val 5517"/>
            </a:avLst>
          </a:prstGeom>
          <a:solidFill>
            <a:srgbClr val="F3F7FB"/>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30" name="Shape 20"/>
          <p:cNvSpPr/>
          <p:nvPr/>
        </p:nvSpPr>
        <p:spPr>
          <a:xfrm>
            <a:off x="8010144" y="4078224"/>
            <a:ext cx="64008" cy="1325880"/>
          </a:xfrm>
          <a:prstGeom prst="rect">
            <a:avLst/>
          </a:prstGeom>
          <a:solidFill>
            <a:srgbClr val="3F7CAC"/>
          </a:solidFill>
          <a:ln w="12700">
            <a:solidFill>
              <a:srgbClr val="3F7CAC"/>
            </a:solidFill>
            <a:prstDash val="solid"/>
          </a:ln>
        </p:spPr>
      </p:sp>
      <p:pic>
        <p:nvPicPr>
          <p:cNvPr id="31"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11312" y="4279392"/>
            <a:ext cx="320040" cy="320040"/>
          </a:xfrm>
          <a:prstGeom prst="rect">
            <a:avLst/>
          </a:prstGeom>
        </p:spPr>
      </p:pic>
      <p:sp>
        <p:nvSpPr>
          <p:cNvPr id="32" name="Text 21"/>
          <p:cNvSpPr/>
          <p:nvPr/>
        </p:nvSpPr>
        <p:spPr>
          <a:xfrm>
            <a:off x="8631936" y="4242816"/>
            <a:ext cx="2606040" cy="329184"/>
          </a:xfrm>
          <a:prstGeom prst="rect">
            <a:avLst/>
          </a:prstGeom>
          <a:noFill/>
          <a:ln/>
        </p:spPr>
        <p:txBody>
          <a:bodyPr wrap="square" lIns="0" tIns="0" rIns="0" bIns="0" rtlCol="0" anchor="ctr">
            <a:normAutofit/>
          </a:bodyPr>
          <a:lstStyle/>
          <a:p>
            <a:pPr indent="0" marL="0">
              <a:buNone/>
            </a:pPr>
            <a:r>
              <a:rPr lang="en-US" sz="1500" b="1" dirty="0">
                <a:solidFill>
                  <a:srgbClr val="17313E"/>
                </a:solidFill>
                <a:latin typeface="Aptos Display" pitchFamily="34" charset="0"/>
                <a:ea typeface="Aptos Display" pitchFamily="34" charset="-122"/>
                <a:cs typeface="Aptos Display" pitchFamily="34" charset="-120"/>
              </a:rPr>
              <a:t>Operator attention</a:t>
            </a:r>
            <a:endParaRPr lang="en-US" sz="1500" dirty="0"/>
          </a:p>
        </p:txBody>
      </p:sp>
      <p:sp>
        <p:nvSpPr>
          <p:cNvPr id="33" name="Text 22"/>
          <p:cNvSpPr/>
          <p:nvPr/>
        </p:nvSpPr>
        <p:spPr>
          <a:xfrm>
            <a:off x="8211312" y="4736592"/>
            <a:ext cx="3026664" cy="484632"/>
          </a:xfrm>
          <a:prstGeom prst="rect">
            <a:avLst/>
          </a:prstGeom>
          <a:noFill/>
          <a:ln/>
        </p:spPr>
        <p:txBody>
          <a:bodyPr wrap="square" lIns="254" tIns="254" rIns="254" bIns="254" rtlCol="0" anchor="t">
            <a:normAutofit/>
          </a:bodyPr>
          <a:lstStyle/>
          <a:p>
            <a:pPr indent="0" marL="0">
              <a:buNone/>
            </a:pPr>
            <a:r>
              <a:rPr lang="en-US" sz="1050" dirty="0">
                <a:solidFill>
                  <a:srgbClr val="5F7280"/>
                </a:solidFill>
                <a:latin typeface="Aptos" pitchFamily="34" charset="0"/>
                <a:ea typeface="Aptos" pitchFamily="34" charset="-122"/>
                <a:cs typeface="Aptos" pitchFamily="34" charset="-120"/>
              </a:rPr>
              <a:t>Prioritize evidence and evolving behaviour — retain police judgement for final interpretation.</a:t>
            </a:r>
            <a:endParaRPr lang="en-US" sz="1050" dirty="0"/>
          </a:p>
        </p:txBody>
      </p:sp>
      <p:sp>
        <p:nvSpPr>
          <p:cNvPr id="25" name="Slide Number Placeholder 0"/>
          <p:cNvSpPr>
            <a:spLocks noGrp="1"/>
          </p:cNvSpPr>
          <p:nvPr>
            <p:ph type="sldNum" sz="quarter" idx="4294967295"/>
          </p:nvPr>
        </p:nvSpPr>
        <p:spPr>
          <a:xfrm>
            <a:off x="11631168" y="6547104"/>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B7D89"/>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758952"/>
            <a:ext cx="10972800" cy="438912"/>
          </a:xfrm>
          <a:prstGeom prst="rect">
            <a:avLst/>
          </a:prstGeom>
          <a:noFill/>
          <a:ln/>
        </p:spPr>
        <p:txBody>
          <a:bodyPr wrap="square" lIns="0" tIns="0" rIns="0" bIns="0" rtlCol="0" anchor="ctr">
            <a:normAutofit/>
          </a:bodyP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QWI Is Not Starting from Zero</a:t>
            </a:r>
            <a:endParaRPr lang="en-US" sz="2500" dirty="0"/>
          </a:p>
        </p:txBody>
      </p:sp>
      <p:sp>
        <p:nvSpPr>
          <p:cNvPr id="3" name="Shape 1"/>
          <p:cNvSpPr/>
          <p:nvPr/>
        </p:nvSpPr>
        <p:spPr>
          <a:xfrm>
            <a:off x="566928" y="1243584"/>
            <a:ext cx="914400" cy="45720"/>
          </a:xfrm>
          <a:prstGeom prst="rect">
            <a:avLst/>
          </a:prstGeom>
          <a:solidFill>
            <a:srgbClr val="2A9D8F"/>
          </a:solidFill>
          <a:ln w="12700">
            <a:solidFill>
              <a:srgbClr val="2A9D8F"/>
            </a:solidFill>
            <a:prstDash val="solid"/>
          </a:ln>
        </p:spPr>
      </p:sp>
      <p:sp>
        <p:nvSpPr>
          <p:cNvPr id="4" name="Text 2"/>
          <p:cNvSpPr/>
          <p:nvPr/>
        </p:nvSpPr>
        <p:spPr>
          <a:xfrm>
            <a:off x="1600200" y="1115568"/>
            <a:ext cx="9784080" cy="228600"/>
          </a:xfrm>
          <a:prstGeom prst="rect">
            <a:avLst/>
          </a:prstGeom>
          <a:noFill/>
          <a:ln/>
        </p:spPr>
        <p:txBody>
          <a:bodyPr wrap="square" lIns="0" tIns="0" rIns="0" bIns="0" rtlCol="0" anchor="ctr">
            <a:normAutofit/>
          </a:bodyPr>
          <a:lstStyle/>
          <a:p>
            <a:pPr indent="0" marL="0">
              <a:buNone/>
            </a:pPr>
            <a:r>
              <a:rPr lang="en-US" sz="1050" dirty="0">
                <a:solidFill>
                  <a:srgbClr val="5F7280"/>
                </a:solidFill>
                <a:latin typeface="Aptos" pitchFamily="34" charset="0"/>
                <a:ea typeface="Aptos" pitchFamily="34" charset="-122"/>
                <a:cs typeface="Aptos" pitchFamily="34" charset="-120"/>
              </a:rPr>
              <a:t>Existing engineering foundations reduce implementation risk</a:t>
            </a:r>
            <a:endParaRPr lang="en-US" sz="1050" dirty="0"/>
          </a:p>
        </p:txBody>
      </p:sp>
      <p:sp>
        <p:nvSpPr>
          <p:cNvPr id="5" name="Shape 3"/>
          <p:cNvSpPr/>
          <p:nvPr/>
        </p:nvSpPr>
        <p:spPr>
          <a:xfrm>
            <a:off x="658368" y="1664208"/>
            <a:ext cx="2377440" cy="3182112"/>
          </a:xfrm>
          <a:prstGeom prst="roundRect">
            <a:avLst>
              <a:gd name="adj" fmla="val 3077"/>
            </a:avLst>
          </a:prstGeom>
          <a:solidFill>
            <a:srgbClr val="FFFFFF"/>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6" name="Shape 4"/>
          <p:cNvSpPr/>
          <p:nvPr/>
        </p:nvSpPr>
        <p:spPr>
          <a:xfrm>
            <a:off x="658368" y="1664208"/>
            <a:ext cx="64008" cy="3182112"/>
          </a:xfrm>
          <a:prstGeom prst="rect">
            <a:avLst/>
          </a:prstGeom>
          <a:solidFill>
            <a:srgbClr val="2A9D8F"/>
          </a:solidFill>
          <a:ln w="12700">
            <a:solidFill>
              <a:srgbClr val="2A9D8F"/>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9536" y="1865376"/>
            <a:ext cx="320040" cy="320040"/>
          </a:xfrm>
          <a:prstGeom prst="rect">
            <a:avLst/>
          </a:prstGeom>
        </p:spPr>
      </p:pic>
      <p:sp>
        <p:nvSpPr>
          <p:cNvPr id="8" name="Text 5"/>
          <p:cNvSpPr/>
          <p:nvPr/>
        </p:nvSpPr>
        <p:spPr>
          <a:xfrm>
            <a:off x="1280160" y="1828800"/>
            <a:ext cx="1554480" cy="329184"/>
          </a:xfrm>
          <a:prstGeom prst="rect">
            <a:avLst/>
          </a:prstGeom>
          <a:noFill/>
          <a:ln/>
        </p:spPr>
        <p:txBody>
          <a:bodyPr wrap="square" lIns="0" tIns="0" rIns="0" bIns="0" rtlCol="0" anchor="ctr">
            <a:normAutofit/>
          </a:bodyPr>
          <a:lstStyle/>
          <a:p>
            <a:pPr indent="0" marL="0">
              <a:buNone/>
            </a:pPr>
            <a:r>
              <a:rPr lang="en-US" sz="1450" b="1" dirty="0">
                <a:solidFill>
                  <a:srgbClr val="17313E"/>
                </a:solidFill>
                <a:latin typeface="Aptos Display" pitchFamily="34" charset="0"/>
                <a:ea typeface="Aptos Display" pitchFamily="34" charset="-122"/>
                <a:cs typeface="Aptos Display" pitchFamily="34" charset="-120"/>
              </a:rPr>
              <a:t>Kerala Police Drone Analytics</a:t>
            </a:r>
            <a:endParaRPr lang="en-US" sz="1450" dirty="0"/>
          </a:p>
        </p:txBody>
      </p:sp>
      <p:sp>
        <p:nvSpPr>
          <p:cNvPr id="9" name="Text 6"/>
          <p:cNvSpPr/>
          <p:nvPr/>
        </p:nvSpPr>
        <p:spPr>
          <a:xfrm>
            <a:off x="859536" y="2322576"/>
            <a:ext cx="1975104" cy="2340864"/>
          </a:xfrm>
          <a:prstGeom prst="rect">
            <a:avLst/>
          </a:prstGeom>
          <a:noFill/>
          <a:ln/>
        </p:spPr>
        <p:txBody>
          <a:bodyPr wrap="square" lIns="254" tIns="254" rIns="254" bIns="254" rtlCol="0" anchor="t">
            <a:normAutofit/>
          </a:bodyPr>
          <a:lstStyle/>
          <a:p>
            <a:pPr indent="0" marL="0">
              <a:buNone/>
            </a:pPr>
            <a:r>
              <a:rPr lang="en-US" sz="1010" dirty="0">
                <a:solidFill>
                  <a:srgbClr val="5F7280"/>
                </a:solidFill>
                <a:latin typeface="Aptos" pitchFamily="34" charset="0"/>
                <a:ea typeface="Aptos" pitchFamily="34" charset="-122"/>
                <a:cs typeface="Aptos" pitchFamily="34" charset="-120"/>
              </a:rPr>
              <a:t>Developed and demonstrated UAV video ingestion, person/object/vehicle analytics, tracking, event processing and operator workflows.</a:t>
            </a:r>
            <a:endParaRPr lang="en-US" sz="1010" dirty="0"/>
          </a:p>
        </p:txBody>
      </p:sp>
      <p:sp>
        <p:nvSpPr>
          <p:cNvPr id="10" name="Shape 7"/>
          <p:cNvSpPr/>
          <p:nvPr/>
        </p:nvSpPr>
        <p:spPr>
          <a:xfrm>
            <a:off x="3035808" y="3218688"/>
            <a:ext cx="457200" cy="0"/>
          </a:xfrm>
          <a:prstGeom prst="line">
            <a:avLst/>
          </a:prstGeom>
          <a:noFill/>
          <a:ln w="19050">
            <a:solidFill>
              <a:srgbClr val="A6BEC9"/>
            </a:solidFill>
            <a:prstDash val="solid"/>
            <a:headEnd type="none"/>
            <a:tailEnd type="triangle"/>
          </a:ln>
        </p:spPr>
      </p:sp>
      <p:sp>
        <p:nvSpPr>
          <p:cNvPr id="11" name="Shape 8"/>
          <p:cNvSpPr/>
          <p:nvPr/>
        </p:nvSpPr>
        <p:spPr>
          <a:xfrm>
            <a:off x="3493008" y="1664208"/>
            <a:ext cx="2377440" cy="3182112"/>
          </a:xfrm>
          <a:prstGeom prst="roundRect">
            <a:avLst>
              <a:gd name="adj" fmla="val 3077"/>
            </a:avLst>
          </a:prstGeom>
          <a:solidFill>
            <a:srgbClr val="FFFFFF"/>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12" name="Shape 9"/>
          <p:cNvSpPr/>
          <p:nvPr/>
        </p:nvSpPr>
        <p:spPr>
          <a:xfrm>
            <a:off x="3493008" y="1664208"/>
            <a:ext cx="64008" cy="3182112"/>
          </a:xfrm>
          <a:prstGeom prst="rect">
            <a:avLst/>
          </a:prstGeom>
          <a:solidFill>
            <a:srgbClr val="3F7CAC"/>
          </a:solidFill>
          <a:ln w="12700">
            <a:solidFill>
              <a:srgbClr val="3F7CAC"/>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94176" y="1865376"/>
            <a:ext cx="320040" cy="320040"/>
          </a:xfrm>
          <a:prstGeom prst="rect">
            <a:avLst/>
          </a:prstGeom>
        </p:spPr>
      </p:pic>
      <p:sp>
        <p:nvSpPr>
          <p:cNvPr id="14" name="Text 10"/>
          <p:cNvSpPr/>
          <p:nvPr/>
        </p:nvSpPr>
        <p:spPr>
          <a:xfrm>
            <a:off x="4114800" y="1828800"/>
            <a:ext cx="1554480" cy="329184"/>
          </a:xfrm>
          <a:prstGeom prst="rect">
            <a:avLst/>
          </a:prstGeom>
          <a:noFill/>
          <a:ln/>
        </p:spPr>
        <p:txBody>
          <a:bodyPr wrap="square" lIns="0" tIns="0" rIns="0" bIns="0" rtlCol="0" anchor="ctr">
            <a:normAutofit/>
          </a:bodyPr>
          <a:lstStyle/>
          <a:p>
            <a:pPr indent="0" marL="0">
              <a:buNone/>
            </a:pPr>
            <a:r>
              <a:rPr lang="en-US" sz="1450" b="1" dirty="0">
                <a:solidFill>
                  <a:srgbClr val="17313E"/>
                </a:solidFill>
                <a:latin typeface="Aptos Display" pitchFamily="34" charset="0"/>
                <a:ea typeface="Aptos Display" pitchFamily="34" charset="-122"/>
                <a:cs typeface="Aptos Display" pitchFamily="34" charset="-120"/>
              </a:rPr>
              <a:t>SmartQEye + CrowdEye</a:t>
            </a:r>
            <a:endParaRPr lang="en-US" sz="1450" dirty="0"/>
          </a:p>
        </p:txBody>
      </p:sp>
      <p:sp>
        <p:nvSpPr>
          <p:cNvPr id="15" name="Text 11"/>
          <p:cNvSpPr/>
          <p:nvPr/>
        </p:nvSpPr>
        <p:spPr>
          <a:xfrm>
            <a:off x="3694176" y="2322576"/>
            <a:ext cx="1975104" cy="2340864"/>
          </a:xfrm>
          <a:prstGeom prst="rect">
            <a:avLst/>
          </a:prstGeom>
          <a:noFill/>
          <a:ln/>
        </p:spPr>
        <p:txBody>
          <a:bodyPr wrap="square" lIns="254" tIns="254" rIns="254" bIns="254" rtlCol="0" anchor="t">
            <a:normAutofit/>
          </a:bodyPr>
          <a:lstStyle/>
          <a:p>
            <a:pPr indent="0" marL="0">
              <a:buNone/>
            </a:pPr>
            <a:r>
              <a:rPr lang="en-US" sz="1010" dirty="0">
                <a:solidFill>
                  <a:srgbClr val="5F7280"/>
                </a:solidFill>
                <a:latin typeface="Aptos" pitchFamily="34" charset="0"/>
                <a:ea typeface="Aptos" pitchFamily="34" charset="-122"/>
                <a:cs typeface="Aptos" pitchFamily="34" charset="-120"/>
              </a:rPr>
              <a:t>CCTV surveillance, crowd monitoring, zones, behaviour analytics, Cognitive Frame Selection and evidence review.</a:t>
            </a:r>
            <a:endParaRPr lang="en-US" sz="1010" dirty="0"/>
          </a:p>
        </p:txBody>
      </p:sp>
      <p:sp>
        <p:nvSpPr>
          <p:cNvPr id="16" name="Shape 12"/>
          <p:cNvSpPr/>
          <p:nvPr/>
        </p:nvSpPr>
        <p:spPr>
          <a:xfrm>
            <a:off x="5870448" y="3218688"/>
            <a:ext cx="457200" cy="0"/>
          </a:xfrm>
          <a:prstGeom prst="line">
            <a:avLst/>
          </a:prstGeom>
          <a:noFill/>
          <a:ln w="19050">
            <a:solidFill>
              <a:srgbClr val="A6BEC9"/>
            </a:solidFill>
            <a:prstDash val="solid"/>
            <a:headEnd type="none"/>
            <a:tailEnd type="triangle"/>
          </a:ln>
        </p:spPr>
      </p:sp>
      <p:sp>
        <p:nvSpPr>
          <p:cNvPr id="17" name="Shape 13"/>
          <p:cNvSpPr/>
          <p:nvPr/>
        </p:nvSpPr>
        <p:spPr>
          <a:xfrm>
            <a:off x="6327648" y="1664208"/>
            <a:ext cx="2377440" cy="3182112"/>
          </a:xfrm>
          <a:prstGeom prst="roundRect">
            <a:avLst>
              <a:gd name="adj" fmla="val 3077"/>
            </a:avLst>
          </a:prstGeom>
          <a:solidFill>
            <a:srgbClr val="FFFFFF"/>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18" name="Shape 14"/>
          <p:cNvSpPr/>
          <p:nvPr/>
        </p:nvSpPr>
        <p:spPr>
          <a:xfrm>
            <a:off x="6327648" y="1664208"/>
            <a:ext cx="64008" cy="3182112"/>
          </a:xfrm>
          <a:prstGeom prst="rect">
            <a:avLst/>
          </a:prstGeom>
          <a:solidFill>
            <a:srgbClr val="0F6B6F"/>
          </a:solidFill>
          <a:ln w="12700">
            <a:solidFill>
              <a:srgbClr val="0F6B6F"/>
            </a:solidFill>
            <a:prstDash val="solid"/>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28816" y="1865376"/>
            <a:ext cx="320040" cy="320040"/>
          </a:xfrm>
          <a:prstGeom prst="rect">
            <a:avLst/>
          </a:prstGeom>
        </p:spPr>
      </p:pic>
      <p:sp>
        <p:nvSpPr>
          <p:cNvPr id="20" name="Text 15"/>
          <p:cNvSpPr/>
          <p:nvPr/>
        </p:nvSpPr>
        <p:spPr>
          <a:xfrm>
            <a:off x="6949440" y="1828800"/>
            <a:ext cx="1554480" cy="329184"/>
          </a:xfrm>
          <a:prstGeom prst="rect">
            <a:avLst/>
          </a:prstGeom>
          <a:noFill/>
          <a:ln/>
        </p:spPr>
        <p:txBody>
          <a:bodyPr wrap="square" lIns="0" tIns="0" rIns="0" bIns="0" rtlCol="0" anchor="ctr">
            <a:normAutofit/>
          </a:bodyPr>
          <a:lstStyle/>
          <a:p>
            <a:pPr indent="0" marL="0">
              <a:buNone/>
            </a:pPr>
            <a:r>
              <a:rPr lang="en-US" sz="1450" b="1" dirty="0">
                <a:solidFill>
                  <a:srgbClr val="17313E"/>
                </a:solidFill>
                <a:latin typeface="Aptos Display" pitchFamily="34" charset="0"/>
                <a:ea typeface="Aptos Display" pitchFamily="34" charset="-122"/>
                <a:cs typeface="Aptos Display" pitchFamily="34" charset="-120"/>
              </a:rPr>
              <a:t>Maritime Analytics R&amp;D</a:t>
            </a:r>
            <a:endParaRPr lang="en-US" sz="1450" dirty="0"/>
          </a:p>
        </p:txBody>
      </p:sp>
      <p:sp>
        <p:nvSpPr>
          <p:cNvPr id="21" name="Text 16"/>
          <p:cNvSpPr/>
          <p:nvPr/>
        </p:nvSpPr>
        <p:spPr>
          <a:xfrm>
            <a:off x="6528816" y="2322576"/>
            <a:ext cx="1975104" cy="2340864"/>
          </a:xfrm>
          <a:prstGeom prst="rect">
            <a:avLst/>
          </a:prstGeom>
          <a:noFill/>
          <a:ln/>
        </p:spPr>
        <p:txBody>
          <a:bodyPr wrap="square" lIns="254" tIns="254" rIns="254" bIns="254" rtlCol="0" anchor="t">
            <a:normAutofit/>
          </a:bodyPr>
          <a:lstStyle/>
          <a:p>
            <a:pPr indent="0" marL="0">
              <a:buNone/>
            </a:pPr>
            <a:r>
              <a:rPr lang="en-US" sz="1010" dirty="0">
                <a:solidFill>
                  <a:srgbClr val="5F7280"/>
                </a:solidFill>
                <a:latin typeface="Aptos" pitchFamily="34" charset="0"/>
                <a:ea typeface="Aptos" pitchFamily="34" charset="-122"/>
                <a:cs typeface="Aptos" pitchFamily="34" charset="-120"/>
              </a:rPr>
              <a:t>Vessel detection, temporal tracking, geofencing, behaviour, multisensor concepts and maritime contact intelligence.</a:t>
            </a:r>
            <a:endParaRPr lang="en-US" sz="1010" dirty="0"/>
          </a:p>
        </p:txBody>
      </p:sp>
      <p:sp>
        <p:nvSpPr>
          <p:cNvPr id="22" name="Shape 17"/>
          <p:cNvSpPr/>
          <p:nvPr/>
        </p:nvSpPr>
        <p:spPr>
          <a:xfrm>
            <a:off x="8705088" y="3218688"/>
            <a:ext cx="457200" cy="0"/>
          </a:xfrm>
          <a:prstGeom prst="line">
            <a:avLst/>
          </a:prstGeom>
          <a:noFill/>
          <a:ln w="19050">
            <a:solidFill>
              <a:srgbClr val="A6BEC9"/>
            </a:solidFill>
            <a:prstDash val="solid"/>
            <a:headEnd type="none"/>
            <a:tailEnd type="triangle"/>
          </a:ln>
        </p:spPr>
      </p:sp>
      <p:sp>
        <p:nvSpPr>
          <p:cNvPr id="23" name="Shape 18"/>
          <p:cNvSpPr/>
          <p:nvPr/>
        </p:nvSpPr>
        <p:spPr>
          <a:xfrm>
            <a:off x="9162288" y="1664208"/>
            <a:ext cx="2377440" cy="3182112"/>
          </a:xfrm>
          <a:prstGeom prst="roundRect">
            <a:avLst>
              <a:gd name="adj" fmla="val 3077"/>
            </a:avLst>
          </a:prstGeom>
          <a:solidFill>
            <a:srgbClr val="FFFFFF"/>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24" name="Shape 19"/>
          <p:cNvSpPr/>
          <p:nvPr/>
        </p:nvSpPr>
        <p:spPr>
          <a:xfrm>
            <a:off x="9162288" y="1664208"/>
            <a:ext cx="64008" cy="3182112"/>
          </a:xfrm>
          <a:prstGeom prst="rect">
            <a:avLst/>
          </a:prstGeom>
          <a:solidFill>
            <a:srgbClr val="E69A45"/>
          </a:solidFill>
          <a:ln w="12700">
            <a:solidFill>
              <a:srgbClr val="E69A45"/>
            </a:solidFill>
            <a:prstDash val="solid"/>
          </a:ln>
        </p:spPr>
      </p:sp>
      <p:pic>
        <p:nvPicPr>
          <p:cNvPr id="2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363456" y="1865376"/>
            <a:ext cx="320040" cy="320040"/>
          </a:xfrm>
          <a:prstGeom prst="rect">
            <a:avLst/>
          </a:prstGeom>
        </p:spPr>
      </p:pic>
      <p:sp>
        <p:nvSpPr>
          <p:cNvPr id="26" name="Text 20"/>
          <p:cNvSpPr/>
          <p:nvPr/>
        </p:nvSpPr>
        <p:spPr>
          <a:xfrm>
            <a:off x="9784080" y="1828800"/>
            <a:ext cx="1554480" cy="329184"/>
          </a:xfrm>
          <a:prstGeom prst="rect">
            <a:avLst/>
          </a:prstGeom>
          <a:noFill/>
          <a:ln/>
        </p:spPr>
        <p:txBody>
          <a:bodyPr wrap="square" lIns="0" tIns="0" rIns="0" bIns="0" rtlCol="0" anchor="ctr">
            <a:normAutofit/>
          </a:bodyPr>
          <a:lstStyle/>
          <a:p>
            <a:pPr indent="0" marL="0">
              <a:buNone/>
            </a:pPr>
            <a:r>
              <a:rPr lang="en-US" sz="1450" b="1" dirty="0">
                <a:solidFill>
                  <a:srgbClr val="17313E"/>
                </a:solidFill>
                <a:latin typeface="Aptos Display" pitchFamily="34" charset="0"/>
                <a:ea typeface="Aptos Display" pitchFamily="34" charset="-122"/>
                <a:cs typeface="Aptos Display" pitchFamily="34" charset="-120"/>
              </a:rPr>
              <a:t>Multi-Stream Deployment</a:t>
            </a:r>
            <a:endParaRPr lang="en-US" sz="1450" dirty="0"/>
          </a:p>
        </p:txBody>
      </p:sp>
      <p:sp>
        <p:nvSpPr>
          <p:cNvPr id="27" name="Text 21"/>
          <p:cNvSpPr/>
          <p:nvPr/>
        </p:nvSpPr>
        <p:spPr>
          <a:xfrm>
            <a:off x="9363456" y="2322576"/>
            <a:ext cx="1975104" cy="2340864"/>
          </a:xfrm>
          <a:prstGeom prst="rect">
            <a:avLst/>
          </a:prstGeom>
          <a:noFill/>
          <a:ln/>
        </p:spPr>
        <p:txBody>
          <a:bodyPr wrap="square" lIns="254" tIns="254" rIns="254" bIns="254" rtlCol="0" anchor="t">
            <a:normAutofit/>
          </a:bodyPr>
          <a:lstStyle/>
          <a:p>
            <a:pPr indent="0" marL="0">
              <a:buNone/>
            </a:pPr>
            <a:r>
              <a:rPr lang="en-US" sz="1010" dirty="0">
                <a:solidFill>
                  <a:srgbClr val="5F7280"/>
                </a:solidFill>
                <a:latin typeface="Aptos" pitchFamily="34" charset="0"/>
                <a:ea typeface="Aptos" pitchFamily="34" charset="-122"/>
                <a:cs typeface="Aptos" pitchFamily="34" charset="-120"/>
              </a:rPr>
              <a:t>ShowroomX experience in multi-camera ingestion, workload scheduling, dashboards and operational analytics.</a:t>
            </a:r>
            <a:endParaRPr lang="en-US" sz="1010" dirty="0"/>
          </a:p>
        </p:txBody>
      </p:sp>
      <p:sp>
        <p:nvSpPr>
          <p:cNvPr id="28" name="Shape 22"/>
          <p:cNvSpPr/>
          <p:nvPr/>
        </p:nvSpPr>
        <p:spPr>
          <a:xfrm>
            <a:off x="1600200" y="5193792"/>
            <a:ext cx="9006840" cy="658368"/>
          </a:xfrm>
          <a:prstGeom prst="roundRect">
            <a:avLst>
              <a:gd name="adj" fmla="val 11111"/>
            </a:avLst>
          </a:prstGeom>
          <a:solidFill>
            <a:srgbClr val="0B1F33"/>
          </a:solidFill>
          <a:ln w="12700">
            <a:solidFill>
              <a:srgbClr val="0B1F33"/>
            </a:solidFill>
            <a:prstDash val="solid"/>
          </a:ln>
        </p:spPr>
      </p:sp>
      <p:sp>
        <p:nvSpPr>
          <p:cNvPr id="29" name="Text 23"/>
          <p:cNvSpPr/>
          <p:nvPr/>
        </p:nvSpPr>
        <p:spPr>
          <a:xfrm>
            <a:off x="1828800" y="5404104"/>
            <a:ext cx="8549640" cy="22860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rPr>
              <a:t>Existing foundation  →  Coastal-specific extension  →  Faster path to operational validation</a:t>
            </a:r>
            <a:endParaRPr lang="en-US" sz="1500" dirty="0"/>
          </a:p>
        </p:txBody>
      </p:sp>
      <p:sp>
        <p:nvSpPr>
          <p:cNvPr id="25" name="Slide Number Placeholder 0"/>
          <p:cNvSpPr>
            <a:spLocks noGrp="1"/>
          </p:cNvSpPr>
          <p:nvPr>
            <p:ph type="sldNum" sz="quarter" idx="4294967295"/>
          </p:nvPr>
        </p:nvSpPr>
        <p:spPr>
          <a:xfrm>
            <a:off x="11631168" y="6547104"/>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B7D89"/>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758952"/>
            <a:ext cx="10972800" cy="438912"/>
          </a:xfrm>
          <a:prstGeom prst="rect">
            <a:avLst/>
          </a:prstGeom>
          <a:noFill/>
          <a:ln/>
        </p:spPr>
        <p:txBody>
          <a:bodyPr wrap="square" lIns="0" tIns="0" rIns="0" bIns="0" rtlCol="0" anchor="ctr">
            <a:normAutofit/>
          </a:bodyP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SmartQEye Coastal — End-to-End Intelligence Flow</a:t>
            </a:r>
            <a:endParaRPr lang="en-US" sz="2500" dirty="0"/>
          </a:p>
        </p:txBody>
      </p:sp>
      <p:sp>
        <p:nvSpPr>
          <p:cNvPr id="3" name="Shape 1"/>
          <p:cNvSpPr/>
          <p:nvPr/>
        </p:nvSpPr>
        <p:spPr>
          <a:xfrm>
            <a:off x="566928" y="1243584"/>
            <a:ext cx="914400" cy="45720"/>
          </a:xfrm>
          <a:prstGeom prst="rect">
            <a:avLst/>
          </a:prstGeom>
          <a:solidFill>
            <a:srgbClr val="2A9D8F"/>
          </a:solidFill>
          <a:ln w="12700">
            <a:solidFill>
              <a:srgbClr val="2A9D8F"/>
            </a:solidFill>
            <a:prstDash val="solid"/>
          </a:ln>
        </p:spPr>
      </p:sp>
      <p:sp>
        <p:nvSpPr>
          <p:cNvPr id="4" name="Text 2"/>
          <p:cNvSpPr/>
          <p:nvPr/>
        </p:nvSpPr>
        <p:spPr>
          <a:xfrm>
            <a:off x="1600200" y="1115568"/>
            <a:ext cx="9784080" cy="228600"/>
          </a:xfrm>
          <a:prstGeom prst="rect">
            <a:avLst/>
          </a:prstGeom>
          <a:noFill/>
          <a:ln/>
        </p:spPr>
        <p:txBody>
          <a:bodyPr wrap="square" lIns="0" tIns="0" rIns="0" bIns="0" rtlCol="0" anchor="ctr">
            <a:normAutofit/>
          </a:bodyPr>
          <a:lstStyle/>
          <a:p>
            <a:pPr indent="0" marL="0">
              <a:buNone/>
            </a:pPr>
            <a:r>
              <a:rPr lang="en-US" sz="1050" dirty="0">
                <a:solidFill>
                  <a:srgbClr val="5F7280"/>
                </a:solidFill>
                <a:latin typeface="Aptos" pitchFamily="34" charset="0"/>
                <a:ea typeface="Aptos" pitchFamily="34" charset="-122"/>
                <a:cs typeface="Aptos" pitchFamily="34" charset="-120"/>
              </a:rPr>
              <a:t>Perception is only the first layer; continuity, context and evidence create operational value</a:t>
            </a:r>
            <a:endParaRPr lang="en-US" sz="1050" dirty="0"/>
          </a:p>
        </p:txBody>
      </p:sp>
      <p:sp>
        <p:nvSpPr>
          <p:cNvPr id="5" name="Shape 3"/>
          <p:cNvSpPr/>
          <p:nvPr/>
        </p:nvSpPr>
        <p:spPr>
          <a:xfrm>
            <a:off x="502920" y="1920240"/>
            <a:ext cx="1965960" cy="2487168"/>
          </a:xfrm>
          <a:prstGeom prst="roundRect">
            <a:avLst>
              <a:gd name="adj" fmla="val 3721"/>
            </a:avLst>
          </a:prstGeom>
          <a:solidFill>
            <a:srgbClr val="FFFFFF"/>
          </a:solidFill>
          <a:ln w="17780">
            <a:solidFill>
              <a:srgbClr val="3F7CAC"/>
            </a:solidFill>
            <a:prstDash val="solid"/>
          </a:ln>
          <a:effectLst>
            <a:outerShdw sx="100000" sy="100000" kx="0" ky="0" algn="bl" rotWithShape="0" blurRad="12700" dist="50800" dir="2700000">
              <a:srgbClr val="AAB7C0">
                <a:alpha val="12000"/>
              </a:srgbClr>
            </a:outerShdw>
          </a:effectLst>
        </p:spPr>
      </p:sp>
      <p:sp>
        <p:nvSpPr>
          <p:cNvPr id="6" name="Shape 4"/>
          <p:cNvSpPr/>
          <p:nvPr/>
        </p:nvSpPr>
        <p:spPr>
          <a:xfrm>
            <a:off x="1175004" y="2212848"/>
            <a:ext cx="621792" cy="621792"/>
          </a:xfrm>
          <a:prstGeom prst="ellipse">
            <a:avLst/>
          </a:prstGeom>
          <a:solidFill>
            <a:srgbClr val="3F7CAC"/>
          </a:solidFill>
          <a:ln w="12700">
            <a:solidFill>
              <a:srgbClr val="3F7CAC"/>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321308" y="2359152"/>
            <a:ext cx="329184" cy="329184"/>
          </a:xfrm>
          <a:prstGeom prst="rect">
            <a:avLst/>
          </a:prstGeom>
        </p:spPr>
      </p:pic>
      <p:sp>
        <p:nvSpPr>
          <p:cNvPr id="8" name="Text 5"/>
          <p:cNvSpPr/>
          <p:nvPr/>
        </p:nvSpPr>
        <p:spPr>
          <a:xfrm>
            <a:off x="640080" y="2990088"/>
            <a:ext cx="1691640" cy="274320"/>
          </a:xfrm>
          <a:prstGeom prst="rect">
            <a:avLst/>
          </a:prstGeom>
          <a:noFill/>
          <a:ln/>
        </p:spPr>
        <p:txBody>
          <a:bodyPr wrap="square" lIns="0" tIns="0" rIns="0" bIns="0" rtlCol="0" anchor="ctr">
            <a:normAutofit/>
          </a:bodyPr>
          <a:lstStyle/>
          <a:p>
            <a:pPr algn="ctr" indent="0" marL="0">
              <a:buNone/>
            </a:pPr>
            <a:r>
              <a:rPr lang="en-US" sz="1100" b="1" dirty="0">
                <a:solidFill>
                  <a:srgbClr val="3F7CAC"/>
                </a:solidFill>
              </a:rPr>
              <a:t>1. INPUT</a:t>
            </a:r>
            <a:endParaRPr lang="en-US" sz="1100" dirty="0"/>
          </a:p>
        </p:txBody>
      </p:sp>
      <p:sp>
        <p:nvSpPr>
          <p:cNvPr id="9" name="Text 6"/>
          <p:cNvSpPr/>
          <p:nvPr/>
        </p:nvSpPr>
        <p:spPr>
          <a:xfrm>
            <a:off x="667512" y="3456432"/>
            <a:ext cx="1636776" cy="621792"/>
          </a:xfrm>
          <a:prstGeom prst="rect">
            <a:avLst/>
          </a:prstGeom>
          <a:noFill/>
          <a:ln/>
        </p:spPr>
        <p:txBody>
          <a:bodyPr wrap="square" lIns="127" tIns="127" rIns="127" bIns="127" rtlCol="0" anchor="ctr">
            <a:normAutofit/>
          </a:bodyPr>
          <a:lstStyle/>
          <a:p>
            <a:pPr algn="ctr" indent="0" marL="0">
              <a:buNone/>
            </a:pPr>
            <a:r>
              <a:rPr lang="en-US" sz="1080" b="1" dirty="0">
                <a:solidFill>
                  <a:srgbClr val="17313E"/>
                </a:solidFill>
              </a:rPr>
              <a:t>RGB/EO + Thermal</a:t>
            </a:r>
            <a:endParaRPr lang="en-US" sz="1080" dirty="0"/>
          </a:p>
          <a:p>
            <a:pPr algn="ctr" indent="0" marL="0">
              <a:buNone/>
            </a:pPr>
            <a:r>
              <a:rPr lang="en-US" sz="1080" b="1" dirty="0">
                <a:solidFill>
                  <a:srgbClr val="17313E"/>
                </a:solidFill>
              </a:rPr>
              <a:t>Telemetry + Mission</a:t>
            </a:r>
            <a:endParaRPr lang="en-US" sz="1080" dirty="0"/>
          </a:p>
        </p:txBody>
      </p:sp>
      <p:sp>
        <p:nvSpPr>
          <p:cNvPr id="10" name="Shape 7"/>
          <p:cNvSpPr/>
          <p:nvPr/>
        </p:nvSpPr>
        <p:spPr>
          <a:xfrm>
            <a:off x="2468880" y="3163824"/>
            <a:ext cx="164592" cy="0"/>
          </a:xfrm>
          <a:prstGeom prst="line">
            <a:avLst/>
          </a:prstGeom>
          <a:noFill/>
          <a:ln w="20320">
            <a:solidFill>
              <a:srgbClr val="8BA9B7"/>
            </a:solidFill>
            <a:prstDash val="solid"/>
            <a:headEnd type="none"/>
            <a:tailEnd type="triangle"/>
          </a:ln>
        </p:spPr>
      </p:sp>
      <p:sp>
        <p:nvSpPr>
          <p:cNvPr id="11" name="Shape 8"/>
          <p:cNvSpPr/>
          <p:nvPr/>
        </p:nvSpPr>
        <p:spPr>
          <a:xfrm>
            <a:off x="2633472" y="1920240"/>
            <a:ext cx="1965960" cy="2487168"/>
          </a:xfrm>
          <a:prstGeom prst="roundRect">
            <a:avLst>
              <a:gd name="adj" fmla="val 3721"/>
            </a:avLst>
          </a:prstGeom>
          <a:solidFill>
            <a:srgbClr val="FFFFFF"/>
          </a:solidFill>
          <a:ln w="17780">
            <a:solidFill>
              <a:srgbClr val="2A9D8F"/>
            </a:solidFill>
            <a:prstDash val="solid"/>
          </a:ln>
          <a:effectLst>
            <a:outerShdw sx="100000" sy="100000" kx="0" ky="0" algn="bl" rotWithShape="0" blurRad="12700" dist="50800" dir="2700000">
              <a:srgbClr val="AAB7C0">
                <a:alpha val="12000"/>
              </a:srgbClr>
            </a:outerShdw>
          </a:effectLst>
        </p:spPr>
      </p:sp>
      <p:sp>
        <p:nvSpPr>
          <p:cNvPr id="12" name="Shape 9"/>
          <p:cNvSpPr/>
          <p:nvPr/>
        </p:nvSpPr>
        <p:spPr>
          <a:xfrm>
            <a:off x="3305556" y="2212848"/>
            <a:ext cx="621792" cy="621792"/>
          </a:xfrm>
          <a:prstGeom prst="ellipse">
            <a:avLst/>
          </a:prstGeom>
          <a:solidFill>
            <a:srgbClr val="2A9D8F"/>
          </a:solidFill>
          <a:ln w="12700">
            <a:solidFill>
              <a:srgbClr val="2A9D8F"/>
            </a:solidFill>
            <a:prstDash val="solid"/>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51860" y="2359152"/>
            <a:ext cx="329184" cy="329184"/>
          </a:xfrm>
          <a:prstGeom prst="rect">
            <a:avLst/>
          </a:prstGeom>
        </p:spPr>
      </p:pic>
      <p:sp>
        <p:nvSpPr>
          <p:cNvPr id="14" name="Text 10"/>
          <p:cNvSpPr/>
          <p:nvPr/>
        </p:nvSpPr>
        <p:spPr>
          <a:xfrm>
            <a:off x="2770632" y="2990088"/>
            <a:ext cx="1691640" cy="274320"/>
          </a:xfrm>
          <a:prstGeom prst="rect">
            <a:avLst/>
          </a:prstGeom>
          <a:noFill/>
          <a:ln/>
        </p:spPr>
        <p:txBody>
          <a:bodyPr wrap="square" lIns="0" tIns="0" rIns="0" bIns="0" rtlCol="0" anchor="ctr">
            <a:normAutofit/>
          </a:bodyPr>
          <a:lstStyle/>
          <a:p>
            <a:pPr algn="ctr" indent="0" marL="0">
              <a:buNone/>
            </a:pPr>
            <a:r>
              <a:rPr lang="en-US" sz="1100" b="1" dirty="0">
                <a:solidFill>
                  <a:srgbClr val="2A9D8F"/>
                </a:solidFill>
              </a:rPr>
              <a:t>2. EFFICIENT PERCEPTION</a:t>
            </a:r>
            <a:endParaRPr lang="en-US" sz="1100" dirty="0"/>
          </a:p>
        </p:txBody>
      </p:sp>
      <p:sp>
        <p:nvSpPr>
          <p:cNvPr id="15" name="Text 11"/>
          <p:cNvSpPr/>
          <p:nvPr/>
        </p:nvSpPr>
        <p:spPr>
          <a:xfrm>
            <a:off x="2798064" y="3456432"/>
            <a:ext cx="1636776" cy="621792"/>
          </a:xfrm>
          <a:prstGeom prst="rect">
            <a:avLst/>
          </a:prstGeom>
          <a:noFill/>
          <a:ln/>
        </p:spPr>
        <p:txBody>
          <a:bodyPr wrap="square" lIns="127" tIns="127" rIns="127" bIns="127" rtlCol="0" anchor="ctr">
            <a:normAutofit/>
          </a:bodyPr>
          <a:lstStyle/>
          <a:p>
            <a:pPr algn="ctr" indent="0" marL="0">
              <a:buNone/>
            </a:pPr>
            <a:r>
              <a:rPr lang="en-US" sz="1080" b="1" dirty="0">
                <a:solidFill>
                  <a:srgbClr val="17313E"/>
                </a:solidFill>
              </a:rPr>
              <a:t>Cognitive Frame Selection</a:t>
            </a:r>
            <a:endParaRPr lang="en-US" sz="1080" dirty="0"/>
          </a:p>
          <a:p>
            <a:pPr algn="ctr" indent="0" marL="0">
              <a:buNone/>
            </a:pPr>
            <a:r>
              <a:rPr lang="en-US" sz="1080" b="1" dirty="0">
                <a:solidFill>
                  <a:srgbClr val="17313E"/>
                </a:solidFill>
              </a:rPr>
              <a:t>Detection + Tracking</a:t>
            </a:r>
            <a:endParaRPr lang="en-US" sz="1080" dirty="0"/>
          </a:p>
        </p:txBody>
      </p:sp>
      <p:sp>
        <p:nvSpPr>
          <p:cNvPr id="16" name="Shape 12"/>
          <p:cNvSpPr/>
          <p:nvPr/>
        </p:nvSpPr>
        <p:spPr>
          <a:xfrm>
            <a:off x="4599432" y="3163824"/>
            <a:ext cx="164592" cy="0"/>
          </a:xfrm>
          <a:prstGeom prst="line">
            <a:avLst/>
          </a:prstGeom>
          <a:noFill/>
          <a:ln w="20320">
            <a:solidFill>
              <a:srgbClr val="8BA9B7"/>
            </a:solidFill>
            <a:prstDash val="solid"/>
            <a:headEnd type="none"/>
            <a:tailEnd type="triangle"/>
          </a:ln>
        </p:spPr>
      </p:sp>
      <p:sp>
        <p:nvSpPr>
          <p:cNvPr id="17" name="Shape 13"/>
          <p:cNvSpPr/>
          <p:nvPr/>
        </p:nvSpPr>
        <p:spPr>
          <a:xfrm>
            <a:off x="4764024" y="1920240"/>
            <a:ext cx="1965960" cy="2487168"/>
          </a:xfrm>
          <a:prstGeom prst="roundRect">
            <a:avLst>
              <a:gd name="adj" fmla="val 3721"/>
            </a:avLst>
          </a:prstGeom>
          <a:solidFill>
            <a:srgbClr val="FFFFFF"/>
          </a:solidFill>
          <a:ln w="17780">
            <a:solidFill>
              <a:srgbClr val="0F6B6F"/>
            </a:solidFill>
            <a:prstDash val="solid"/>
          </a:ln>
          <a:effectLst>
            <a:outerShdw sx="100000" sy="100000" kx="0" ky="0" algn="bl" rotWithShape="0" blurRad="12700" dist="50800" dir="2700000">
              <a:srgbClr val="AAB7C0">
                <a:alpha val="12000"/>
              </a:srgbClr>
            </a:outerShdw>
          </a:effectLst>
        </p:spPr>
      </p:sp>
      <p:sp>
        <p:nvSpPr>
          <p:cNvPr id="18" name="Shape 14"/>
          <p:cNvSpPr/>
          <p:nvPr/>
        </p:nvSpPr>
        <p:spPr>
          <a:xfrm>
            <a:off x="5436108" y="2212848"/>
            <a:ext cx="621792" cy="621792"/>
          </a:xfrm>
          <a:prstGeom prst="ellipse">
            <a:avLst/>
          </a:prstGeom>
          <a:solidFill>
            <a:srgbClr val="0F6B6F"/>
          </a:solidFill>
          <a:ln w="12700">
            <a:solidFill>
              <a:srgbClr val="0F6B6F"/>
            </a:solidFill>
            <a:prstDash val="solid"/>
          </a:ln>
        </p:spPr>
      </p:sp>
      <p:pic>
        <p:nvPicPr>
          <p:cNvPr id="1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2412" y="2359152"/>
            <a:ext cx="329184" cy="329184"/>
          </a:xfrm>
          <a:prstGeom prst="rect">
            <a:avLst/>
          </a:prstGeom>
        </p:spPr>
      </p:pic>
      <p:sp>
        <p:nvSpPr>
          <p:cNvPr id="20" name="Text 15"/>
          <p:cNvSpPr/>
          <p:nvPr/>
        </p:nvSpPr>
        <p:spPr>
          <a:xfrm>
            <a:off x="4901184" y="2990088"/>
            <a:ext cx="1691640" cy="274320"/>
          </a:xfrm>
          <a:prstGeom prst="rect">
            <a:avLst/>
          </a:prstGeom>
          <a:noFill/>
          <a:ln/>
        </p:spPr>
        <p:txBody>
          <a:bodyPr wrap="square" lIns="0" tIns="0" rIns="0" bIns="0" rtlCol="0" anchor="ctr">
            <a:normAutofit/>
          </a:bodyPr>
          <a:lstStyle/>
          <a:p>
            <a:pPr algn="ctr" indent="0" marL="0">
              <a:buNone/>
            </a:pPr>
            <a:r>
              <a:rPr lang="en-US" sz="1100" b="1" dirty="0">
                <a:solidFill>
                  <a:srgbClr val="0F6B6F"/>
                </a:solidFill>
              </a:rPr>
              <a:t>3. PERSISTENCE</a:t>
            </a:r>
            <a:endParaRPr lang="en-US" sz="1100" dirty="0"/>
          </a:p>
        </p:txBody>
      </p:sp>
      <p:sp>
        <p:nvSpPr>
          <p:cNvPr id="21" name="Text 16"/>
          <p:cNvSpPr/>
          <p:nvPr/>
        </p:nvSpPr>
        <p:spPr>
          <a:xfrm>
            <a:off x="4928616" y="3456432"/>
            <a:ext cx="1636776" cy="621792"/>
          </a:xfrm>
          <a:prstGeom prst="rect">
            <a:avLst/>
          </a:prstGeom>
          <a:noFill/>
          <a:ln/>
        </p:spPr>
        <p:txBody>
          <a:bodyPr wrap="square" lIns="127" tIns="127" rIns="127" bIns="127" rtlCol="0" anchor="ctr">
            <a:normAutofit/>
          </a:bodyPr>
          <a:lstStyle/>
          <a:p>
            <a:pPr algn="ctr" indent="0" marL="0">
              <a:buNone/>
            </a:pPr>
            <a:r>
              <a:rPr lang="en-US" sz="1080" b="1" dirty="0">
                <a:solidFill>
                  <a:srgbClr val="17313E"/>
                </a:solidFill>
              </a:rPr>
              <a:t>Persistent Coastal Contact</a:t>
            </a:r>
            <a:endParaRPr lang="en-US" sz="1080" dirty="0"/>
          </a:p>
          <a:p>
            <a:pPr algn="ctr" indent="0" marL="0">
              <a:buNone/>
            </a:pPr>
            <a:r>
              <a:rPr lang="en-US" sz="1080" b="1" dirty="0">
                <a:solidFill>
                  <a:srgbClr val="17313E"/>
                </a:solidFill>
              </a:rPr>
              <a:t>Movement + Evidence</a:t>
            </a:r>
            <a:endParaRPr lang="en-US" sz="1080" dirty="0"/>
          </a:p>
        </p:txBody>
      </p:sp>
      <p:sp>
        <p:nvSpPr>
          <p:cNvPr id="22" name="Shape 17"/>
          <p:cNvSpPr/>
          <p:nvPr/>
        </p:nvSpPr>
        <p:spPr>
          <a:xfrm>
            <a:off x="6729984" y="3163824"/>
            <a:ext cx="164592" cy="0"/>
          </a:xfrm>
          <a:prstGeom prst="line">
            <a:avLst/>
          </a:prstGeom>
          <a:noFill/>
          <a:ln w="20320">
            <a:solidFill>
              <a:srgbClr val="8BA9B7"/>
            </a:solidFill>
            <a:prstDash val="solid"/>
            <a:headEnd type="none"/>
            <a:tailEnd type="triangle"/>
          </a:ln>
        </p:spPr>
      </p:sp>
      <p:sp>
        <p:nvSpPr>
          <p:cNvPr id="23" name="Shape 18"/>
          <p:cNvSpPr/>
          <p:nvPr/>
        </p:nvSpPr>
        <p:spPr>
          <a:xfrm>
            <a:off x="6894576" y="1920240"/>
            <a:ext cx="1965960" cy="2487168"/>
          </a:xfrm>
          <a:prstGeom prst="roundRect">
            <a:avLst>
              <a:gd name="adj" fmla="val 3721"/>
            </a:avLst>
          </a:prstGeom>
          <a:solidFill>
            <a:srgbClr val="FFFFFF"/>
          </a:solidFill>
          <a:ln w="17780">
            <a:solidFill>
              <a:srgbClr val="E69A45"/>
            </a:solidFill>
            <a:prstDash val="solid"/>
          </a:ln>
          <a:effectLst>
            <a:outerShdw sx="100000" sy="100000" kx="0" ky="0" algn="bl" rotWithShape="0" blurRad="12700" dist="50800" dir="2700000">
              <a:srgbClr val="AAB7C0">
                <a:alpha val="12000"/>
              </a:srgbClr>
            </a:outerShdw>
          </a:effectLst>
        </p:spPr>
      </p:sp>
      <p:sp>
        <p:nvSpPr>
          <p:cNvPr id="24" name="Shape 19"/>
          <p:cNvSpPr/>
          <p:nvPr/>
        </p:nvSpPr>
        <p:spPr>
          <a:xfrm>
            <a:off x="7566660" y="2212848"/>
            <a:ext cx="621792" cy="621792"/>
          </a:xfrm>
          <a:prstGeom prst="ellipse">
            <a:avLst/>
          </a:prstGeom>
          <a:solidFill>
            <a:srgbClr val="E69A45"/>
          </a:solidFill>
          <a:ln w="12700">
            <a:solidFill>
              <a:srgbClr val="E69A45"/>
            </a:solidFill>
            <a:prstDash val="solid"/>
          </a:ln>
        </p:spPr>
      </p:sp>
      <p:pic>
        <p:nvPicPr>
          <p:cNvPr id="2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12964" y="2359152"/>
            <a:ext cx="329184" cy="329184"/>
          </a:xfrm>
          <a:prstGeom prst="rect">
            <a:avLst/>
          </a:prstGeom>
        </p:spPr>
      </p:pic>
      <p:sp>
        <p:nvSpPr>
          <p:cNvPr id="26" name="Text 20"/>
          <p:cNvSpPr/>
          <p:nvPr/>
        </p:nvSpPr>
        <p:spPr>
          <a:xfrm>
            <a:off x="7031736" y="2990088"/>
            <a:ext cx="1691640" cy="274320"/>
          </a:xfrm>
          <a:prstGeom prst="rect">
            <a:avLst/>
          </a:prstGeom>
          <a:noFill/>
          <a:ln/>
        </p:spPr>
        <p:txBody>
          <a:bodyPr wrap="square" lIns="0" tIns="0" rIns="0" bIns="0" rtlCol="0" anchor="ctr">
            <a:normAutofit/>
          </a:bodyPr>
          <a:lstStyle/>
          <a:p>
            <a:pPr algn="ctr" indent="0" marL="0">
              <a:buNone/>
            </a:pPr>
            <a:r>
              <a:rPr lang="en-US" sz="1100" b="1" dirty="0">
                <a:solidFill>
                  <a:srgbClr val="E69A45"/>
                </a:solidFill>
              </a:rPr>
              <a:t>4. CONTEXT + BEHAVIOUR</a:t>
            </a:r>
            <a:endParaRPr lang="en-US" sz="1100" dirty="0"/>
          </a:p>
        </p:txBody>
      </p:sp>
      <p:sp>
        <p:nvSpPr>
          <p:cNvPr id="27" name="Text 21"/>
          <p:cNvSpPr/>
          <p:nvPr/>
        </p:nvSpPr>
        <p:spPr>
          <a:xfrm>
            <a:off x="7059168" y="3456432"/>
            <a:ext cx="1636776" cy="621792"/>
          </a:xfrm>
          <a:prstGeom prst="rect">
            <a:avLst/>
          </a:prstGeom>
          <a:noFill/>
          <a:ln/>
        </p:spPr>
        <p:txBody>
          <a:bodyPr wrap="square" lIns="127" tIns="127" rIns="127" bIns="127" rtlCol="0" anchor="ctr">
            <a:normAutofit/>
          </a:bodyPr>
          <a:lstStyle/>
          <a:p>
            <a:pPr algn="ctr" indent="0" marL="0">
              <a:buNone/>
            </a:pPr>
            <a:r>
              <a:rPr lang="en-US" sz="1080" b="1" dirty="0">
                <a:solidFill>
                  <a:srgbClr val="17313E"/>
                </a:solidFill>
              </a:rPr>
              <a:t>Kerala Context</a:t>
            </a:r>
            <a:endParaRPr lang="en-US" sz="1080" dirty="0"/>
          </a:p>
          <a:p>
            <a:pPr algn="ctr" indent="0" marL="0">
              <a:buNone/>
            </a:pPr>
            <a:r>
              <a:rPr lang="en-US" sz="1080" b="1" dirty="0">
                <a:solidFill>
                  <a:srgbClr val="17313E"/>
                </a:solidFill>
              </a:rPr>
              <a:t>Temporal + Cross-Contact</a:t>
            </a:r>
            <a:endParaRPr lang="en-US" sz="1080" dirty="0"/>
          </a:p>
        </p:txBody>
      </p:sp>
      <p:sp>
        <p:nvSpPr>
          <p:cNvPr id="28" name="Shape 22"/>
          <p:cNvSpPr/>
          <p:nvPr/>
        </p:nvSpPr>
        <p:spPr>
          <a:xfrm>
            <a:off x="8860536" y="3163824"/>
            <a:ext cx="164592" cy="0"/>
          </a:xfrm>
          <a:prstGeom prst="line">
            <a:avLst/>
          </a:prstGeom>
          <a:noFill/>
          <a:ln w="20320">
            <a:solidFill>
              <a:srgbClr val="8BA9B7"/>
            </a:solidFill>
            <a:prstDash val="solid"/>
            <a:headEnd type="none"/>
            <a:tailEnd type="triangle"/>
          </a:ln>
        </p:spPr>
      </p:sp>
      <p:sp>
        <p:nvSpPr>
          <p:cNvPr id="29" name="Shape 23"/>
          <p:cNvSpPr/>
          <p:nvPr/>
        </p:nvSpPr>
        <p:spPr>
          <a:xfrm>
            <a:off x="9025128" y="1920240"/>
            <a:ext cx="2651760" cy="2487168"/>
          </a:xfrm>
          <a:prstGeom prst="roundRect">
            <a:avLst>
              <a:gd name="adj" fmla="val 2941"/>
            </a:avLst>
          </a:prstGeom>
          <a:solidFill>
            <a:srgbClr val="FFFFFF"/>
          </a:solidFill>
          <a:ln w="17780">
            <a:solidFill>
              <a:srgbClr val="123A4A"/>
            </a:solidFill>
            <a:prstDash val="solid"/>
          </a:ln>
          <a:effectLst>
            <a:outerShdw sx="100000" sy="100000" kx="0" ky="0" algn="bl" rotWithShape="0" blurRad="12700" dist="50800" dir="2700000">
              <a:srgbClr val="AAB7C0">
                <a:alpha val="12000"/>
              </a:srgbClr>
            </a:outerShdw>
          </a:effectLst>
        </p:spPr>
      </p:sp>
      <p:sp>
        <p:nvSpPr>
          <p:cNvPr id="30" name="Shape 24"/>
          <p:cNvSpPr/>
          <p:nvPr/>
        </p:nvSpPr>
        <p:spPr>
          <a:xfrm>
            <a:off x="10040112" y="2212848"/>
            <a:ext cx="621792" cy="621792"/>
          </a:xfrm>
          <a:prstGeom prst="ellipse">
            <a:avLst/>
          </a:prstGeom>
          <a:solidFill>
            <a:srgbClr val="123A4A"/>
          </a:solidFill>
          <a:ln w="12700">
            <a:solidFill>
              <a:srgbClr val="123A4A"/>
            </a:solidFill>
            <a:prstDash val="solid"/>
          </a:ln>
        </p:spPr>
      </p:sp>
      <p:pic>
        <p:nvPicPr>
          <p:cNvPr id="3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86416" y="2359152"/>
            <a:ext cx="329184" cy="329184"/>
          </a:xfrm>
          <a:prstGeom prst="rect">
            <a:avLst/>
          </a:prstGeom>
        </p:spPr>
      </p:pic>
      <p:sp>
        <p:nvSpPr>
          <p:cNvPr id="32" name="Text 25"/>
          <p:cNvSpPr/>
          <p:nvPr/>
        </p:nvSpPr>
        <p:spPr>
          <a:xfrm>
            <a:off x="9162288" y="2990088"/>
            <a:ext cx="2377440" cy="274320"/>
          </a:xfrm>
          <a:prstGeom prst="rect">
            <a:avLst/>
          </a:prstGeom>
          <a:noFill/>
          <a:ln/>
        </p:spPr>
        <p:txBody>
          <a:bodyPr wrap="square" lIns="0" tIns="0" rIns="0" bIns="0" rtlCol="0" anchor="ctr">
            <a:normAutofit/>
          </a:bodyPr>
          <a:lstStyle/>
          <a:p>
            <a:pPr algn="ctr" indent="0" marL="0">
              <a:buNone/>
            </a:pPr>
            <a:r>
              <a:rPr lang="en-US" sz="1100" b="1" dirty="0">
                <a:solidFill>
                  <a:srgbClr val="123A4A"/>
                </a:solidFill>
              </a:rPr>
              <a:t>5. ALERT + EVIDENCE</a:t>
            </a:r>
            <a:endParaRPr lang="en-US" sz="1100" dirty="0"/>
          </a:p>
        </p:txBody>
      </p:sp>
      <p:sp>
        <p:nvSpPr>
          <p:cNvPr id="33" name="Text 26"/>
          <p:cNvSpPr/>
          <p:nvPr/>
        </p:nvSpPr>
        <p:spPr>
          <a:xfrm>
            <a:off x="9189720" y="3456432"/>
            <a:ext cx="2322576" cy="621792"/>
          </a:xfrm>
          <a:prstGeom prst="rect">
            <a:avLst/>
          </a:prstGeom>
          <a:noFill/>
          <a:ln/>
        </p:spPr>
        <p:txBody>
          <a:bodyPr wrap="square" lIns="127" tIns="127" rIns="127" bIns="127" rtlCol="0" anchor="ctr">
            <a:normAutofit/>
          </a:bodyPr>
          <a:lstStyle/>
          <a:p>
            <a:pPr algn="ctr" indent="0" marL="0">
              <a:buNone/>
            </a:pPr>
            <a:r>
              <a:rPr lang="en-US" sz="1080" b="1" dirty="0">
                <a:solidFill>
                  <a:srgbClr val="17313E"/>
                </a:solidFill>
              </a:rPr>
              <a:t>Operational Attention</a:t>
            </a:r>
            <a:endParaRPr lang="en-US" sz="1080" dirty="0"/>
          </a:p>
          <a:p>
            <a:pPr algn="ctr" indent="0" marL="0">
              <a:buNone/>
            </a:pPr>
            <a:r>
              <a:rPr lang="en-US" sz="1080" b="1" dirty="0">
                <a:solidFill>
                  <a:srgbClr val="17313E"/>
                </a:solidFill>
              </a:rPr>
              <a:t>CKFE + GIS Alert + Police Review</a:t>
            </a:r>
            <a:endParaRPr lang="en-US" sz="1080" dirty="0"/>
          </a:p>
        </p:txBody>
      </p:sp>
      <p:sp>
        <p:nvSpPr>
          <p:cNvPr id="34" name="Shape 27"/>
          <p:cNvSpPr/>
          <p:nvPr/>
        </p:nvSpPr>
        <p:spPr>
          <a:xfrm>
            <a:off x="4160520" y="4791456"/>
            <a:ext cx="3840480" cy="310896"/>
          </a:xfrm>
          <a:prstGeom prst="roundRect">
            <a:avLst>
              <a:gd name="adj" fmla="val 23529"/>
            </a:avLst>
          </a:prstGeom>
          <a:solidFill>
            <a:srgbClr val="EEF5F8"/>
          </a:solidFill>
          <a:ln w="12700">
            <a:solidFill>
              <a:srgbClr val="EEF5F8"/>
            </a:solidFill>
            <a:prstDash val="solid"/>
          </a:ln>
        </p:spPr>
      </p:sp>
      <p:sp>
        <p:nvSpPr>
          <p:cNvPr id="35" name="Text 28"/>
          <p:cNvSpPr/>
          <p:nvPr/>
        </p:nvSpPr>
        <p:spPr>
          <a:xfrm>
            <a:off x="4233672" y="4846320"/>
            <a:ext cx="3694176" cy="164592"/>
          </a:xfrm>
          <a:prstGeom prst="rect">
            <a:avLst/>
          </a:prstGeom>
          <a:noFill/>
          <a:ln/>
        </p:spPr>
        <p:txBody>
          <a:bodyPr wrap="square" lIns="0" tIns="0" rIns="0" bIns="0" rtlCol="0" anchor="ctr">
            <a:normAutofit/>
          </a:bodyPr>
          <a:lstStyle/>
          <a:p>
            <a:pPr algn="ctr" indent="0" marL="0">
              <a:buNone/>
            </a:pPr>
            <a:r>
              <a:rPr lang="en-US" sz="900" b="1" dirty="0">
                <a:solidFill>
                  <a:srgbClr val="0B1F33"/>
                </a:solidFill>
              </a:rPr>
              <a:t>Human Police Interpretation remains final</a:t>
            </a:r>
            <a:endParaRPr lang="en-US" sz="900" dirty="0"/>
          </a:p>
        </p:txBody>
      </p:sp>
      <p:sp>
        <p:nvSpPr>
          <p:cNvPr id="36" name="Text 29"/>
          <p:cNvSpPr/>
          <p:nvPr/>
        </p:nvSpPr>
        <p:spPr>
          <a:xfrm>
            <a:off x="2816352" y="5340096"/>
            <a:ext cx="6583680" cy="320040"/>
          </a:xfrm>
          <a:prstGeom prst="rect">
            <a:avLst/>
          </a:prstGeom>
          <a:noFill/>
          <a:ln/>
        </p:spPr>
        <p:txBody>
          <a:bodyPr wrap="square" lIns="0" tIns="0" rIns="0" bIns="0" rtlCol="0" anchor="ctr"/>
          <a:lstStyle/>
          <a:p>
            <a:pPr algn="ctr" indent="0" marL="0">
              <a:buNone/>
            </a:pPr>
            <a:r>
              <a:rPr lang="en-US" sz="1150" dirty="0">
                <a:solidFill>
                  <a:srgbClr val="5F7280"/>
                </a:solidFill>
              </a:rPr>
              <a:t>CFS = compute optimization  •  CKFE = concise evidentiary keyframes</a:t>
            </a:r>
            <a:endParaRPr lang="en-US" sz="1150" dirty="0"/>
          </a:p>
        </p:txBody>
      </p:sp>
      <p:sp>
        <p:nvSpPr>
          <p:cNvPr id="25" name="Slide Number Placeholder 0"/>
          <p:cNvSpPr>
            <a:spLocks noGrp="1"/>
          </p:cNvSpPr>
          <p:nvPr>
            <p:ph type="sldNum" sz="quarter" idx="4294967295"/>
          </p:nvPr>
        </p:nvSpPr>
        <p:spPr>
          <a:xfrm>
            <a:off x="11631168" y="6547104"/>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B7D89"/>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731520" y="731520"/>
            <a:ext cx="10744200"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Aptos Display" pitchFamily="34" charset="0"/>
                <a:ea typeface="Aptos Display" pitchFamily="34" charset="-122"/>
                <a:cs typeface="Aptos Display" pitchFamily="34" charset="-120"/>
              </a:rPr>
              <a:t>LIVE MVP DEMONSTRATION</a:t>
            </a:r>
            <a:endParaRPr lang="en-US" sz="3000" dirty="0"/>
          </a:p>
        </p:txBody>
      </p:sp>
      <p:sp>
        <p:nvSpPr>
          <p:cNvPr id="3" name="Text 1"/>
          <p:cNvSpPr/>
          <p:nvPr/>
        </p:nvSpPr>
        <p:spPr>
          <a:xfrm>
            <a:off x="1828800" y="1389888"/>
            <a:ext cx="8503920" cy="320040"/>
          </a:xfrm>
          <a:prstGeom prst="rect">
            <a:avLst/>
          </a:prstGeom>
          <a:noFill/>
          <a:ln/>
        </p:spPr>
        <p:txBody>
          <a:bodyPr wrap="square" lIns="0" tIns="0" rIns="0" bIns="0" rtlCol="0" anchor="ctr"/>
          <a:lstStyle/>
          <a:p>
            <a:pPr algn="ctr" indent="0" marL="0">
              <a:buNone/>
            </a:pPr>
            <a:r>
              <a:rPr lang="en-US" sz="1400" dirty="0">
                <a:solidFill>
                  <a:srgbClr val="BFD6E6"/>
                </a:solidFill>
              </a:rPr>
              <a:t>Show one coherent operational story — not a checklist of features</a:t>
            </a:r>
            <a:endParaRPr lang="en-US" sz="1400" dirty="0"/>
          </a:p>
        </p:txBody>
      </p:sp>
      <p:sp>
        <p:nvSpPr>
          <p:cNvPr id="4" name="Shape 2"/>
          <p:cNvSpPr/>
          <p:nvPr/>
        </p:nvSpPr>
        <p:spPr>
          <a:xfrm>
            <a:off x="1600200" y="2057400"/>
            <a:ext cx="9006840" cy="2029968"/>
          </a:xfrm>
          <a:prstGeom prst="roundRect">
            <a:avLst>
              <a:gd name="adj" fmla="val 4505"/>
            </a:avLst>
          </a:prstGeom>
          <a:solidFill>
            <a:srgbClr val="102F3F"/>
          </a:solidFill>
          <a:ln w="17780">
            <a:solidFill>
              <a:srgbClr val="2C6177"/>
            </a:solidFill>
            <a:prstDash val="solid"/>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40680" y="2441448"/>
            <a:ext cx="1097280" cy="1097280"/>
          </a:xfrm>
          <a:prstGeom prst="rect">
            <a:avLst/>
          </a:prstGeom>
        </p:spPr>
      </p:pic>
      <p:sp>
        <p:nvSpPr>
          <p:cNvPr id="6" name="Text 3"/>
          <p:cNvSpPr/>
          <p:nvPr/>
        </p:nvSpPr>
        <p:spPr>
          <a:xfrm>
            <a:off x="3749040" y="3593592"/>
            <a:ext cx="4754880" cy="320040"/>
          </a:xfrm>
          <a:prstGeom prst="rect">
            <a:avLst/>
          </a:prstGeom>
          <a:noFill/>
          <a:ln/>
        </p:spPr>
        <p:txBody>
          <a:bodyPr wrap="square" lIns="0" tIns="0" rIns="0" bIns="0" rtlCol="0" anchor="ctr"/>
          <a:lstStyle/>
          <a:p>
            <a:pPr algn="ctr" indent="0" marL="0">
              <a:buNone/>
            </a:pPr>
            <a:r>
              <a:rPr lang="en-US" sz="1800" b="1" dirty="0">
                <a:solidFill>
                  <a:srgbClr val="FFFFFF"/>
                </a:solidFill>
              </a:rPr>
              <a:t>Switch to the working MVP</a:t>
            </a:r>
            <a:endParaRPr lang="en-US" sz="1800" dirty="0"/>
          </a:p>
        </p:txBody>
      </p:sp>
      <p:sp>
        <p:nvSpPr>
          <p:cNvPr id="7" name="Shape 4"/>
          <p:cNvSpPr/>
          <p:nvPr/>
        </p:nvSpPr>
        <p:spPr>
          <a:xfrm>
            <a:off x="822960" y="4828032"/>
            <a:ext cx="1874520" cy="713232"/>
          </a:xfrm>
          <a:prstGeom prst="roundRect">
            <a:avLst>
              <a:gd name="adj" fmla="val 7692"/>
            </a:avLst>
          </a:prstGeom>
          <a:solidFill>
            <a:srgbClr val="14394B"/>
          </a:solidFill>
          <a:ln w="12700">
            <a:solidFill>
              <a:srgbClr val="2C6177"/>
            </a:solidFill>
            <a:prstDash val="solid"/>
          </a:ln>
        </p:spPr>
      </p:sp>
      <p:sp>
        <p:nvSpPr>
          <p:cNvPr id="8" name="Text 5"/>
          <p:cNvSpPr/>
          <p:nvPr/>
        </p:nvSpPr>
        <p:spPr>
          <a:xfrm>
            <a:off x="932688" y="5001768"/>
            <a:ext cx="256032" cy="210312"/>
          </a:xfrm>
          <a:prstGeom prst="rect">
            <a:avLst/>
          </a:prstGeom>
          <a:noFill/>
          <a:ln/>
        </p:spPr>
        <p:txBody>
          <a:bodyPr wrap="square" lIns="0" tIns="0" rIns="0" bIns="0" rtlCol="0" anchor="ctr"/>
          <a:lstStyle/>
          <a:p>
            <a:pPr algn="ctr" indent="0" marL="0">
              <a:buNone/>
            </a:pPr>
            <a:r>
              <a:rPr lang="en-US" sz="1100" b="1" dirty="0">
                <a:solidFill>
                  <a:srgbClr val="56C9B7"/>
                </a:solidFill>
              </a:rPr>
              <a:t>1</a:t>
            </a:r>
            <a:endParaRPr lang="en-US" sz="1100" dirty="0"/>
          </a:p>
        </p:txBody>
      </p:sp>
      <p:sp>
        <p:nvSpPr>
          <p:cNvPr id="9" name="Text 6"/>
          <p:cNvSpPr/>
          <p:nvPr/>
        </p:nvSpPr>
        <p:spPr>
          <a:xfrm>
            <a:off x="1207008" y="4937760"/>
            <a:ext cx="1353312"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rPr>
              <a:t>Video Input</a:t>
            </a:r>
            <a:endParaRPr lang="en-US" sz="1050" dirty="0"/>
          </a:p>
        </p:txBody>
      </p:sp>
      <p:sp>
        <p:nvSpPr>
          <p:cNvPr id="10" name="Shape 7"/>
          <p:cNvSpPr/>
          <p:nvPr/>
        </p:nvSpPr>
        <p:spPr>
          <a:xfrm>
            <a:off x="2697480" y="5184648"/>
            <a:ext cx="265176" cy="0"/>
          </a:xfrm>
          <a:prstGeom prst="line">
            <a:avLst/>
          </a:prstGeom>
          <a:noFill/>
          <a:ln w="15240">
            <a:solidFill>
              <a:srgbClr val="4C7F91"/>
            </a:solidFill>
            <a:prstDash val="solid"/>
            <a:headEnd type="none"/>
            <a:tailEnd type="triangle"/>
          </a:ln>
        </p:spPr>
      </p:sp>
      <p:sp>
        <p:nvSpPr>
          <p:cNvPr id="11" name="Shape 8"/>
          <p:cNvSpPr/>
          <p:nvPr/>
        </p:nvSpPr>
        <p:spPr>
          <a:xfrm>
            <a:off x="3090672" y="4828032"/>
            <a:ext cx="1874520" cy="713232"/>
          </a:xfrm>
          <a:prstGeom prst="roundRect">
            <a:avLst>
              <a:gd name="adj" fmla="val 7692"/>
            </a:avLst>
          </a:prstGeom>
          <a:solidFill>
            <a:srgbClr val="14394B"/>
          </a:solidFill>
          <a:ln w="12700">
            <a:solidFill>
              <a:srgbClr val="2C6177"/>
            </a:solidFill>
            <a:prstDash val="solid"/>
          </a:ln>
        </p:spPr>
      </p:sp>
      <p:sp>
        <p:nvSpPr>
          <p:cNvPr id="12" name="Text 9"/>
          <p:cNvSpPr/>
          <p:nvPr/>
        </p:nvSpPr>
        <p:spPr>
          <a:xfrm>
            <a:off x="3200400" y="5001768"/>
            <a:ext cx="256032" cy="210312"/>
          </a:xfrm>
          <a:prstGeom prst="rect">
            <a:avLst/>
          </a:prstGeom>
          <a:noFill/>
          <a:ln/>
        </p:spPr>
        <p:txBody>
          <a:bodyPr wrap="square" lIns="0" tIns="0" rIns="0" bIns="0" rtlCol="0" anchor="ctr"/>
          <a:lstStyle/>
          <a:p>
            <a:pPr algn="ctr" indent="0" marL="0">
              <a:buNone/>
            </a:pPr>
            <a:r>
              <a:rPr lang="en-US" sz="1100" b="1" dirty="0">
                <a:solidFill>
                  <a:srgbClr val="56C9B7"/>
                </a:solidFill>
              </a:rPr>
              <a:t>2</a:t>
            </a:r>
            <a:endParaRPr lang="en-US" sz="1100" dirty="0"/>
          </a:p>
        </p:txBody>
      </p:sp>
      <p:sp>
        <p:nvSpPr>
          <p:cNvPr id="13" name="Text 10"/>
          <p:cNvSpPr/>
          <p:nvPr/>
        </p:nvSpPr>
        <p:spPr>
          <a:xfrm>
            <a:off x="3474720" y="4937760"/>
            <a:ext cx="1353312"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rPr>
              <a:t>Detection + Tracking</a:t>
            </a:r>
            <a:endParaRPr lang="en-US" sz="1050" dirty="0"/>
          </a:p>
        </p:txBody>
      </p:sp>
      <p:sp>
        <p:nvSpPr>
          <p:cNvPr id="14" name="Shape 11"/>
          <p:cNvSpPr/>
          <p:nvPr/>
        </p:nvSpPr>
        <p:spPr>
          <a:xfrm>
            <a:off x="4965192" y="5184648"/>
            <a:ext cx="265176" cy="0"/>
          </a:xfrm>
          <a:prstGeom prst="line">
            <a:avLst/>
          </a:prstGeom>
          <a:noFill/>
          <a:ln w="15240">
            <a:solidFill>
              <a:srgbClr val="4C7F91"/>
            </a:solidFill>
            <a:prstDash val="solid"/>
            <a:headEnd type="none"/>
            <a:tailEnd type="triangle"/>
          </a:ln>
        </p:spPr>
      </p:sp>
      <p:sp>
        <p:nvSpPr>
          <p:cNvPr id="15" name="Shape 12"/>
          <p:cNvSpPr/>
          <p:nvPr/>
        </p:nvSpPr>
        <p:spPr>
          <a:xfrm>
            <a:off x="5358384" y="4828032"/>
            <a:ext cx="1874520" cy="713232"/>
          </a:xfrm>
          <a:prstGeom prst="roundRect">
            <a:avLst>
              <a:gd name="adj" fmla="val 7692"/>
            </a:avLst>
          </a:prstGeom>
          <a:solidFill>
            <a:srgbClr val="14394B"/>
          </a:solidFill>
          <a:ln w="12700">
            <a:solidFill>
              <a:srgbClr val="2C6177"/>
            </a:solidFill>
            <a:prstDash val="solid"/>
          </a:ln>
        </p:spPr>
      </p:sp>
      <p:sp>
        <p:nvSpPr>
          <p:cNvPr id="16" name="Text 13"/>
          <p:cNvSpPr/>
          <p:nvPr/>
        </p:nvSpPr>
        <p:spPr>
          <a:xfrm>
            <a:off x="5468112" y="5001768"/>
            <a:ext cx="256032" cy="210312"/>
          </a:xfrm>
          <a:prstGeom prst="rect">
            <a:avLst/>
          </a:prstGeom>
          <a:noFill/>
          <a:ln/>
        </p:spPr>
        <p:txBody>
          <a:bodyPr wrap="square" lIns="0" tIns="0" rIns="0" bIns="0" rtlCol="0" anchor="ctr"/>
          <a:lstStyle/>
          <a:p>
            <a:pPr algn="ctr" indent="0" marL="0">
              <a:buNone/>
            </a:pPr>
            <a:r>
              <a:rPr lang="en-US" sz="1100" b="1" dirty="0">
                <a:solidFill>
                  <a:srgbClr val="56C9B7"/>
                </a:solidFill>
              </a:rPr>
              <a:t>3</a:t>
            </a:r>
            <a:endParaRPr lang="en-US" sz="1100" dirty="0"/>
          </a:p>
        </p:txBody>
      </p:sp>
      <p:sp>
        <p:nvSpPr>
          <p:cNvPr id="17" name="Text 14"/>
          <p:cNvSpPr/>
          <p:nvPr/>
        </p:nvSpPr>
        <p:spPr>
          <a:xfrm>
            <a:off x="5742432" y="4937760"/>
            <a:ext cx="1353312"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rPr>
              <a:t>Zone / Behaviour</a:t>
            </a:r>
            <a:endParaRPr lang="en-US" sz="1050" dirty="0"/>
          </a:p>
        </p:txBody>
      </p:sp>
      <p:sp>
        <p:nvSpPr>
          <p:cNvPr id="18" name="Shape 15"/>
          <p:cNvSpPr/>
          <p:nvPr/>
        </p:nvSpPr>
        <p:spPr>
          <a:xfrm>
            <a:off x="7232904" y="5184648"/>
            <a:ext cx="265176" cy="0"/>
          </a:xfrm>
          <a:prstGeom prst="line">
            <a:avLst/>
          </a:prstGeom>
          <a:noFill/>
          <a:ln w="15240">
            <a:solidFill>
              <a:srgbClr val="4C7F91"/>
            </a:solidFill>
            <a:prstDash val="solid"/>
            <a:headEnd type="none"/>
            <a:tailEnd type="triangle"/>
          </a:ln>
        </p:spPr>
      </p:sp>
      <p:sp>
        <p:nvSpPr>
          <p:cNvPr id="19" name="Shape 16"/>
          <p:cNvSpPr/>
          <p:nvPr/>
        </p:nvSpPr>
        <p:spPr>
          <a:xfrm>
            <a:off x="7626096" y="4828032"/>
            <a:ext cx="1874520" cy="713232"/>
          </a:xfrm>
          <a:prstGeom prst="roundRect">
            <a:avLst>
              <a:gd name="adj" fmla="val 7692"/>
            </a:avLst>
          </a:prstGeom>
          <a:solidFill>
            <a:srgbClr val="14394B"/>
          </a:solidFill>
          <a:ln w="12700">
            <a:solidFill>
              <a:srgbClr val="2C6177"/>
            </a:solidFill>
            <a:prstDash val="solid"/>
          </a:ln>
        </p:spPr>
      </p:sp>
      <p:sp>
        <p:nvSpPr>
          <p:cNvPr id="20" name="Text 17"/>
          <p:cNvSpPr/>
          <p:nvPr/>
        </p:nvSpPr>
        <p:spPr>
          <a:xfrm>
            <a:off x="7735824" y="5001768"/>
            <a:ext cx="256032" cy="210312"/>
          </a:xfrm>
          <a:prstGeom prst="rect">
            <a:avLst/>
          </a:prstGeom>
          <a:noFill/>
          <a:ln/>
        </p:spPr>
        <p:txBody>
          <a:bodyPr wrap="square" lIns="0" tIns="0" rIns="0" bIns="0" rtlCol="0" anchor="ctr"/>
          <a:lstStyle/>
          <a:p>
            <a:pPr algn="ctr" indent="0" marL="0">
              <a:buNone/>
            </a:pPr>
            <a:r>
              <a:rPr lang="en-US" sz="1100" b="1" dirty="0">
                <a:solidFill>
                  <a:srgbClr val="56C9B7"/>
                </a:solidFill>
              </a:rPr>
              <a:t>4</a:t>
            </a:r>
            <a:endParaRPr lang="en-US" sz="1100" dirty="0"/>
          </a:p>
        </p:txBody>
      </p:sp>
      <p:sp>
        <p:nvSpPr>
          <p:cNvPr id="21" name="Text 18"/>
          <p:cNvSpPr/>
          <p:nvPr/>
        </p:nvSpPr>
        <p:spPr>
          <a:xfrm>
            <a:off x="8010144" y="4937760"/>
            <a:ext cx="1353312"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rPr>
              <a:t>Alert + Evidence</a:t>
            </a:r>
            <a:endParaRPr lang="en-US" sz="1050" dirty="0"/>
          </a:p>
        </p:txBody>
      </p:sp>
      <p:sp>
        <p:nvSpPr>
          <p:cNvPr id="22" name="Shape 19"/>
          <p:cNvSpPr/>
          <p:nvPr/>
        </p:nvSpPr>
        <p:spPr>
          <a:xfrm>
            <a:off x="9500616" y="5184648"/>
            <a:ext cx="265176" cy="0"/>
          </a:xfrm>
          <a:prstGeom prst="line">
            <a:avLst/>
          </a:prstGeom>
          <a:noFill/>
          <a:ln w="15240">
            <a:solidFill>
              <a:srgbClr val="4C7F91"/>
            </a:solidFill>
            <a:prstDash val="solid"/>
            <a:headEnd type="none"/>
            <a:tailEnd type="triangle"/>
          </a:ln>
        </p:spPr>
      </p:sp>
      <p:sp>
        <p:nvSpPr>
          <p:cNvPr id="23" name="Shape 20"/>
          <p:cNvSpPr/>
          <p:nvPr/>
        </p:nvSpPr>
        <p:spPr>
          <a:xfrm>
            <a:off x="9893808" y="4828032"/>
            <a:ext cx="1874520" cy="713232"/>
          </a:xfrm>
          <a:prstGeom prst="roundRect">
            <a:avLst>
              <a:gd name="adj" fmla="val 7692"/>
            </a:avLst>
          </a:prstGeom>
          <a:solidFill>
            <a:srgbClr val="17485E"/>
          </a:solidFill>
          <a:ln w="12700">
            <a:solidFill>
              <a:srgbClr val="2C6177"/>
            </a:solidFill>
            <a:prstDash val="solid"/>
          </a:ln>
        </p:spPr>
      </p:sp>
      <p:sp>
        <p:nvSpPr>
          <p:cNvPr id="24" name="Text 21"/>
          <p:cNvSpPr/>
          <p:nvPr/>
        </p:nvSpPr>
        <p:spPr>
          <a:xfrm>
            <a:off x="10003536" y="5001768"/>
            <a:ext cx="256032" cy="210312"/>
          </a:xfrm>
          <a:prstGeom prst="rect">
            <a:avLst/>
          </a:prstGeom>
          <a:noFill/>
          <a:ln/>
        </p:spPr>
        <p:txBody>
          <a:bodyPr wrap="square" lIns="0" tIns="0" rIns="0" bIns="0" rtlCol="0" anchor="ctr"/>
          <a:lstStyle/>
          <a:p>
            <a:pPr algn="ctr" indent="0" marL="0">
              <a:buNone/>
            </a:pPr>
            <a:r>
              <a:rPr lang="en-US" sz="1100" b="1" dirty="0">
                <a:solidFill>
                  <a:srgbClr val="56C9B7"/>
                </a:solidFill>
              </a:rPr>
              <a:t>5</a:t>
            </a:r>
            <a:endParaRPr lang="en-US" sz="1100" dirty="0"/>
          </a:p>
        </p:txBody>
      </p:sp>
      <p:sp>
        <p:nvSpPr>
          <p:cNvPr id="25" name="Text 22"/>
          <p:cNvSpPr/>
          <p:nvPr/>
        </p:nvSpPr>
        <p:spPr>
          <a:xfrm>
            <a:off x="10277856" y="4937760"/>
            <a:ext cx="1353312" cy="292608"/>
          </a:xfrm>
          <a:prstGeom prst="rect">
            <a:avLst/>
          </a:prstGeom>
          <a:noFill/>
          <a:ln/>
        </p:spPr>
        <p:txBody>
          <a:bodyPr wrap="square" lIns="0" tIns="0" rIns="0" bIns="0" rtlCol="0" anchor="ctr">
            <a:normAutofit/>
          </a:bodyPr>
          <a:lstStyle/>
          <a:p>
            <a:pPr algn="ctr" indent="0" marL="0">
              <a:buNone/>
            </a:pPr>
            <a:r>
              <a:rPr lang="en-US" sz="1050" b="1" dirty="0">
                <a:solidFill>
                  <a:srgbClr val="FFFFFF"/>
                </a:solidFill>
              </a:rPr>
              <a:t>Central Review</a:t>
            </a:r>
            <a:endParaRPr lang="en-US" sz="1050" dirty="0"/>
          </a:p>
        </p:txBody>
      </p:sp>
      <p:sp>
        <p:nvSpPr>
          <p:cNvPr id="26" name="Text 23"/>
          <p:cNvSpPr/>
          <p:nvPr/>
        </p:nvSpPr>
        <p:spPr>
          <a:xfrm>
            <a:off x="2450592" y="6080760"/>
            <a:ext cx="7315200" cy="256032"/>
          </a:xfrm>
          <a:prstGeom prst="rect">
            <a:avLst/>
          </a:prstGeom>
          <a:noFill/>
          <a:ln/>
        </p:spPr>
        <p:txBody>
          <a:bodyPr wrap="square" lIns="0" tIns="0" rIns="0" bIns="0" rtlCol="0" anchor="ctr"/>
          <a:lstStyle/>
          <a:p>
            <a:pPr algn="ctr" indent="0" marL="0">
              <a:buNone/>
            </a:pPr>
            <a:r>
              <a:rPr lang="en-US" sz="1100" dirty="0">
                <a:solidFill>
                  <a:srgbClr val="9FC6D5"/>
                </a:solidFill>
              </a:rPr>
              <a:t>Backup: keep a 60–90 second prerecorded demo clip ready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758952"/>
            <a:ext cx="10972800" cy="438912"/>
          </a:xfrm>
          <a:prstGeom prst="rect">
            <a:avLst/>
          </a:prstGeom>
          <a:noFill/>
          <a:ln/>
        </p:spPr>
        <p:txBody>
          <a:bodyPr wrap="square" lIns="0" tIns="0" rIns="0" bIns="0" rtlCol="0" anchor="ctr">
            <a:normAutofit/>
          </a:bodyP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Beyond Bounding Boxes: Persistent Coastal Contact</a:t>
            </a:r>
            <a:endParaRPr lang="en-US" sz="2500" dirty="0"/>
          </a:p>
        </p:txBody>
      </p:sp>
      <p:sp>
        <p:nvSpPr>
          <p:cNvPr id="3" name="Shape 1"/>
          <p:cNvSpPr/>
          <p:nvPr/>
        </p:nvSpPr>
        <p:spPr>
          <a:xfrm>
            <a:off x="566928" y="1243584"/>
            <a:ext cx="914400" cy="45720"/>
          </a:xfrm>
          <a:prstGeom prst="rect">
            <a:avLst/>
          </a:prstGeom>
          <a:solidFill>
            <a:srgbClr val="2A9D8F"/>
          </a:solidFill>
          <a:ln w="12700">
            <a:solidFill>
              <a:srgbClr val="2A9D8F"/>
            </a:solidFill>
            <a:prstDash val="solid"/>
          </a:ln>
        </p:spPr>
      </p:sp>
      <p:sp>
        <p:nvSpPr>
          <p:cNvPr id="4" name="Text 2"/>
          <p:cNvSpPr/>
          <p:nvPr/>
        </p:nvSpPr>
        <p:spPr>
          <a:xfrm>
            <a:off x="1600200" y="1115568"/>
            <a:ext cx="9784080" cy="228600"/>
          </a:xfrm>
          <a:prstGeom prst="rect">
            <a:avLst/>
          </a:prstGeom>
          <a:noFill/>
          <a:ln/>
        </p:spPr>
        <p:txBody>
          <a:bodyPr wrap="square" lIns="0" tIns="0" rIns="0" bIns="0" rtlCol="0" anchor="ctr">
            <a:normAutofit/>
          </a:bodyPr>
          <a:lstStyle/>
          <a:p>
            <a:pPr indent="0" marL="0">
              <a:buNone/>
            </a:pPr>
            <a:r>
              <a:rPr lang="en-US" sz="1050" dirty="0">
                <a:solidFill>
                  <a:srgbClr val="5F7280"/>
                </a:solidFill>
                <a:latin typeface="Aptos" pitchFamily="34" charset="0"/>
                <a:ea typeface="Aptos" pitchFamily="34" charset="-122"/>
                <a:cs typeface="Aptos" pitchFamily="34" charset="-120"/>
              </a:rPr>
              <a:t>The operational object is a contact history — not a temporary tracker ID</a:t>
            </a:r>
            <a:endParaRPr lang="en-US" sz="1050" dirty="0"/>
          </a:p>
        </p:txBody>
      </p:sp>
      <p:sp>
        <p:nvSpPr>
          <p:cNvPr id="5" name="Text 3"/>
          <p:cNvSpPr/>
          <p:nvPr/>
        </p:nvSpPr>
        <p:spPr>
          <a:xfrm>
            <a:off x="777240" y="1664208"/>
            <a:ext cx="4800600" cy="310896"/>
          </a:xfrm>
          <a:prstGeom prst="rect">
            <a:avLst/>
          </a:prstGeom>
          <a:noFill/>
          <a:ln/>
        </p:spPr>
        <p:txBody>
          <a:bodyPr wrap="square" lIns="0" tIns="0" rIns="0" bIns="0" rtlCol="0" anchor="ctr"/>
          <a:lstStyle/>
          <a:p>
            <a:pPr algn="ctr" indent="0" marL="0">
              <a:buNone/>
            </a:pPr>
            <a:r>
              <a:rPr lang="en-US" sz="1700" b="1" dirty="0">
                <a:solidFill>
                  <a:srgbClr val="C95A55"/>
                </a:solidFill>
              </a:rPr>
              <a:t>Conventional video analytics</a:t>
            </a:r>
            <a:endParaRPr lang="en-US" sz="1700" dirty="0"/>
          </a:p>
        </p:txBody>
      </p:sp>
      <p:sp>
        <p:nvSpPr>
          <p:cNvPr id="6" name="Text 4"/>
          <p:cNvSpPr/>
          <p:nvPr/>
        </p:nvSpPr>
        <p:spPr>
          <a:xfrm>
            <a:off x="6537960" y="1664208"/>
            <a:ext cx="4800600" cy="310896"/>
          </a:xfrm>
          <a:prstGeom prst="rect">
            <a:avLst/>
          </a:prstGeom>
          <a:noFill/>
          <a:ln/>
        </p:spPr>
        <p:txBody>
          <a:bodyPr wrap="square" lIns="0" tIns="0" rIns="0" bIns="0" rtlCol="0" anchor="ctr"/>
          <a:lstStyle/>
          <a:p>
            <a:pPr algn="ctr" indent="0" marL="0">
              <a:buNone/>
            </a:pPr>
            <a:r>
              <a:rPr lang="en-US" sz="1700" b="1" dirty="0">
                <a:solidFill>
                  <a:srgbClr val="0F6B6F"/>
                </a:solidFill>
              </a:rPr>
              <a:t>SmartQEye Coastal</a:t>
            </a:r>
            <a:endParaRPr lang="en-US" sz="1700" dirty="0"/>
          </a:p>
        </p:txBody>
      </p:sp>
      <p:sp>
        <p:nvSpPr>
          <p:cNvPr id="7" name="Shape 5"/>
          <p:cNvSpPr/>
          <p:nvPr/>
        </p:nvSpPr>
        <p:spPr>
          <a:xfrm>
            <a:off x="1143000" y="2240280"/>
            <a:ext cx="4069080" cy="530352"/>
          </a:xfrm>
          <a:prstGeom prst="roundRect">
            <a:avLst>
              <a:gd name="adj" fmla="val 8621"/>
            </a:avLst>
          </a:prstGeom>
          <a:solidFill>
            <a:srgbClr val="F8FAFB"/>
          </a:solidFill>
          <a:ln w="12700">
            <a:solidFill>
              <a:srgbClr val="CFDCE3"/>
            </a:solidFill>
            <a:prstDash val="solid"/>
          </a:ln>
        </p:spPr>
      </p:sp>
      <p:sp>
        <p:nvSpPr>
          <p:cNvPr id="8" name="Text 6"/>
          <p:cNvSpPr/>
          <p:nvPr/>
        </p:nvSpPr>
        <p:spPr>
          <a:xfrm>
            <a:off x="1325880" y="2395728"/>
            <a:ext cx="3703320" cy="201168"/>
          </a:xfrm>
          <a:prstGeom prst="rect">
            <a:avLst/>
          </a:prstGeom>
          <a:noFill/>
          <a:ln/>
        </p:spPr>
        <p:txBody>
          <a:bodyPr wrap="square" lIns="0" tIns="0" rIns="0" bIns="0" rtlCol="0" anchor="ctr"/>
          <a:lstStyle/>
          <a:p>
            <a:pPr algn="ctr" indent="0" marL="0">
              <a:buNone/>
            </a:pPr>
            <a:r>
              <a:rPr lang="en-US" sz="1200" b="1" dirty="0">
                <a:solidFill>
                  <a:srgbClr val="17313E"/>
                </a:solidFill>
              </a:rPr>
              <a:t>Boat detected</a:t>
            </a:r>
            <a:endParaRPr lang="en-US" sz="1200" dirty="0"/>
          </a:p>
        </p:txBody>
      </p:sp>
      <p:sp>
        <p:nvSpPr>
          <p:cNvPr id="9" name="Shape 7"/>
          <p:cNvSpPr/>
          <p:nvPr/>
        </p:nvSpPr>
        <p:spPr>
          <a:xfrm>
            <a:off x="3172968" y="2770632"/>
            <a:ext cx="0" cy="228600"/>
          </a:xfrm>
          <a:prstGeom prst="line">
            <a:avLst/>
          </a:prstGeom>
          <a:noFill/>
          <a:ln w="15240">
            <a:solidFill>
              <a:srgbClr val="B4C3CA"/>
            </a:solidFill>
            <a:prstDash val="solid"/>
            <a:headEnd type="none"/>
            <a:tailEnd type="triangle"/>
          </a:ln>
        </p:spPr>
      </p:sp>
      <p:sp>
        <p:nvSpPr>
          <p:cNvPr id="10" name="Shape 8"/>
          <p:cNvSpPr/>
          <p:nvPr/>
        </p:nvSpPr>
        <p:spPr>
          <a:xfrm>
            <a:off x="1143000" y="3026664"/>
            <a:ext cx="4069080" cy="530352"/>
          </a:xfrm>
          <a:prstGeom prst="roundRect">
            <a:avLst>
              <a:gd name="adj" fmla="val 8621"/>
            </a:avLst>
          </a:prstGeom>
          <a:solidFill>
            <a:srgbClr val="F8FAFB"/>
          </a:solidFill>
          <a:ln w="12700">
            <a:solidFill>
              <a:srgbClr val="CFDCE3"/>
            </a:solidFill>
            <a:prstDash val="solid"/>
          </a:ln>
        </p:spPr>
      </p:sp>
      <p:sp>
        <p:nvSpPr>
          <p:cNvPr id="11" name="Text 9"/>
          <p:cNvSpPr/>
          <p:nvPr/>
        </p:nvSpPr>
        <p:spPr>
          <a:xfrm>
            <a:off x="1325880" y="3182112"/>
            <a:ext cx="3703320" cy="201168"/>
          </a:xfrm>
          <a:prstGeom prst="rect">
            <a:avLst/>
          </a:prstGeom>
          <a:noFill/>
          <a:ln/>
        </p:spPr>
        <p:txBody>
          <a:bodyPr wrap="square" lIns="0" tIns="0" rIns="0" bIns="0" rtlCol="0" anchor="ctr"/>
          <a:lstStyle/>
          <a:p>
            <a:pPr algn="ctr" indent="0" marL="0">
              <a:buNone/>
            </a:pPr>
            <a:r>
              <a:rPr lang="en-US" sz="1200" b="1" dirty="0">
                <a:solidFill>
                  <a:srgbClr val="17313E"/>
                </a:solidFill>
              </a:rPr>
              <a:t>Track ID</a:t>
            </a:r>
            <a:endParaRPr lang="en-US" sz="1200" dirty="0"/>
          </a:p>
        </p:txBody>
      </p:sp>
      <p:sp>
        <p:nvSpPr>
          <p:cNvPr id="12" name="Shape 10"/>
          <p:cNvSpPr/>
          <p:nvPr/>
        </p:nvSpPr>
        <p:spPr>
          <a:xfrm>
            <a:off x="3172968" y="3557016"/>
            <a:ext cx="0" cy="228600"/>
          </a:xfrm>
          <a:prstGeom prst="line">
            <a:avLst/>
          </a:prstGeom>
          <a:noFill/>
          <a:ln w="15240">
            <a:solidFill>
              <a:srgbClr val="B4C3CA"/>
            </a:solidFill>
            <a:prstDash val="solid"/>
            <a:headEnd type="none"/>
            <a:tailEnd type="triangle"/>
          </a:ln>
        </p:spPr>
      </p:sp>
      <p:sp>
        <p:nvSpPr>
          <p:cNvPr id="13" name="Shape 11"/>
          <p:cNvSpPr/>
          <p:nvPr/>
        </p:nvSpPr>
        <p:spPr>
          <a:xfrm>
            <a:off x="1143000" y="3813048"/>
            <a:ext cx="4069080" cy="530352"/>
          </a:xfrm>
          <a:prstGeom prst="roundRect">
            <a:avLst>
              <a:gd name="adj" fmla="val 8621"/>
            </a:avLst>
          </a:prstGeom>
          <a:solidFill>
            <a:srgbClr val="F8FAFB"/>
          </a:solidFill>
          <a:ln w="12700">
            <a:solidFill>
              <a:srgbClr val="CFDCE3"/>
            </a:solidFill>
            <a:prstDash val="solid"/>
          </a:ln>
        </p:spPr>
      </p:sp>
      <p:sp>
        <p:nvSpPr>
          <p:cNvPr id="14" name="Text 12"/>
          <p:cNvSpPr/>
          <p:nvPr/>
        </p:nvSpPr>
        <p:spPr>
          <a:xfrm>
            <a:off x="1325880" y="3968496"/>
            <a:ext cx="3703320" cy="201168"/>
          </a:xfrm>
          <a:prstGeom prst="rect">
            <a:avLst/>
          </a:prstGeom>
          <a:noFill/>
          <a:ln/>
        </p:spPr>
        <p:txBody>
          <a:bodyPr wrap="square" lIns="0" tIns="0" rIns="0" bIns="0" rtlCol="0" anchor="ctr"/>
          <a:lstStyle/>
          <a:p>
            <a:pPr algn="ctr" indent="0" marL="0">
              <a:buNone/>
            </a:pPr>
            <a:r>
              <a:rPr lang="en-US" sz="1200" dirty="0">
                <a:solidFill>
                  <a:srgbClr val="17313E"/>
                </a:solidFill>
              </a:rPr>
              <a:t>Temporary occlusion</a:t>
            </a:r>
            <a:endParaRPr lang="en-US" sz="1200" dirty="0"/>
          </a:p>
        </p:txBody>
      </p:sp>
      <p:sp>
        <p:nvSpPr>
          <p:cNvPr id="15" name="Shape 13"/>
          <p:cNvSpPr/>
          <p:nvPr/>
        </p:nvSpPr>
        <p:spPr>
          <a:xfrm>
            <a:off x="3172968" y="4343400"/>
            <a:ext cx="0" cy="228600"/>
          </a:xfrm>
          <a:prstGeom prst="line">
            <a:avLst/>
          </a:prstGeom>
          <a:noFill/>
          <a:ln w="15240">
            <a:solidFill>
              <a:srgbClr val="B4C3CA"/>
            </a:solidFill>
            <a:prstDash val="solid"/>
            <a:headEnd type="none"/>
            <a:tailEnd type="triangle"/>
          </a:ln>
        </p:spPr>
      </p:sp>
      <p:sp>
        <p:nvSpPr>
          <p:cNvPr id="16" name="Shape 14"/>
          <p:cNvSpPr/>
          <p:nvPr/>
        </p:nvSpPr>
        <p:spPr>
          <a:xfrm>
            <a:off x="1143000" y="4599432"/>
            <a:ext cx="4069080" cy="530352"/>
          </a:xfrm>
          <a:prstGeom prst="roundRect">
            <a:avLst>
              <a:gd name="adj" fmla="val 8621"/>
            </a:avLst>
          </a:prstGeom>
          <a:solidFill>
            <a:srgbClr val="FFF1F0"/>
          </a:solidFill>
          <a:ln w="12700">
            <a:solidFill>
              <a:srgbClr val="E6B5B2"/>
            </a:solidFill>
            <a:prstDash val="solid"/>
          </a:ln>
        </p:spPr>
      </p:sp>
      <p:sp>
        <p:nvSpPr>
          <p:cNvPr id="17" name="Text 15"/>
          <p:cNvSpPr/>
          <p:nvPr/>
        </p:nvSpPr>
        <p:spPr>
          <a:xfrm>
            <a:off x="1325880" y="4754880"/>
            <a:ext cx="3703320" cy="201168"/>
          </a:xfrm>
          <a:prstGeom prst="rect">
            <a:avLst/>
          </a:prstGeom>
          <a:noFill/>
          <a:ln/>
        </p:spPr>
        <p:txBody>
          <a:bodyPr wrap="square" lIns="0" tIns="0" rIns="0" bIns="0" rtlCol="0" anchor="ctr"/>
          <a:lstStyle/>
          <a:p>
            <a:pPr algn="ctr" indent="0" marL="0">
              <a:buNone/>
            </a:pPr>
            <a:r>
              <a:rPr lang="en-US" sz="1200" dirty="0">
                <a:solidFill>
                  <a:srgbClr val="C95A55"/>
                </a:solidFill>
              </a:rPr>
              <a:t>Track lost</a:t>
            </a:r>
            <a:endParaRPr lang="en-US" sz="1200" dirty="0"/>
          </a:p>
        </p:txBody>
      </p:sp>
      <p:sp>
        <p:nvSpPr>
          <p:cNvPr id="18" name="Shape 16"/>
          <p:cNvSpPr/>
          <p:nvPr/>
        </p:nvSpPr>
        <p:spPr>
          <a:xfrm>
            <a:off x="6903720" y="2240280"/>
            <a:ext cx="4069080" cy="530352"/>
          </a:xfrm>
          <a:prstGeom prst="roundRect">
            <a:avLst>
              <a:gd name="adj" fmla="val 8621"/>
            </a:avLst>
          </a:prstGeom>
          <a:solidFill>
            <a:srgbClr val="F1FAF8"/>
          </a:solidFill>
          <a:ln w="12700">
            <a:solidFill>
              <a:srgbClr val="BBDCD6"/>
            </a:solidFill>
            <a:prstDash val="solid"/>
          </a:ln>
        </p:spPr>
      </p:sp>
      <p:sp>
        <p:nvSpPr>
          <p:cNvPr id="19" name="Text 17"/>
          <p:cNvSpPr/>
          <p:nvPr/>
        </p:nvSpPr>
        <p:spPr>
          <a:xfrm>
            <a:off x="7086600" y="2395728"/>
            <a:ext cx="3703320" cy="201168"/>
          </a:xfrm>
          <a:prstGeom prst="rect">
            <a:avLst/>
          </a:prstGeom>
          <a:noFill/>
          <a:ln/>
        </p:spPr>
        <p:txBody>
          <a:bodyPr wrap="square" lIns="0" tIns="0" rIns="0" bIns="0" rtlCol="0" anchor="ctr"/>
          <a:lstStyle/>
          <a:p>
            <a:pPr algn="ctr" indent="0" marL="0">
              <a:buNone/>
            </a:pPr>
            <a:r>
              <a:rPr lang="en-US" sz="1200" b="1" dirty="0">
                <a:solidFill>
                  <a:srgbClr val="0F6B6F"/>
                </a:solidFill>
              </a:rPr>
              <a:t>First seen</a:t>
            </a:r>
            <a:endParaRPr lang="en-US" sz="1200" dirty="0"/>
          </a:p>
        </p:txBody>
      </p:sp>
      <p:sp>
        <p:nvSpPr>
          <p:cNvPr id="20" name="Shape 18"/>
          <p:cNvSpPr/>
          <p:nvPr/>
        </p:nvSpPr>
        <p:spPr>
          <a:xfrm>
            <a:off x="8933688" y="2770632"/>
            <a:ext cx="0" cy="228600"/>
          </a:xfrm>
          <a:prstGeom prst="line">
            <a:avLst/>
          </a:prstGeom>
          <a:noFill/>
          <a:ln w="19050">
            <a:solidFill>
              <a:srgbClr val="2A9D8F"/>
            </a:solidFill>
            <a:prstDash val="solid"/>
            <a:headEnd type="none"/>
            <a:tailEnd type="triangle"/>
          </a:ln>
        </p:spPr>
      </p:sp>
      <p:sp>
        <p:nvSpPr>
          <p:cNvPr id="21" name="Shape 19"/>
          <p:cNvSpPr/>
          <p:nvPr/>
        </p:nvSpPr>
        <p:spPr>
          <a:xfrm>
            <a:off x="6903720" y="3026664"/>
            <a:ext cx="4069080" cy="530352"/>
          </a:xfrm>
          <a:prstGeom prst="roundRect">
            <a:avLst>
              <a:gd name="adj" fmla="val 8621"/>
            </a:avLst>
          </a:prstGeom>
          <a:solidFill>
            <a:srgbClr val="F1FAF8"/>
          </a:solidFill>
          <a:ln w="12700">
            <a:solidFill>
              <a:srgbClr val="BBDCD6"/>
            </a:solidFill>
            <a:prstDash val="solid"/>
          </a:ln>
        </p:spPr>
      </p:sp>
      <p:sp>
        <p:nvSpPr>
          <p:cNvPr id="22" name="Text 20"/>
          <p:cNvSpPr/>
          <p:nvPr/>
        </p:nvSpPr>
        <p:spPr>
          <a:xfrm>
            <a:off x="7086600" y="3182112"/>
            <a:ext cx="3703320" cy="201168"/>
          </a:xfrm>
          <a:prstGeom prst="rect">
            <a:avLst/>
          </a:prstGeom>
          <a:noFill/>
          <a:ln/>
        </p:spPr>
        <p:txBody>
          <a:bodyPr wrap="square" lIns="0" tIns="0" rIns="0" bIns="0" rtlCol="0" anchor="ctr"/>
          <a:lstStyle/>
          <a:p>
            <a:pPr algn="ctr" indent="0" marL="0">
              <a:buNone/>
            </a:pPr>
            <a:r>
              <a:rPr lang="en-US" sz="1200" b="1" dirty="0">
                <a:solidFill>
                  <a:srgbClr val="0F6B6F"/>
                </a:solidFill>
              </a:rPr>
              <a:t>Trajectory + zones</a:t>
            </a:r>
            <a:endParaRPr lang="en-US" sz="1200" dirty="0"/>
          </a:p>
        </p:txBody>
      </p:sp>
      <p:sp>
        <p:nvSpPr>
          <p:cNvPr id="23" name="Shape 21"/>
          <p:cNvSpPr/>
          <p:nvPr/>
        </p:nvSpPr>
        <p:spPr>
          <a:xfrm>
            <a:off x="8933688" y="3557016"/>
            <a:ext cx="0" cy="228600"/>
          </a:xfrm>
          <a:prstGeom prst="line">
            <a:avLst/>
          </a:prstGeom>
          <a:noFill/>
          <a:ln w="19050">
            <a:solidFill>
              <a:srgbClr val="2A9D8F"/>
            </a:solidFill>
            <a:prstDash val="solid"/>
            <a:headEnd type="none"/>
            <a:tailEnd type="triangle"/>
          </a:ln>
        </p:spPr>
      </p:sp>
      <p:sp>
        <p:nvSpPr>
          <p:cNvPr id="24" name="Shape 22"/>
          <p:cNvSpPr/>
          <p:nvPr/>
        </p:nvSpPr>
        <p:spPr>
          <a:xfrm>
            <a:off x="6903720" y="3813048"/>
            <a:ext cx="4069080" cy="530352"/>
          </a:xfrm>
          <a:prstGeom prst="roundRect">
            <a:avLst>
              <a:gd name="adj" fmla="val 8621"/>
            </a:avLst>
          </a:prstGeom>
          <a:solidFill>
            <a:srgbClr val="F1FAF8"/>
          </a:solidFill>
          <a:ln w="12700">
            <a:solidFill>
              <a:srgbClr val="BBDCD6"/>
            </a:solidFill>
            <a:prstDash val="solid"/>
          </a:ln>
        </p:spPr>
      </p:sp>
      <p:sp>
        <p:nvSpPr>
          <p:cNvPr id="25" name="Text 23"/>
          <p:cNvSpPr/>
          <p:nvPr/>
        </p:nvSpPr>
        <p:spPr>
          <a:xfrm>
            <a:off x="7086600" y="3968496"/>
            <a:ext cx="3703320" cy="201168"/>
          </a:xfrm>
          <a:prstGeom prst="rect">
            <a:avLst/>
          </a:prstGeom>
          <a:noFill/>
          <a:ln/>
        </p:spPr>
        <p:txBody>
          <a:bodyPr wrap="square" lIns="0" tIns="0" rIns="0" bIns="0" rtlCol="0" anchor="ctr"/>
          <a:lstStyle/>
          <a:p>
            <a:pPr algn="ctr" indent="0" marL="0">
              <a:buNone/>
            </a:pPr>
            <a:r>
              <a:rPr lang="en-US" sz="1200" b="1" dirty="0">
                <a:solidFill>
                  <a:srgbClr val="0F6B6F"/>
                </a:solidFill>
              </a:rPr>
              <a:t>Behaviour + relationships</a:t>
            </a:r>
            <a:endParaRPr lang="en-US" sz="1200" dirty="0"/>
          </a:p>
        </p:txBody>
      </p:sp>
      <p:sp>
        <p:nvSpPr>
          <p:cNvPr id="26" name="Shape 24"/>
          <p:cNvSpPr/>
          <p:nvPr/>
        </p:nvSpPr>
        <p:spPr>
          <a:xfrm>
            <a:off x="8933688" y="4343400"/>
            <a:ext cx="0" cy="228600"/>
          </a:xfrm>
          <a:prstGeom prst="line">
            <a:avLst/>
          </a:prstGeom>
          <a:noFill/>
          <a:ln w="19050">
            <a:solidFill>
              <a:srgbClr val="2A9D8F"/>
            </a:solidFill>
            <a:prstDash val="solid"/>
            <a:headEnd type="none"/>
            <a:tailEnd type="triangle"/>
          </a:ln>
        </p:spPr>
      </p:sp>
      <p:sp>
        <p:nvSpPr>
          <p:cNvPr id="27" name="Shape 25"/>
          <p:cNvSpPr/>
          <p:nvPr/>
        </p:nvSpPr>
        <p:spPr>
          <a:xfrm>
            <a:off x="6903720" y="4599432"/>
            <a:ext cx="4069080" cy="530352"/>
          </a:xfrm>
          <a:prstGeom prst="roundRect">
            <a:avLst>
              <a:gd name="adj" fmla="val 8621"/>
            </a:avLst>
          </a:prstGeom>
          <a:solidFill>
            <a:srgbClr val="F1FAF8"/>
          </a:solidFill>
          <a:ln w="12700">
            <a:solidFill>
              <a:srgbClr val="BBDCD6"/>
            </a:solidFill>
            <a:prstDash val="solid"/>
          </a:ln>
        </p:spPr>
      </p:sp>
      <p:sp>
        <p:nvSpPr>
          <p:cNvPr id="28" name="Text 26"/>
          <p:cNvSpPr/>
          <p:nvPr/>
        </p:nvSpPr>
        <p:spPr>
          <a:xfrm>
            <a:off x="7086600" y="4754880"/>
            <a:ext cx="3703320" cy="201168"/>
          </a:xfrm>
          <a:prstGeom prst="rect">
            <a:avLst/>
          </a:prstGeom>
          <a:noFill/>
          <a:ln/>
        </p:spPr>
        <p:txBody>
          <a:bodyPr wrap="square" lIns="0" tIns="0" rIns="0" bIns="0" rtlCol="0" anchor="ctr"/>
          <a:lstStyle/>
          <a:p>
            <a:pPr algn="ctr" indent="0" marL="0">
              <a:buNone/>
            </a:pPr>
            <a:r>
              <a:rPr lang="en-US" sz="1200" b="1" dirty="0">
                <a:solidFill>
                  <a:srgbClr val="0F6B6F"/>
                </a:solidFill>
              </a:rPr>
              <a:t>Evidence + historical contact</a:t>
            </a:r>
            <a:endParaRPr lang="en-US" sz="1200" dirty="0"/>
          </a:p>
        </p:txBody>
      </p:sp>
      <p:sp>
        <p:nvSpPr>
          <p:cNvPr id="29" name="Shape 27"/>
          <p:cNvSpPr/>
          <p:nvPr/>
        </p:nvSpPr>
        <p:spPr>
          <a:xfrm>
            <a:off x="2057400" y="5650992"/>
            <a:ext cx="8092440" cy="566928"/>
          </a:xfrm>
          <a:prstGeom prst="roundRect">
            <a:avLst>
              <a:gd name="adj" fmla="val 9677"/>
            </a:avLst>
          </a:prstGeom>
          <a:solidFill>
            <a:srgbClr val="0B1F33"/>
          </a:solidFill>
          <a:ln w="12700">
            <a:solidFill>
              <a:srgbClr val="0B1F33"/>
            </a:solidFill>
            <a:prstDash val="solid"/>
          </a:ln>
        </p:spPr>
      </p:sp>
      <p:sp>
        <p:nvSpPr>
          <p:cNvPr id="30" name="Text 28"/>
          <p:cNvSpPr/>
          <p:nvPr/>
        </p:nvSpPr>
        <p:spPr>
          <a:xfrm>
            <a:off x="2304288" y="5843016"/>
            <a:ext cx="7589520" cy="201168"/>
          </a:xfrm>
          <a:prstGeom prst="rect">
            <a:avLst/>
          </a:prstGeom>
          <a:noFill/>
          <a:ln/>
        </p:spPr>
        <p:txBody>
          <a:bodyPr wrap="square" lIns="0" tIns="0" rIns="0" bIns="0" rtlCol="0" anchor="ctr"/>
          <a:lstStyle/>
          <a:p>
            <a:pPr algn="ctr" indent="0" marL="0">
              <a:buNone/>
            </a:pPr>
            <a:r>
              <a:rPr lang="en-US" sz="1400" b="1" dirty="0">
                <a:solidFill>
                  <a:srgbClr val="FFFFFF"/>
                </a:solidFill>
              </a:rPr>
              <a:t>Continuity + context + evidence → better operator understanding over time</a:t>
            </a:r>
            <a:endParaRPr lang="en-US" sz="1400" dirty="0"/>
          </a:p>
        </p:txBody>
      </p:sp>
      <p:sp>
        <p:nvSpPr>
          <p:cNvPr id="25" name="Slide Number Placeholder 0"/>
          <p:cNvSpPr>
            <a:spLocks noGrp="1"/>
          </p:cNvSpPr>
          <p:nvPr>
            <p:ph type="sldNum" sz="quarter" idx="4294967295"/>
          </p:nvPr>
        </p:nvSpPr>
        <p:spPr>
          <a:xfrm>
            <a:off x="11631168" y="6547104"/>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B7D89"/>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758952"/>
            <a:ext cx="10972800" cy="438912"/>
          </a:xfrm>
          <a:prstGeom prst="rect">
            <a:avLst/>
          </a:prstGeom>
          <a:noFill/>
          <a:ln/>
        </p:spPr>
        <p:txBody>
          <a:bodyPr wrap="square" lIns="0" tIns="0" rIns="0" bIns="0" rtlCol="0" anchor="ctr">
            <a:normAutofit/>
          </a:bodyP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RGB + Thermal + Small-Target Coastal Analytics</a:t>
            </a:r>
            <a:endParaRPr lang="en-US" sz="2500" dirty="0"/>
          </a:p>
        </p:txBody>
      </p:sp>
      <p:sp>
        <p:nvSpPr>
          <p:cNvPr id="3" name="Shape 1"/>
          <p:cNvSpPr/>
          <p:nvPr/>
        </p:nvSpPr>
        <p:spPr>
          <a:xfrm>
            <a:off x="566928" y="1243584"/>
            <a:ext cx="914400" cy="45720"/>
          </a:xfrm>
          <a:prstGeom prst="rect">
            <a:avLst/>
          </a:prstGeom>
          <a:solidFill>
            <a:srgbClr val="2A9D8F"/>
          </a:solidFill>
          <a:ln w="12700">
            <a:solidFill>
              <a:srgbClr val="2A9D8F"/>
            </a:solidFill>
            <a:prstDash val="solid"/>
          </a:ln>
        </p:spPr>
      </p:sp>
      <p:sp>
        <p:nvSpPr>
          <p:cNvPr id="4" name="Text 2"/>
          <p:cNvSpPr/>
          <p:nvPr/>
        </p:nvSpPr>
        <p:spPr>
          <a:xfrm>
            <a:off x="1600200" y="1115568"/>
            <a:ext cx="9784080" cy="228600"/>
          </a:xfrm>
          <a:prstGeom prst="rect">
            <a:avLst/>
          </a:prstGeom>
          <a:noFill/>
          <a:ln/>
        </p:spPr>
        <p:txBody>
          <a:bodyPr wrap="square" lIns="0" tIns="0" rIns="0" bIns="0" rtlCol="0" anchor="ctr">
            <a:normAutofit/>
          </a:bodyPr>
          <a:lstStyle/>
          <a:p>
            <a:pPr indent="0" marL="0">
              <a:buNone/>
            </a:pPr>
            <a:r>
              <a:rPr lang="en-US" sz="1050" dirty="0">
                <a:solidFill>
                  <a:srgbClr val="5F7280"/>
                </a:solidFill>
                <a:latin typeface="Aptos" pitchFamily="34" charset="0"/>
                <a:ea typeface="Aptos" pitchFamily="34" charset="-122"/>
                <a:cs typeface="Aptos" pitchFamily="34" charset="-120"/>
              </a:rPr>
              <a:t>Complementary sensing without assuming perfect alignment</a:t>
            </a:r>
            <a:endParaRPr lang="en-US" sz="1050" dirty="0"/>
          </a:p>
        </p:txBody>
      </p:sp>
      <p:sp>
        <p:nvSpPr>
          <p:cNvPr id="5" name="Shape 3"/>
          <p:cNvSpPr/>
          <p:nvPr/>
        </p:nvSpPr>
        <p:spPr>
          <a:xfrm>
            <a:off x="749808" y="1691640"/>
            <a:ext cx="3246120" cy="3337560"/>
          </a:xfrm>
          <a:prstGeom prst="roundRect">
            <a:avLst>
              <a:gd name="adj" fmla="val 2254"/>
            </a:avLst>
          </a:prstGeom>
          <a:solidFill>
            <a:srgbClr val="F3F8FC"/>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6" name="Shape 4"/>
          <p:cNvSpPr/>
          <p:nvPr/>
        </p:nvSpPr>
        <p:spPr>
          <a:xfrm>
            <a:off x="749808" y="1691640"/>
            <a:ext cx="64008" cy="3337560"/>
          </a:xfrm>
          <a:prstGeom prst="rect">
            <a:avLst/>
          </a:prstGeom>
          <a:solidFill>
            <a:srgbClr val="3F7CAC"/>
          </a:solidFill>
          <a:ln w="12700">
            <a:solidFill>
              <a:srgbClr val="3F7CAC"/>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0976" y="1892808"/>
            <a:ext cx="320040" cy="320040"/>
          </a:xfrm>
          <a:prstGeom prst="rect">
            <a:avLst/>
          </a:prstGeom>
        </p:spPr>
      </p:pic>
      <p:sp>
        <p:nvSpPr>
          <p:cNvPr id="8" name="Text 5"/>
          <p:cNvSpPr/>
          <p:nvPr/>
        </p:nvSpPr>
        <p:spPr>
          <a:xfrm>
            <a:off x="1371600" y="1856232"/>
            <a:ext cx="2423160" cy="329184"/>
          </a:xfrm>
          <a:prstGeom prst="rect">
            <a:avLst/>
          </a:prstGeom>
          <a:noFill/>
          <a:ln/>
        </p:spPr>
        <p:txBody>
          <a:bodyPr wrap="square" lIns="0" tIns="0" rIns="0" bIns="0" rtlCol="0" anchor="ctr">
            <a:normAutofit/>
          </a:bodyPr>
          <a:lstStyle/>
          <a:p>
            <a:pPr indent="0" marL="0">
              <a:buNone/>
            </a:pPr>
            <a:r>
              <a:rPr lang="en-US" sz="1700" b="1" dirty="0">
                <a:solidFill>
                  <a:srgbClr val="17313E"/>
                </a:solidFill>
                <a:latin typeface="Aptos Display" pitchFamily="34" charset="0"/>
                <a:ea typeface="Aptos Display" pitchFamily="34" charset="-122"/>
                <a:cs typeface="Aptos Display" pitchFamily="34" charset="-120"/>
              </a:rPr>
              <a:t>RGB / EO</a:t>
            </a:r>
            <a:endParaRPr lang="en-US" sz="1700" dirty="0"/>
          </a:p>
        </p:txBody>
      </p:sp>
      <p:sp>
        <p:nvSpPr>
          <p:cNvPr id="9" name="Text 6"/>
          <p:cNvSpPr/>
          <p:nvPr/>
        </p:nvSpPr>
        <p:spPr>
          <a:xfrm>
            <a:off x="950976" y="2350008"/>
            <a:ext cx="2843784" cy="2496312"/>
          </a:xfrm>
          <a:prstGeom prst="rect">
            <a:avLst/>
          </a:prstGeom>
          <a:noFill/>
          <a:ln/>
        </p:spPr>
        <p:txBody>
          <a:bodyPr wrap="square" lIns="254" tIns="254" rIns="254" bIns="254" rtlCol="0" anchor="t">
            <a:normAutofit/>
          </a:bodyPr>
          <a:lstStyle/>
          <a:p>
            <a:pPr indent="0" marL="0">
              <a:buNone/>
            </a:pPr>
            <a:r>
              <a:rPr lang="en-US" sz="1120" dirty="0">
                <a:solidFill>
                  <a:srgbClr val="5F7280"/>
                </a:solidFill>
                <a:latin typeface="Aptos" pitchFamily="34" charset="0"/>
                <a:ea typeface="Aptos" pitchFamily="34" charset="-122"/>
                <a:cs typeface="Aptos" pitchFamily="34" charset="-120"/>
              </a:rPr>
              <a:t>• Daylight visual detail</a:t>
            </a:r>
            <a:endParaRPr lang="en-US" sz="1120" dirty="0"/>
          </a:p>
          <a:p>
            <a:pPr indent="0" marL="0">
              <a:buNone/>
            </a:pPr>
            <a:r>
              <a:rPr lang="en-US" sz="1120" dirty="0">
                <a:solidFill>
                  <a:srgbClr val="5F7280"/>
                </a:solidFill>
                <a:latin typeface="Aptos" pitchFamily="34" charset="0"/>
                <a:ea typeface="Aptos" pitchFamily="34" charset="-122"/>
                <a:cs typeface="Aptos" pitchFamily="34" charset="-120"/>
              </a:rPr>
              <a:t>• Vessel appearance and context</a:t>
            </a:r>
            <a:endParaRPr lang="en-US" sz="1120" dirty="0"/>
          </a:p>
          <a:p>
            <a:pPr indent="0" marL="0">
              <a:buNone/>
            </a:pPr>
            <a:r>
              <a:rPr lang="en-US" sz="1120" dirty="0">
                <a:solidFill>
                  <a:srgbClr val="5F7280"/>
                </a:solidFill>
                <a:latin typeface="Aptos" pitchFamily="34" charset="0"/>
                <a:ea typeface="Aptos" pitchFamily="34" charset="-122"/>
                <a:cs typeface="Aptos" pitchFamily="34" charset="-120"/>
              </a:rPr>
              <a:t>• Person / vehicle analytics</a:t>
            </a:r>
            <a:endParaRPr lang="en-US" sz="1120" dirty="0"/>
          </a:p>
          <a:p>
            <a:pPr indent="0" marL="0">
              <a:buNone/>
            </a:pPr>
            <a:r>
              <a:rPr lang="en-US" sz="1120" dirty="0">
                <a:solidFill>
                  <a:srgbClr val="5F7280"/>
                </a:solidFill>
                <a:latin typeface="Aptos" pitchFamily="34" charset="0"/>
                <a:ea typeface="Aptos" pitchFamily="34" charset="-122"/>
                <a:cs typeface="Aptos" pitchFamily="34" charset="-120"/>
              </a:rPr>
              <a:t>• Higher semantic richness where visible light is favourable</a:t>
            </a:r>
            <a:endParaRPr lang="en-US" sz="1120" dirty="0"/>
          </a:p>
        </p:txBody>
      </p:sp>
      <p:sp>
        <p:nvSpPr>
          <p:cNvPr id="10" name="Shape 7"/>
          <p:cNvSpPr/>
          <p:nvPr/>
        </p:nvSpPr>
        <p:spPr>
          <a:xfrm>
            <a:off x="4471416" y="1691640"/>
            <a:ext cx="3246120" cy="3337560"/>
          </a:xfrm>
          <a:prstGeom prst="roundRect">
            <a:avLst>
              <a:gd name="adj" fmla="val 2254"/>
            </a:avLst>
          </a:prstGeom>
          <a:solidFill>
            <a:srgbClr val="FFF8F1"/>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11" name="Shape 8"/>
          <p:cNvSpPr/>
          <p:nvPr/>
        </p:nvSpPr>
        <p:spPr>
          <a:xfrm>
            <a:off x="4471416" y="1691640"/>
            <a:ext cx="64008" cy="3337560"/>
          </a:xfrm>
          <a:prstGeom prst="rect">
            <a:avLst/>
          </a:prstGeom>
          <a:solidFill>
            <a:srgbClr val="E69A45"/>
          </a:solidFill>
          <a:ln w="12700">
            <a:solidFill>
              <a:srgbClr val="E69A45"/>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72584" y="1892808"/>
            <a:ext cx="320040" cy="320040"/>
          </a:xfrm>
          <a:prstGeom prst="rect">
            <a:avLst/>
          </a:prstGeom>
        </p:spPr>
      </p:pic>
      <p:sp>
        <p:nvSpPr>
          <p:cNvPr id="13" name="Text 9"/>
          <p:cNvSpPr/>
          <p:nvPr/>
        </p:nvSpPr>
        <p:spPr>
          <a:xfrm>
            <a:off x="5093208" y="1856232"/>
            <a:ext cx="2423160" cy="329184"/>
          </a:xfrm>
          <a:prstGeom prst="rect">
            <a:avLst/>
          </a:prstGeom>
          <a:noFill/>
          <a:ln/>
        </p:spPr>
        <p:txBody>
          <a:bodyPr wrap="square" lIns="0" tIns="0" rIns="0" bIns="0" rtlCol="0" anchor="ctr">
            <a:normAutofit/>
          </a:bodyPr>
          <a:lstStyle/>
          <a:p>
            <a:pPr indent="0" marL="0">
              <a:buNone/>
            </a:pPr>
            <a:r>
              <a:rPr lang="en-US" sz="1700" b="1" dirty="0">
                <a:solidFill>
                  <a:srgbClr val="17313E"/>
                </a:solidFill>
                <a:latin typeface="Aptos Display" pitchFamily="34" charset="0"/>
                <a:ea typeface="Aptos Display" pitchFamily="34" charset="-122"/>
                <a:cs typeface="Aptos Display" pitchFamily="34" charset="-120"/>
              </a:rPr>
              <a:t>Thermal / Night</a:t>
            </a:r>
            <a:endParaRPr lang="en-US" sz="1700" dirty="0"/>
          </a:p>
        </p:txBody>
      </p:sp>
      <p:sp>
        <p:nvSpPr>
          <p:cNvPr id="14" name="Text 10"/>
          <p:cNvSpPr/>
          <p:nvPr/>
        </p:nvSpPr>
        <p:spPr>
          <a:xfrm>
            <a:off x="4672584" y="2350008"/>
            <a:ext cx="2843784" cy="2496312"/>
          </a:xfrm>
          <a:prstGeom prst="rect">
            <a:avLst/>
          </a:prstGeom>
          <a:noFill/>
          <a:ln/>
        </p:spPr>
        <p:txBody>
          <a:bodyPr wrap="square" lIns="254" tIns="254" rIns="254" bIns="254" rtlCol="0" anchor="t">
            <a:normAutofit/>
          </a:bodyPr>
          <a:lstStyle/>
          <a:p>
            <a:pPr indent="0" marL="0">
              <a:buNone/>
            </a:pPr>
            <a:r>
              <a:rPr lang="en-US" sz="1120" dirty="0">
                <a:solidFill>
                  <a:srgbClr val="5F7280"/>
                </a:solidFill>
                <a:latin typeface="Aptos" pitchFamily="34" charset="0"/>
                <a:ea typeface="Aptos" pitchFamily="34" charset="-122"/>
                <a:cs typeface="Aptos" pitchFamily="34" charset="-120"/>
              </a:rPr>
              <a:t>• Complementary observation at night</a:t>
            </a:r>
            <a:endParaRPr lang="en-US" sz="1120" dirty="0"/>
          </a:p>
          <a:p>
            <a:pPr indent="0" marL="0">
              <a:buNone/>
            </a:pPr>
            <a:r>
              <a:rPr lang="en-US" sz="1120" dirty="0">
                <a:solidFill>
                  <a:srgbClr val="5F7280"/>
                </a:solidFill>
                <a:latin typeface="Aptos" pitchFamily="34" charset="0"/>
                <a:ea typeface="Aptos" pitchFamily="34" charset="-122"/>
                <a:cs typeface="Aptos" pitchFamily="34" charset="-120"/>
              </a:rPr>
              <a:t>• Different contrast and sensor characteristics</a:t>
            </a:r>
            <a:endParaRPr lang="en-US" sz="1120" dirty="0"/>
          </a:p>
          <a:p>
            <a:pPr indent="0" marL="0">
              <a:buNone/>
            </a:pPr>
            <a:r>
              <a:rPr lang="en-US" sz="1120" dirty="0">
                <a:solidFill>
                  <a:srgbClr val="5F7280"/>
                </a:solidFill>
                <a:latin typeface="Aptos" pitchFamily="34" charset="0"/>
                <a:ea typeface="Aptos" pitchFamily="34" charset="-122"/>
                <a:cs typeface="Aptos" pitchFamily="34" charset="-120"/>
              </a:rPr>
              <a:t>• Separate sensor-specific model profile</a:t>
            </a:r>
            <a:endParaRPr lang="en-US" sz="1120" dirty="0"/>
          </a:p>
          <a:p>
            <a:pPr indent="0" marL="0">
              <a:buNone/>
            </a:pPr>
            <a:r>
              <a:rPr lang="en-US" sz="1120" dirty="0">
                <a:solidFill>
                  <a:srgbClr val="5F7280"/>
                </a:solidFill>
                <a:latin typeface="Aptos" pitchFamily="34" charset="0"/>
                <a:ea typeface="Aptos" pitchFamily="34" charset="-122"/>
                <a:cs typeface="Aptos" pitchFamily="34" charset="-120"/>
              </a:rPr>
              <a:t>• Progressive validation using actual payload data</a:t>
            </a:r>
            <a:endParaRPr lang="en-US" sz="1120" dirty="0"/>
          </a:p>
        </p:txBody>
      </p:sp>
      <p:sp>
        <p:nvSpPr>
          <p:cNvPr id="15" name="Shape 11"/>
          <p:cNvSpPr/>
          <p:nvPr/>
        </p:nvSpPr>
        <p:spPr>
          <a:xfrm>
            <a:off x="8193024" y="1691640"/>
            <a:ext cx="3246120" cy="3337560"/>
          </a:xfrm>
          <a:prstGeom prst="roundRect">
            <a:avLst>
              <a:gd name="adj" fmla="val 2254"/>
            </a:avLst>
          </a:prstGeom>
          <a:solidFill>
            <a:srgbClr val="F2FAF8"/>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16" name="Shape 12"/>
          <p:cNvSpPr/>
          <p:nvPr/>
        </p:nvSpPr>
        <p:spPr>
          <a:xfrm>
            <a:off x="8193024" y="1691640"/>
            <a:ext cx="64008" cy="3337560"/>
          </a:xfrm>
          <a:prstGeom prst="rect">
            <a:avLst/>
          </a:prstGeom>
          <a:solidFill>
            <a:srgbClr val="2A9D8F"/>
          </a:solidFill>
          <a:ln w="12700">
            <a:solidFill>
              <a:srgbClr val="2A9D8F"/>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94192" y="1892808"/>
            <a:ext cx="320040" cy="320040"/>
          </a:xfrm>
          <a:prstGeom prst="rect">
            <a:avLst/>
          </a:prstGeom>
        </p:spPr>
      </p:pic>
      <p:sp>
        <p:nvSpPr>
          <p:cNvPr id="18" name="Text 13"/>
          <p:cNvSpPr/>
          <p:nvPr/>
        </p:nvSpPr>
        <p:spPr>
          <a:xfrm>
            <a:off x="8814816" y="1856232"/>
            <a:ext cx="2423160" cy="329184"/>
          </a:xfrm>
          <a:prstGeom prst="rect">
            <a:avLst/>
          </a:prstGeom>
          <a:noFill/>
          <a:ln/>
        </p:spPr>
        <p:txBody>
          <a:bodyPr wrap="square" lIns="0" tIns="0" rIns="0" bIns="0" rtlCol="0" anchor="ctr">
            <a:normAutofit/>
          </a:bodyPr>
          <a:lstStyle/>
          <a:p>
            <a:pPr indent="0" marL="0">
              <a:buNone/>
            </a:pPr>
            <a:r>
              <a:rPr lang="en-US" sz="1700" b="1" dirty="0">
                <a:solidFill>
                  <a:srgbClr val="17313E"/>
                </a:solidFill>
                <a:latin typeface="Aptos Display" pitchFamily="34" charset="0"/>
                <a:ea typeface="Aptos Display" pitchFamily="34" charset="-122"/>
                <a:cs typeface="Aptos Display" pitchFamily="34" charset="-120"/>
              </a:rPr>
              <a:t>Persistent Contact Layer</a:t>
            </a:r>
            <a:endParaRPr lang="en-US" sz="1700" dirty="0"/>
          </a:p>
        </p:txBody>
      </p:sp>
      <p:sp>
        <p:nvSpPr>
          <p:cNvPr id="19" name="Text 14"/>
          <p:cNvSpPr/>
          <p:nvPr/>
        </p:nvSpPr>
        <p:spPr>
          <a:xfrm>
            <a:off x="8394192" y="2350008"/>
            <a:ext cx="2843784" cy="2496312"/>
          </a:xfrm>
          <a:prstGeom prst="rect">
            <a:avLst/>
          </a:prstGeom>
          <a:noFill/>
          <a:ln/>
        </p:spPr>
        <p:txBody>
          <a:bodyPr wrap="square" lIns="254" tIns="254" rIns="254" bIns="254" rtlCol="0" anchor="t">
            <a:normAutofit/>
          </a:bodyPr>
          <a:lstStyle/>
          <a:p>
            <a:pPr indent="0" marL="0">
              <a:buNone/>
            </a:pPr>
            <a:r>
              <a:rPr lang="en-US" sz="1120" dirty="0">
                <a:solidFill>
                  <a:srgbClr val="5F7280"/>
                </a:solidFill>
                <a:latin typeface="Aptos" pitchFamily="34" charset="0"/>
                <a:ea typeface="Aptos" pitchFamily="34" charset="-122"/>
                <a:cs typeface="Aptos" pitchFamily="34" charset="-120"/>
              </a:rPr>
              <a:t>• Timestamp correlation</a:t>
            </a:r>
            <a:endParaRPr lang="en-US" sz="1120" dirty="0"/>
          </a:p>
          <a:p>
            <a:pPr indent="0" marL="0">
              <a:buNone/>
            </a:pPr>
            <a:r>
              <a:rPr lang="en-US" sz="1120" dirty="0">
                <a:solidFill>
                  <a:srgbClr val="5F7280"/>
                </a:solidFill>
                <a:latin typeface="Aptos" pitchFamily="34" charset="0"/>
                <a:ea typeface="Aptos" pitchFamily="34" charset="-122"/>
                <a:cs typeface="Aptos" pitchFamily="34" charset="-120"/>
              </a:rPr>
              <a:t>• Telemetry + tracking association</a:t>
            </a:r>
            <a:endParaRPr lang="en-US" sz="1120" dirty="0"/>
          </a:p>
          <a:p>
            <a:pPr indent="0" marL="0">
              <a:buNone/>
            </a:pPr>
            <a:r>
              <a:rPr lang="en-US" sz="1120" dirty="0">
                <a:solidFill>
                  <a:srgbClr val="5F7280"/>
                </a:solidFill>
                <a:latin typeface="Aptos" pitchFamily="34" charset="0"/>
                <a:ea typeface="Aptos" pitchFamily="34" charset="-122"/>
                <a:cs typeface="Aptos" pitchFamily="34" charset="-120"/>
              </a:rPr>
              <a:t>• Cross-sensor contact continuity</a:t>
            </a:r>
            <a:endParaRPr lang="en-US" sz="1120" dirty="0"/>
          </a:p>
          <a:p>
            <a:pPr indent="0" marL="0">
              <a:buNone/>
            </a:pPr>
            <a:r>
              <a:rPr lang="en-US" sz="1120" dirty="0">
                <a:solidFill>
                  <a:srgbClr val="5F7280"/>
                </a:solidFill>
                <a:latin typeface="Aptos" pitchFamily="34" charset="0"/>
                <a:ea typeface="Aptos" pitchFamily="34" charset="-122"/>
                <a:cs typeface="Aptos" pitchFamily="34" charset="-120"/>
              </a:rPr>
              <a:t>• Deeper fusion only after calibration and synchronized data are validated</a:t>
            </a:r>
            <a:endParaRPr lang="en-US" sz="1120" dirty="0"/>
          </a:p>
        </p:txBody>
      </p:sp>
      <p:sp>
        <p:nvSpPr>
          <p:cNvPr id="20" name="Text 15"/>
          <p:cNvSpPr/>
          <p:nvPr/>
        </p:nvSpPr>
        <p:spPr>
          <a:xfrm>
            <a:off x="1051560" y="5422392"/>
            <a:ext cx="10058400" cy="457200"/>
          </a:xfrm>
          <a:prstGeom prst="rect">
            <a:avLst/>
          </a:prstGeom>
          <a:noFill/>
          <a:ln/>
        </p:spPr>
        <p:txBody>
          <a:bodyPr wrap="square" lIns="0" tIns="0" rIns="0" bIns="0" rtlCol="0" anchor="ctr">
            <a:normAutofit/>
          </a:bodyPr>
          <a:lstStyle/>
          <a:p>
            <a:pPr algn="ctr" indent="0" marL="0">
              <a:buNone/>
            </a:pPr>
            <a:r>
              <a:rPr lang="en-US" sz="1400" b="1" dirty="0">
                <a:solidFill>
                  <a:srgbClr val="0B1F33"/>
                </a:solidFill>
              </a:rPr>
              <a:t>Small craft / unknown vessel is preferable to false fine-grained classification when aerial evidence is insufficient.</a:t>
            </a:r>
            <a:endParaRPr lang="en-US" sz="1400" dirty="0"/>
          </a:p>
        </p:txBody>
      </p:sp>
      <p:sp>
        <p:nvSpPr>
          <p:cNvPr id="25" name="Slide Number Placeholder 0"/>
          <p:cNvSpPr>
            <a:spLocks noGrp="1"/>
          </p:cNvSpPr>
          <p:nvPr>
            <p:ph type="sldNum" sz="quarter" idx="4294967295"/>
          </p:nvPr>
        </p:nvSpPr>
        <p:spPr>
          <a:xfrm>
            <a:off x="11631168" y="6547104"/>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B7D89"/>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758952"/>
            <a:ext cx="10972800" cy="438912"/>
          </a:xfrm>
          <a:prstGeom prst="rect">
            <a:avLst/>
          </a:prstGeom>
          <a:noFill/>
          <a:ln/>
        </p:spPr>
        <p:txBody>
          <a:bodyPr wrap="square" lIns="0" tIns="0" rIns="0" bIns="0" rtlCol="0" anchor="ctr">
            <a:normAutofit/>
          </a:bodyP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GIS, Telemetry, Alerts and Evidence</a:t>
            </a:r>
            <a:endParaRPr lang="en-US" sz="2500" dirty="0"/>
          </a:p>
        </p:txBody>
      </p:sp>
      <p:sp>
        <p:nvSpPr>
          <p:cNvPr id="3" name="Shape 1"/>
          <p:cNvSpPr/>
          <p:nvPr/>
        </p:nvSpPr>
        <p:spPr>
          <a:xfrm>
            <a:off x="566928" y="1243584"/>
            <a:ext cx="914400" cy="45720"/>
          </a:xfrm>
          <a:prstGeom prst="rect">
            <a:avLst/>
          </a:prstGeom>
          <a:solidFill>
            <a:srgbClr val="2A9D8F"/>
          </a:solidFill>
          <a:ln w="12700">
            <a:solidFill>
              <a:srgbClr val="2A9D8F"/>
            </a:solidFill>
            <a:prstDash val="solid"/>
          </a:ln>
        </p:spPr>
      </p:sp>
      <p:sp>
        <p:nvSpPr>
          <p:cNvPr id="4" name="Text 2"/>
          <p:cNvSpPr/>
          <p:nvPr/>
        </p:nvSpPr>
        <p:spPr>
          <a:xfrm>
            <a:off x="1600200" y="1115568"/>
            <a:ext cx="9784080" cy="228600"/>
          </a:xfrm>
          <a:prstGeom prst="rect">
            <a:avLst/>
          </a:prstGeom>
          <a:noFill/>
          <a:ln/>
        </p:spPr>
        <p:txBody>
          <a:bodyPr wrap="square" lIns="0" tIns="0" rIns="0" bIns="0" rtlCol="0" anchor="ctr">
            <a:normAutofit/>
          </a:bodyPr>
          <a:lstStyle/>
          <a:p>
            <a:pPr indent="0" marL="0">
              <a:buNone/>
            </a:pPr>
            <a:r>
              <a:rPr lang="en-US" sz="1050" dirty="0">
                <a:solidFill>
                  <a:srgbClr val="5F7280"/>
                </a:solidFill>
                <a:latin typeface="Aptos" pitchFamily="34" charset="0"/>
                <a:ea typeface="Aptos" pitchFamily="34" charset="-122"/>
                <a:cs typeface="Aptos" pitchFamily="34" charset="-120"/>
              </a:rPr>
              <a:t>Move from a visual detection to a location-linked, auditable operational record</a:t>
            </a:r>
            <a:endParaRPr lang="en-US" sz="1050" dirty="0"/>
          </a:p>
        </p:txBody>
      </p:sp>
      <p:sp>
        <p:nvSpPr>
          <p:cNvPr id="5" name="Shape 3"/>
          <p:cNvSpPr/>
          <p:nvPr/>
        </p:nvSpPr>
        <p:spPr>
          <a:xfrm>
            <a:off x="713232" y="1664208"/>
            <a:ext cx="2926080" cy="1298448"/>
          </a:xfrm>
          <a:prstGeom prst="roundRect">
            <a:avLst>
              <a:gd name="adj" fmla="val 5634"/>
            </a:avLst>
          </a:prstGeom>
          <a:solidFill>
            <a:srgbClr val="F4F8FC"/>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6" name="Shape 4"/>
          <p:cNvSpPr/>
          <p:nvPr/>
        </p:nvSpPr>
        <p:spPr>
          <a:xfrm>
            <a:off x="713232" y="1664208"/>
            <a:ext cx="64008" cy="1298448"/>
          </a:xfrm>
          <a:prstGeom prst="rect">
            <a:avLst/>
          </a:prstGeom>
          <a:solidFill>
            <a:srgbClr val="3F7CAC"/>
          </a:solidFill>
          <a:ln w="12700">
            <a:solidFill>
              <a:srgbClr val="3F7CAC"/>
            </a:solidFill>
            <a:prstDash val="solid"/>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4400" y="1865376"/>
            <a:ext cx="320040" cy="320040"/>
          </a:xfrm>
          <a:prstGeom prst="rect">
            <a:avLst/>
          </a:prstGeom>
        </p:spPr>
      </p:pic>
      <p:sp>
        <p:nvSpPr>
          <p:cNvPr id="8" name="Text 5"/>
          <p:cNvSpPr/>
          <p:nvPr/>
        </p:nvSpPr>
        <p:spPr>
          <a:xfrm>
            <a:off x="1335024" y="1828800"/>
            <a:ext cx="2103120" cy="329184"/>
          </a:xfrm>
          <a:prstGeom prst="rect">
            <a:avLst/>
          </a:prstGeom>
          <a:noFill/>
          <a:ln/>
        </p:spPr>
        <p:txBody>
          <a:bodyPr wrap="square" lIns="0" tIns="0" rIns="0" bIns="0" rtlCol="0" anchor="ctr">
            <a:normAutofit/>
          </a:bodyPr>
          <a:lstStyle/>
          <a:p>
            <a:pPr indent="0" marL="0">
              <a:buNone/>
            </a:pPr>
            <a:r>
              <a:rPr lang="en-US" sz="1500" b="1" dirty="0">
                <a:solidFill>
                  <a:srgbClr val="17313E"/>
                </a:solidFill>
                <a:latin typeface="Aptos Display" pitchFamily="34" charset="0"/>
                <a:ea typeface="Aptos Display" pitchFamily="34" charset="-122"/>
                <a:cs typeface="Aptos Display" pitchFamily="34" charset="-120"/>
              </a:rPr>
              <a:t>UAV Telemetry</a:t>
            </a:r>
            <a:endParaRPr lang="en-US" sz="1500" dirty="0"/>
          </a:p>
        </p:txBody>
      </p:sp>
      <p:sp>
        <p:nvSpPr>
          <p:cNvPr id="9" name="Text 6"/>
          <p:cNvSpPr/>
          <p:nvPr/>
        </p:nvSpPr>
        <p:spPr>
          <a:xfrm>
            <a:off x="914400" y="2322576"/>
            <a:ext cx="2523744" cy="457200"/>
          </a:xfrm>
          <a:prstGeom prst="rect">
            <a:avLst/>
          </a:prstGeom>
          <a:noFill/>
          <a:ln/>
        </p:spPr>
        <p:txBody>
          <a:bodyPr wrap="square" lIns="254" tIns="254" rIns="254" bIns="254" rtlCol="0" anchor="t">
            <a:normAutofit/>
          </a:bodyPr>
          <a:lstStyle/>
          <a:p>
            <a:pPr indent="0" marL="0">
              <a:buNone/>
            </a:pPr>
            <a:r>
              <a:rPr lang="en-US" sz="1050" dirty="0">
                <a:solidFill>
                  <a:srgbClr val="5F7280"/>
                </a:solidFill>
                <a:latin typeface="Aptos" pitchFamily="34" charset="0"/>
                <a:ea typeface="Aptos" pitchFamily="34" charset="-122"/>
                <a:cs typeface="Aptos" pitchFamily="34" charset="-120"/>
              </a:rPr>
              <a:t>GPS • altitude • heading • speed • drone ID • mission data</a:t>
            </a:r>
            <a:endParaRPr lang="en-US" sz="1050" dirty="0"/>
          </a:p>
        </p:txBody>
      </p:sp>
      <p:sp>
        <p:nvSpPr>
          <p:cNvPr id="10" name="Shape 7"/>
          <p:cNvSpPr/>
          <p:nvPr/>
        </p:nvSpPr>
        <p:spPr>
          <a:xfrm>
            <a:off x="713232" y="3182112"/>
            <a:ext cx="2926080" cy="1298448"/>
          </a:xfrm>
          <a:prstGeom prst="roundRect">
            <a:avLst>
              <a:gd name="adj" fmla="val 5634"/>
            </a:avLst>
          </a:prstGeom>
          <a:solidFill>
            <a:srgbClr val="F3FAF8"/>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11" name="Shape 8"/>
          <p:cNvSpPr/>
          <p:nvPr/>
        </p:nvSpPr>
        <p:spPr>
          <a:xfrm>
            <a:off x="713232" y="3182112"/>
            <a:ext cx="64008" cy="1298448"/>
          </a:xfrm>
          <a:prstGeom prst="rect">
            <a:avLst/>
          </a:prstGeom>
          <a:solidFill>
            <a:srgbClr val="2A9D8F"/>
          </a:solidFill>
          <a:ln w="12700">
            <a:solidFill>
              <a:srgbClr val="2A9D8F"/>
            </a:solidFill>
            <a:prstDash val="solid"/>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4400" y="3383280"/>
            <a:ext cx="320040" cy="320040"/>
          </a:xfrm>
          <a:prstGeom prst="rect">
            <a:avLst/>
          </a:prstGeom>
        </p:spPr>
      </p:pic>
      <p:sp>
        <p:nvSpPr>
          <p:cNvPr id="13" name="Text 9"/>
          <p:cNvSpPr/>
          <p:nvPr/>
        </p:nvSpPr>
        <p:spPr>
          <a:xfrm>
            <a:off x="1335024" y="3346704"/>
            <a:ext cx="2103120" cy="329184"/>
          </a:xfrm>
          <a:prstGeom prst="rect">
            <a:avLst/>
          </a:prstGeom>
          <a:noFill/>
          <a:ln/>
        </p:spPr>
        <p:txBody>
          <a:bodyPr wrap="square" lIns="0" tIns="0" rIns="0" bIns="0" rtlCol="0" anchor="ctr">
            <a:normAutofit/>
          </a:bodyPr>
          <a:lstStyle/>
          <a:p>
            <a:pPr indent="0" marL="0">
              <a:buNone/>
            </a:pPr>
            <a:r>
              <a:rPr lang="en-US" sz="1500" b="1" dirty="0">
                <a:solidFill>
                  <a:srgbClr val="17313E"/>
                </a:solidFill>
                <a:latin typeface="Aptos Display" pitchFamily="34" charset="0"/>
                <a:ea typeface="Aptos Display" pitchFamily="34" charset="-122"/>
                <a:cs typeface="Aptos Display" pitchFamily="34" charset="-120"/>
              </a:rPr>
              <a:t>Video Analytics</a:t>
            </a:r>
            <a:endParaRPr lang="en-US" sz="1500" dirty="0"/>
          </a:p>
        </p:txBody>
      </p:sp>
      <p:sp>
        <p:nvSpPr>
          <p:cNvPr id="14" name="Text 10"/>
          <p:cNvSpPr/>
          <p:nvPr/>
        </p:nvSpPr>
        <p:spPr>
          <a:xfrm>
            <a:off x="914400" y="3840480"/>
            <a:ext cx="2523744" cy="457200"/>
          </a:xfrm>
          <a:prstGeom prst="rect">
            <a:avLst/>
          </a:prstGeom>
          <a:noFill/>
          <a:ln/>
        </p:spPr>
        <p:txBody>
          <a:bodyPr wrap="square" lIns="254" tIns="254" rIns="254" bIns="254" rtlCol="0" anchor="t">
            <a:normAutofit/>
          </a:bodyPr>
          <a:lstStyle/>
          <a:p>
            <a:pPr indent="0" marL="0">
              <a:buNone/>
            </a:pPr>
            <a:r>
              <a:rPr lang="en-US" sz="1050" dirty="0">
                <a:solidFill>
                  <a:srgbClr val="5F7280"/>
                </a:solidFill>
                <a:latin typeface="Aptos" pitchFamily="34" charset="0"/>
                <a:ea typeface="Aptos" pitchFamily="34" charset="-122"/>
                <a:cs typeface="Aptos" pitchFamily="34" charset="-120"/>
              </a:rPr>
              <a:t>Detection • tracking • behaviour • persistent contact • confidence</a:t>
            </a:r>
            <a:endParaRPr lang="en-US" sz="1050" dirty="0"/>
          </a:p>
        </p:txBody>
      </p:sp>
      <p:sp>
        <p:nvSpPr>
          <p:cNvPr id="15" name="Shape 11"/>
          <p:cNvSpPr/>
          <p:nvPr/>
        </p:nvSpPr>
        <p:spPr>
          <a:xfrm>
            <a:off x="713232" y="4700016"/>
            <a:ext cx="2926080" cy="1298448"/>
          </a:xfrm>
          <a:prstGeom prst="roundRect">
            <a:avLst>
              <a:gd name="adj" fmla="val 5634"/>
            </a:avLst>
          </a:prstGeom>
          <a:solidFill>
            <a:srgbClr val="F4FAF6"/>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16" name="Shape 12"/>
          <p:cNvSpPr/>
          <p:nvPr/>
        </p:nvSpPr>
        <p:spPr>
          <a:xfrm>
            <a:off x="713232" y="4700016"/>
            <a:ext cx="64008" cy="1298448"/>
          </a:xfrm>
          <a:prstGeom prst="rect">
            <a:avLst/>
          </a:prstGeom>
          <a:solidFill>
            <a:srgbClr val="2F8F6D"/>
          </a:solidFill>
          <a:ln w="12700">
            <a:solidFill>
              <a:srgbClr val="2F8F6D"/>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4400" y="4901184"/>
            <a:ext cx="320040" cy="320040"/>
          </a:xfrm>
          <a:prstGeom prst="rect">
            <a:avLst/>
          </a:prstGeom>
        </p:spPr>
      </p:pic>
      <p:sp>
        <p:nvSpPr>
          <p:cNvPr id="18" name="Text 13"/>
          <p:cNvSpPr/>
          <p:nvPr/>
        </p:nvSpPr>
        <p:spPr>
          <a:xfrm>
            <a:off x="1335024" y="4864608"/>
            <a:ext cx="2103120" cy="329184"/>
          </a:xfrm>
          <a:prstGeom prst="rect">
            <a:avLst/>
          </a:prstGeom>
          <a:noFill/>
          <a:ln/>
        </p:spPr>
        <p:txBody>
          <a:bodyPr wrap="square" lIns="0" tIns="0" rIns="0" bIns="0" rtlCol="0" anchor="ctr">
            <a:normAutofit/>
          </a:bodyPr>
          <a:lstStyle/>
          <a:p>
            <a:pPr indent="0" marL="0">
              <a:buNone/>
            </a:pPr>
            <a:r>
              <a:rPr lang="en-US" sz="1500" b="1" dirty="0">
                <a:solidFill>
                  <a:srgbClr val="17313E"/>
                </a:solidFill>
                <a:latin typeface="Aptos Display" pitchFamily="34" charset="0"/>
                <a:ea typeface="Aptos Display" pitchFamily="34" charset="-122"/>
                <a:cs typeface="Aptos Display" pitchFamily="34" charset="-120"/>
              </a:rPr>
              <a:t>GIS / Operational Zones</a:t>
            </a:r>
            <a:endParaRPr lang="en-US" sz="1500" dirty="0"/>
          </a:p>
        </p:txBody>
      </p:sp>
      <p:sp>
        <p:nvSpPr>
          <p:cNvPr id="19" name="Text 14"/>
          <p:cNvSpPr/>
          <p:nvPr/>
        </p:nvSpPr>
        <p:spPr>
          <a:xfrm>
            <a:off x="914400" y="5358384"/>
            <a:ext cx="2523744" cy="457200"/>
          </a:xfrm>
          <a:prstGeom prst="rect">
            <a:avLst/>
          </a:prstGeom>
          <a:noFill/>
          <a:ln/>
        </p:spPr>
        <p:txBody>
          <a:bodyPr wrap="square" lIns="254" tIns="254" rIns="254" bIns="254" rtlCol="0" anchor="t">
            <a:normAutofit/>
          </a:bodyPr>
          <a:lstStyle/>
          <a:p>
            <a:pPr indent="0" marL="0">
              <a:buNone/>
            </a:pPr>
            <a:r>
              <a:rPr lang="en-US" sz="1050" dirty="0">
                <a:solidFill>
                  <a:srgbClr val="5F7280"/>
                </a:solidFill>
                <a:latin typeface="Aptos" pitchFamily="34" charset="0"/>
                <a:ea typeface="Aptos" pitchFamily="34" charset="-122"/>
                <a:cs typeface="Aptos" pitchFamily="34" charset="-120"/>
              </a:rPr>
              <a:t>Geofences • harbour • beach • tourism • fishing • restricted areas</a:t>
            </a:r>
            <a:endParaRPr lang="en-US" sz="1050" dirty="0"/>
          </a:p>
        </p:txBody>
      </p:sp>
      <p:sp>
        <p:nvSpPr>
          <p:cNvPr id="20" name="Shape 15"/>
          <p:cNvSpPr/>
          <p:nvPr/>
        </p:nvSpPr>
        <p:spPr>
          <a:xfrm>
            <a:off x="4160520" y="2907792"/>
            <a:ext cx="1225296" cy="1225296"/>
          </a:xfrm>
          <a:prstGeom prst="ellipse">
            <a:avLst/>
          </a:prstGeom>
          <a:solidFill>
            <a:srgbClr val="0B1F33"/>
          </a:solidFill>
          <a:ln w="12700">
            <a:solidFill>
              <a:srgbClr val="0B1F33"/>
            </a:solidFill>
            <a:prstDash val="solid"/>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17136" y="3255264"/>
            <a:ext cx="512064" cy="512064"/>
          </a:xfrm>
          <a:prstGeom prst="rect">
            <a:avLst/>
          </a:prstGeom>
        </p:spPr>
      </p:pic>
      <p:sp>
        <p:nvSpPr>
          <p:cNvPr id="22" name="Shape 16"/>
          <p:cNvSpPr/>
          <p:nvPr/>
        </p:nvSpPr>
        <p:spPr>
          <a:xfrm>
            <a:off x="3639312" y="2313432"/>
            <a:ext cx="521208" cy="905256"/>
          </a:xfrm>
          <a:prstGeom prst="line">
            <a:avLst/>
          </a:prstGeom>
          <a:noFill/>
          <a:ln w="17780">
            <a:solidFill>
              <a:srgbClr val="8BA9B7"/>
            </a:solidFill>
            <a:prstDash val="solid"/>
            <a:headEnd type="none"/>
            <a:tailEnd type="triangle"/>
          </a:ln>
        </p:spPr>
      </p:sp>
      <p:sp>
        <p:nvSpPr>
          <p:cNvPr id="23" name="Shape 17"/>
          <p:cNvSpPr/>
          <p:nvPr/>
        </p:nvSpPr>
        <p:spPr>
          <a:xfrm>
            <a:off x="3639312" y="3831336"/>
            <a:ext cx="521208" cy="-310896"/>
          </a:xfrm>
          <a:prstGeom prst="line">
            <a:avLst/>
          </a:prstGeom>
          <a:noFill/>
          <a:ln w="17780">
            <a:solidFill>
              <a:srgbClr val="8BA9B7"/>
            </a:solidFill>
            <a:prstDash val="solid"/>
            <a:headEnd type="none"/>
            <a:tailEnd type="triangle"/>
          </a:ln>
        </p:spPr>
      </p:sp>
      <p:sp>
        <p:nvSpPr>
          <p:cNvPr id="24" name="Shape 18"/>
          <p:cNvSpPr/>
          <p:nvPr/>
        </p:nvSpPr>
        <p:spPr>
          <a:xfrm>
            <a:off x="3639312" y="5349240"/>
            <a:ext cx="521208" cy="-1527048"/>
          </a:xfrm>
          <a:prstGeom prst="line">
            <a:avLst/>
          </a:prstGeom>
          <a:noFill/>
          <a:ln w="17780">
            <a:solidFill>
              <a:srgbClr val="8BA9B7"/>
            </a:solidFill>
            <a:prstDash val="solid"/>
            <a:headEnd type="none"/>
            <a:tailEnd type="triangle"/>
          </a:ln>
        </p:spPr>
      </p:sp>
      <p:sp>
        <p:nvSpPr>
          <p:cNvPr id="25" name="Shape 19"/>
          <p:cNvSpPr/>
          <p:nvPr/>
        </p:nvSpPr>
        <p:spPr>
          <a:xfrm>
            <a:off x="5806440" y="1783080"/>
            <a:ext cx="5394960" cy="4023360"/>
          </a:xfrm>
          <a:prstGeom prst="roundRect">
            <a:avLst>
              <a:gd name="adj" fmla="val 1818"/>
            </a:avLst>
          </a:prstGeom>
          <a:solidFill>
            <a:srgbClr val="FFFFFF"/>
          </a:solidFill>
          <a:ln w="15240">
            <a:solidFill>
              <a:srgbClr val="B8CBD4"/>
            </a:solidFill>
            <a:prstDash val="solid"/>
          </a:ln>
          <a:effectLst>
            <a:outerShdw sx="100000" sy="100000" kx="0" ky="0" algn="bl" rotWithShape="0" blurRad="12700" dist="50800" dir="2700000">
              <a:srgbClr val="AAB7C0">
                <a:alpha val="12000"/>
              </a:srgbClr>
            </a:outerShdw>
          </a:effectLst>
        </p:spPr>
      </p:sp>
      <p:sp>
        <p:nvSpPr>
          <p:cNvPr id="26" name="Text 20"/>
          <p:cNvSpPr/>
          <p:nvPr/>
        </p:nvSpPr>
        <p:spPr>
          <a:xfrm>
            <a:off x="6144768" y="2084832"/>
            <a:ext cx="4709160" cy="320040"/>
          </a:xfrm>
          <a:prstGeom prst="rect">
            <a:avLst/>
          </a:prstGeom>
          <a:noFill/>
          <a:ln/>
        </p:spPr>
        <p:txBody>
          <a:bodyPr wrap="square" lIns="0" tIns="0" rIns="0" bIns="0" rtlCol="0" anchor="ctr"/>
          <a:lstStyle/>
          <a:p>
            <a:pPr algn="ctr" indent="0" marL="0">
              <a:buNone/>
            </a:pPr>
            <a:r>
              <a:rPr lang="en-US" sz="1800" b="1" dirty="0">
                <a:solidFill>
                  <a:srgbClr val="0B1F33"/>
                </a:solidFill>
              </a:rPr>
              <a:t>Evidence-Linked Incident Record</a:t>
            </a:r>
            <a:endParaRPr lang="en-US" sz="1800" dirty="0"/>
          </a:p>
        </p:txBody>
      </p:sp>
      <p:pic>
        <p:nvPicPr>
          <p:cNvPr id="27"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72200" y="2779776"/>
            <a:ext cx="274320" cy="274320"/>
          </a:xfrm>
          <a:prstGeom prst="rect">
            <a:avLst/>
          </a:prstGeom>
        </p:spPr>
      </p:pic>
      <p:sp>
        <p:nvSpPr>
          <p:cNvPr id="28" name="Text 21"/>
          <p:cNvSpPr/>
          <p:nvPr/>
        </p:nvSpPr>
        <p:spPr>
          <a:xfrm>
            <a:off x="6556248" y="2788920"/>
            <a:ext cx="1920240" cy="329184"/>
          </a:xfrm>
          <a:prstGeom prst="rect">
            <a:avLst/>
          </a:prstGeom>
          <a:noFill/>
          <a:ln/>
        </p:spPr>
        <p:txBody>
          <a:bodyPr wrap="square" lIns="0" tIns="0" rIns="0" bIns="0" rtlCol="0" anchor="ctr">
            <a:normAutofit/>
          </a:bodyPr>
          <a:lstStyle/>
          <a:p>
            <a:pPr indent="0" marL="0">
              <a:buNone/>
            </a:pPr>
            <a:r>
              <a:rPr lang="en-US" sz="1030" b="1" dirty="0">
                <a:solidFill>
                  <a:srgbClr val="17313E"/>
                </a:solidFill>
              </a:rPr>
              <a:t>Alert type + priority</a:t>
            </a:r>
            <a:endParaRPr lang="en-US" sz="1030" dirty="0"/>
          </a:p>
        </p:txBody>
      </p:sp>
      <p:pic>
        <p:nvPicPr>
          <p:cNvPr id="29"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659368" y="2779776"/>
            <a:ext cx="274320" cy="274320"/>
          </a:xfrm>
          <a:prstGeom prst="rect">
            <a:avLst/>
          </a:prstGeom>
        </p:spPr>
      </p:pic>
      <p:sp>
        <p:nvSpPr>
          <p:cNvPr id="30" name="Text 22"/>
          <p:cNvSpPr/>
          <p:nvPr/>
        </p:nvSpPr>
        <p:spPr>
          <a:xfrm>
            <a:off x="9043416" y="2788920"/>
            <a:ext cx="1920240" cy="329184"/>
          </a:xfrm>
          <a:prstGeom prst="rect">
            <a:avLst/>
          </a:prstGeom>
          <a:noFill/>
          <a:ln/>
        </p:spPr>
        <p:txBody>
          <a:bodyPr wrap="square" lIns="0" tIns="0" rIns="0" bIns="0" rtlCol="0" anchor="ctr">
            <a:normAutofit/>
          </a:bodyPr>
          <a:lstStyle/>
          <a:p>
            <a:pPr indent="0" marL="0">
              <a:buNone/>
            </a:pPr>
            <a:r>
              <a:rPr lang="en-US" sz="1030" b="1" dirty="0">
                <a:solidFill>
                  <a:srgbClr val="17313E"/>
                </a:solidFill>
              </a:rPr>
              <a:t>Coordinates + zone context</a:t>
            </a:r>
            <a:endParaRPr lang="en-US" sz="1030" dirty="0"/>
          </a:p>
        </p:txBody>
      </p:sp>
      <p:pic>
        <p:nvPicPr>
          <p:cNvPr id="3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172200" y="3621024"/>
            <a:ext cx="274320" cy="274320"/>
          </a:xfrm>
          <a:prstGeom prst="rect">
            <a:avLst/>
          </a:prstGeom>
        </p:spPr>
      </p:pic>
      <p:sp>
        <p:nvSpPr>
          <p:cNvPr id="32" name="Text 23"/>
          <p:cNvSpPr/>
          <p:nvPr/>
        </p:nvSpPr>
        <p:spPr>
          <a:xfrm>
            <a:off x="6556248" y="3630168"/>
            <a:ext cx="1920240" cy="329184"/>
          </a:xfrm>
          <a:prstGeom prst="rect">
            <a:avLst/>
          </a:prstGeom>
          <a:noFill/>
          <a:ln/>
        </p:spPr>
        <p:txBody>
          <a:bodyPr wrap="square" lIns="0" tIns="0" rIns="0" bIns="0" rtlCol="0" anchor="ctr">
            <a:normAutofit/>
          </a:bodyPr>
          <a:lstStyle/>
          <a:p>
            <a:pPr indent="0" marL="0">
              <a:buNone/>
            </a:pPr>
            <a:r>
              <a:rPr lang="en-US" sz="1030" b="1" dirty="0">
                <a:solidFill>
                  <a:srgbClr val="17313E"/>
                </a:solidFill>
              </a:rPr>
              <a:t>Cognitive Keyframes + clips</a:t>
            </a:r>
            <a:endParaRPr lang="en-US" sz="1030" dirty="0"/>
          </a:p>
        </p:txBody>
      </p:sp>
      <p:pic>
        <p:nvPicPr>
          <p:cNvPr id="33"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659368" y="3621024"/>
            <a:ext cx="274320" cy="274320"/>
          </a:xfrm>
          <a:prstGeom prst="rect">
            <a:avLst/>
          </a:prstGeom>
        </p:spPr>
      </p:pic>
      <p:sp>
        <p:nvSpPr>
          <p:cNvPr id="34" name="Text 24"/>
          <p:cNvSpPr/>
          <p:nvPr/>
        </p:nvSpPr>
        <p:spPr>
          <a:xfrm>
            <a:off x="9043416" y="3630168"/>
            <a:ext cx="1920240" cy="329184"/>
          </a:xfrm>
          <a:prstGeom prst="rect">
            <a:avLst/>
          </a:prstGeom>
          <a:noFill/>
          <a:ln/>
        </p:spPr>
        <p:txBody>
          <a:bodyPr wrap="square" lIns="0" tIns="0" rIns="0" bIns="0" rtlCol="0" anchor="ctr">
            <a:normAutofit/>
          </a:bodyPr>
          <a:lstStyle/>
          <a:p>
            <a:pPr indent="0" marL="0">
              <a:buNone/>
            </a:pPr>
            <a:r>
              <a:rPr lang="en-US" sz="1030" b="1" dirty="0">
                <a:solidFill>
                  <a:srgbClr val="17313E"/>
                </a:solidFill>
              </a:rPr>
              <a:t>Persistent Contact history</a:t>
            </a:r>
            <a:endParaRPr lang="en-US" sz="1030" dirty="0"/>
          </a:p>
        </p:txBody>
      </p:sp>
      <p:pic>
        <p:nvPicPr>
          <p:cNvPr id="35"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172200" y="4462272"/>
            <a:ext cx="274320" cy="274320"/>
          </a:xfrm>
          <a:prstGeom prst="rect">
            <a:avLst/>
          </a:prstGeom>
        </p:spPr>
      </p:pic>
      <p:sp>
        <p:nvSpPr>
          <p:cNvPr id="36" name="Text 25"/>
          <p:cNvSpPr/>
          <p:nvPr/>
        </p:nvSpPr>
        <p:spPr>
          <a:xfrm>
            <a:off x="6556248" y="4471416"/>
            <a:ext cx="1920240" cy="329184"/>
          </a:xfrm>
          <a:prstGeom prst="rect">
            <a:avLst/>
          </a:prstGeom>
          <a:noFill/>
          <a:ln/>
        </p:spPr>
        <p:txBody>
          <a:bodyPr wrap="square" lIns="0" tIns="0" rIns="0" bIns="0" rtlCol="0" anchor="ctr">
            <a:normAutofit/>
          </a:bodyPr>
          <a:lstStyle/>
          <a:p>
            <a:pPr indent="0" marL="0">
              <a:buNone/>
            </a:pPr>
            <a:r>
              <a:rPr lang="en-US" sz="1030" b="1" dirty="0">
                <a:solidFill>
                  <a:srgbClr val="17313E"/>
                </a:solidFill>
              </a:rPr>
              <a:t>Operator actions + audit trail</a:t>
            </a:r>
            <a:endParaRPr lang="en-US" sz="1030" dirty="0"/>
          </a:p>
        </p:txBody>
      </p:sp>
      <p:pic>
        <p:nvPicPr>
          <p:cNvPr id="37"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659368" y="4462272"/>
            <a:ext cx="274320" cy="274320"/>
          </a:xfrm>
          <a:prstGeom prst="rect">
            <a:avLst/>
          </a:prstGeom>
        </p:spPr>
      </p:pic>
      <p:sp>
        <p:nvSpPr>
          <p:cNvPr id="38" name="Text 26"/>
          <p:cNvSpPr/>
          <p:nvPr/>
        </p:nvSpPr>
        <p:spPr>
          <a:xfrm>
            <a:off x="9043416" y="4471416"/>
            <a:ext cx="1920240" cy="329184"/>
          </a:xfrm>
          <a:prstGeom prst="rect">
            <a:avLst/>
          </a:prstGeom>
          <a:noFill/>
          <a:ln/>
        </p:spPr>
        <p:txBody>
          <a:bodyPr wrap="square" lIns="0" tIns="0" rIns="0" bIns="0" rtlCol="0" anchor="ctr">
            <a:normAutofit/>
          </a:bodyPr>
          <a:lstStyle/>
          <a:p>
            <a:pPr indent="0" marL="0">
              <a:buNone/>
            </a:pPr>
            <a:r>
              <a:rPr lang="en-US" sz="1030" b="1" dirty="0">
                <a:solidFill>
                  <a:srgbClr val="17313E"/>
                </a:solidFill>
              </a:rPr>
              <a:t>Model / software version provenance</a:t>
            </a:r>
            <a:endParaRPr lang="en-US" sz="1030" dirty="0"/>
          </a:p>
        </p:txBody>
      </p:sp>
      <p:sp>
        <p:nvSpPr>
          <p:cNvPr id="25" name="Slide Number Placeholder 0"/>
          <p:cNvSpPr>
            <a:spLocks noGrp="1"/>
          </p:cNvSpPr>
          <p:nvPr>
            <p:ph type="sldNum" sz="quarter" idx="4294967295"/>
          </p:nvPr>
        </p:nvSpPr>
        <p:spPr>
          <a:xfrm>
            <a:off x="11631168" y="6547104"/>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B7D89"/>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758952"/>
            <a:ext cx="10972800" cy="438912"/>
          </a:xfrm>
          <a:prstGeom prst="rect">
            <a:avLst/>
          </a:prstGeom>
          <a:noFill/>
          <a:ln/>
        </p:spPr>
        <p:txBody>
          <a:bodyPr wrap="square" lIns="0" tIns="0" rIns="0" bIns="0" rtlCol="0" anchor="ctr">
            <a:normAutofit/>
          </a:bodyP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Designed for the RFP Requirement of ≥20 Concurrent Drone Feeds</a:t>
            </a:r>
            <a:endParaRPr lang="en-US" sz="2500" dirty="0"/>
          </a:p>
        </p:txBody>
      </p:sp>
      <p:sp>
        <p:nvSpPr>
          <p:cNvPr id="3" name="Shape 1"/>
          <p:cNvSpPr/>
          <p:nvPr/>
        </p:nvSpPr>
        <p:spPr>
          <a:xfrm>
            <a:off x="566928" y="1243584"/>
            <a:ext cx="914400" cy="45720"/>
          </a:xfrm>
          <a:prstGeom prst="rect">
            <a:avLst/>
          </a:prstGeom>
          <a:solidFill>
            <a:srgbClr val="2A9D8F"/>
          </a:solidFill>
          <a:ln w="12700">
            <a:solidFill>
              <a:srgbClr val="2A9D8F"/>
            </a:solidFill>
            <a:prstDash val="solid"/>
          </a:ln>
        </p:spPr>
      </p:sp>
      <p:sp>
        <p:nvSpPr>
          <p:cNvPr id="4" name="Text 2"/>
          <p:cNvSpPr/>
          <p:nvPr/>
        </p:nvSpPr>
        <p:spPr>
          <a:xfrm>
            <a:off x="1600200" y="1115568"/>
            <a:ext cx="9784080" cy="228600"/>
          </a:xfrm>
          <a:prstGeom prst="rect">
            <a:avLst/>
          </a:prstGeom>
          <a:noFill/>
          <a:ln/>
        </p:spPr>
        <p:txBody>
          <a:bodyPr wrap="square" lIns="0" tIns="0" rIns="0" bIns="0" rtlCol="0" anchor="ctr">
            <a:normAutofit/>
          </a:bodyPr>
          <a:lstStyle/>
          <a:p>
            <a:pPr indent="0" marL="0">
              <a:buNone/>
            </a:pPr>
            <a:r>
              <a:rPr lang="en-US" sz="1050" dirty="0">
                <a:solidFill>
                  <a:srgbClr val="5F7280"/>
                </a:solidFill>
                <a:latin typeface="Aptos" pitchFamily="34" charset="0"/>
                <a:ea typeface="Aptos" pitchFamily="34" charset="-122"/>
                <a:cs typeface="Aptos" pitchFamily="34" charset="-120"/>
              </a:rPr>
              <a:t>Scalability is an architecture and resource-management problem — not a single-model claim</a:t>
            </a:r>
            <a:endParaRPr lang="en-US" sz="1050" dirty="0"/>
          </a:p>
        </p:txBody>
      </p:sp>
      <p:sp>
        <p:nvSpPr>
          <p:cNvPr id="5" name="Text 3"/>
          <p:cNvSpPr/>
          <p:nvPr/>
        </p:nvSpPr>
        <p:spPr>
          <a:xfrm>
            <a:off x="594360" y="1572768"/>
            <a:ext cx="2377440" cy="274320"/>
          </a:xfrm>
          <a:prstGeom prst="rect">
            <a:avLst/>
          </a:prstGeom>
          <a:noFill/>
          <a:ln/>
        </p:spPr>
        <p:txBody>
          <a:bodyPr wrap="square" lIns="0" tIns="0" rIns="0" bIns="0" rtlCol="0" anchor="ctr"/>
          <a:lstStyle/>
          <a:p>
            <a:pPr algn="ctr" indent="0" marL="0">
              <a:buNone/>
            </a:pPr>
            <a:r>
              <a:rPr lang="en-US" sz="1600" b="1" dirty="0">
                <a:solidFill>
                  <a:srgbClr val="0B1F33"/>
                </a:solidFill>
              </a:rPr>
              <a:t>20+ UAV feeds</a:t>
            </a:r>
            <a:endParaRPr lang="en-US" sz="1600" dirty="0"/>
          </a:p>
        </p:txBody>
      </p:sp>
      <p:sp>
        <p:nvSpPr>
          <p:cNvPr id="6" name="Shape 4"/>
          <p:cNvSpPr/>
          <p:nvPr/>
        </p:nvSpPr>
        <p:spPr>
          <a:xfrm>
            <a:off x="749808" y="1993392"/>
            <a:ext cx="420624" cy="384048"/>
          </a:xfrm>
          <a:prstGeom prst="roundRect">
            <a:avLst>
              <a:gd name="adj" fmla="val 7143"/>
            </a:avLst>
          </a:prstGeom>
          <a:solidFill>
            <a:srgbClr val="F4F6F8"/>
          </a:solidFill>
          <a:ln w="12700">
            <a:solidFill>
              <a:srgbClr val="BFD1DB"/>
            </a:solidFill>
            <a:prstDash val="solid"/>
          </a:ln>
        </p:spPr>
      </p:sp>
      <p:sp>
        <p:nvSpPr>
          <p:cNvPr id="7" name="Text 5"/>
          <p:cNvSpPr/>
          <p:nvPr/>
        </p:nvSpPr>
        <p:spPr>
          <a:xfrm>
            <a:off x="768096" y="2103120"/>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1</a:t>
            </a:r>
            <a:endParaRPr lang="en-US" sz="750" dirty="0"/>
          </a:p>
        </p:txBody>
      </p:sp>
      <p:sp>
        <p:nvSpPr>
          <p:cNvPr id="8" name="Shape 6"/>
          <p:cNvSpPr/>
          <p:nvPr/>
        </p:nvSpPr>
        <p:spPr>
          <a:xfrm>
            <a:off x="1280160" y="1993392"/>
            <a:ext cx="420624" cy="384048"/>
          </a:xfrm>
          <a:prstGeom prst="roundRect">
            <a:avLst>
              <a:gd name="adj" fmla="val 7143"/>
            </a:avLst>
          </a:prstGeom>
          <a:solidFill>
            <a:srgbClr val="EAF3F5"/>
          </a:solidFill>
          <a:ln w="12700">
            <a:solidFill>
              <a:srgbClr val="BFD1DB"/>
            </a:solidFill>
            <a:prstDash val="solid"/>
          </a:ln>
        </p:spPr>
      </p:sp>
      <p:sp>
        <p:nvSpPr>
          <p:cNvPr id="9" name="Text 7"/>
          <p:cNvSpPr/>
          <p:nvPr/>
        </p:nvSpPr>
        <p:spPr>
          <a:xfrm>
            <a:off x="1298448" y="2103120"/>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2</a:t>
            </a:r>
            <a:endParaRPr lang="en-US" sz="750" dirty="0"/>
          </a:p>
        </p:txBody>
      </p:sp>
      <p:sp>
        <p:nvSpPr>
          <p:cNvPr id="10" name="Shape 8"/>
          <p:cNvSpPr/>
          <p:nvPr/>
        </p:nvSpPr>
        <p:spPr>
          <a:xfrm>
            <a:off x="1810512" y="1993392"/>
            <a:ext cx="420624" cy="384048"/>
          </a:xfrm>
          <a:prstGeom prst="roundRect">
            <a:avLst>
              <a:gd name="adj" fmla="val 7143"/>
            </a:avLst>
          </a:prstGeom>
          <a:solidFill>
            <a:srgbClr val="F4F6F8"/>
          </a:solidFill>
          <a:ln w="12700">
            <a:solidFill>
              <a:srgbClr val="BFD1DB"/>
            </a:solidFill>
            <a:prstDash val="solid"/>
          </a:ln>
        </p:spPr>
      </p:sp>
      <p:sp>
        <p:nvSpPr>
          <p:cNvPr id="11" name="Text 9"/>
          <p:cNvSpPr/>
          <p:nvPr/>
        </p:nvSpPr>
        <p:spPr>
          <a:xfrm>
            <a:off x="1828800" y="2103120"/>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3</a:t>
            </a:r>
            <a:endParaRPr lang="en-US" sz="750" dirty="0"/>
          </a:p>
        </p:txBody>
      </p:sp>
      <p:sp>
        <p:nvSpPr>
          <p:cNvPr id="12" name="Shape 10"/>
          <p:cNvSpPr/>
          <p:nvPr/>
        </p:nvSpPr>
        <p:spPr>
          <a:xfrm>
            <a:off x="2340864" y="1993392"/>
            <a:ext cx="420624" cy="384048"/>
          </a:xfrm>
          <a:prstGeom prst="roundRect">
            <a:avLst>
              <a:gd name="adj" fmla="val 7143"/>
            </a:avLst>
          </a:prstGeom>
          <a:solidFill>
            <a:srgbClr val="EAF3F5"/>
          </a:solidFill>
          <a:ln w="12700">
            <a:solidFill>
              <a:srgbClr val="BFD1DB"/>
            </a:solidFill>
            <a:prstDash val="solid"/>
          </a:ln>
        </p:spPr>
      </p:sp>
      <p:sp>
        <p:nvSpPr>
          <p:cNvPr id="13" name="Text 11"/>
          <p:cNvSpPr/>
          <p:nvPr/>
        </p:nvSpPr>
        <p:spPr>
          <a:xfrm>
            <a:off x="2359152" y="2103120"/>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4</a:t>
            </a:r>
            <a:endParaRPr lang="en-US" sz="750" dirty="0"/>
          </a:p>
        </p:txBody>
      </p:sp>
      <p:sp>
        <p:nvSpPr>
          <p:cNvPr id="14" name="Shape 12"/>
          <p:cNvSpPr/>
          <p:nvPr/>
        </p:nvSpPr>
        <p:spPr>
          <a:xfrm>
            <a:off x="749808" y="2569464"/>
            <a:ext cx="420624" cy="384048"/>
          </a:xfrm>
          <a:prstGeom prst="roundRect">
            <a:avLst>
              <a:gd name="adj" fmla="val 7143"/>
            </a:avLst>
          </a:prstGeom>
          <a:solidFill>
            <a:srgbClr val="EAF3F5"/>
          </a:solidFill>
          <a:ln w="12700">
            <a:solidFill>
              <a:srgbClr val="BFD1DB"/>
            </a:solidFill>
            <a:prstDash val="solid"/>
          </a:ln>
        </p:spPr>
      </p:sp>
      <p:sp>
        <p:nvSpPr>
          <p:cNvPr id="15" name="Text 13"/>
          <p:cNvSpPr/>
          <p:nvPr/>
        </p:nvSpPr>
        <p:spPr>
          <a:xfrm>
            <a:off x="768096" y="2679192"/>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5</a:t>
            </a:r>
            <a:endParaRPr lang="en-US" sz="750" dirty="0"/>
          </a:p>
        </p:txBody>
      </p:sp>
      <p:sp>
        <p:nvSpPr>
          <p:cNvPr id="16" name="Shape 14"/>
          <p:cNvSpPr/>
          <p:nvPr/>
        </p:nvSpPr>
        <p:spPr>
          <a:xfrm>
            <a:off x="1280160" y="2569464"/>
            <a:ext cx="420624" cy="384048"/>
          </a:xfrm>
          <a:prstGeom prst="roundRect">
            <a:avLst>
              <a:gd name="adj" fmla="val 7143"/>
            </a:avLst>
          </a:prstGeom>
          <a:solidFill>
            <a:srgbClr val="F4F6F8"/>
          </a:solidFill>
          <a:ln w="12700">
            <a:solidFill>
              <a:srgbClr val="BFD1DB"/>
            </a:solidFill>
            <a:prstDash val="solid"/>
          </a:ln>
        </p:spPr>
      </p:sp>
      <p:sp>
        <p:nvSpPr>
          <p:cNvPr id="17" name="Text 15"/>
          <p:cNvSpPr/>
          <p:nvPr/>
        </p:nvSpPr>
        <p:spPr>
          <a:xfrm>
            <a:off x="1298448" y="2679192"/>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6</a:t>
            </a:r>
            <a:endParaRPr lang="en-US" sz="750" dirty="0"/>
          </a:p>
        </p:txBody>
      </p:sp>
      <p:sp>
        <p:nvSpPr>
          <p:cNvPr id="18" name="Shape 16"/>
          <p:cNvSpPr/>
          <p:nvPr/>
        </p:nvSpPr>
        <p:spPr>
          <a:xfrm>
            <a:off x="1810512" y="2569464"/>
            <a:ext cx="420624" cy="384048"/>
          </a:xfrm>
          <a:prstGeom prst="roundRect">
            <a:avLst>
              <a:gd name="adj" fmla="val 7143"/>
            </a:avLst>
          </a:prstGeom>
          <a:solidFill>
            <a:srgbClr val="EAF3F5"/>
          </a:solidFill>
          <a:ln w="12700">
            <a:solidFill>
              <a:srgbClr val="BFD1DB"/>
            </a:solidFill>
            <a:prstDash val="solid"/>
          </a:ln>
        </p:spPr>
      </p:sp>
      <p:sp>
        <p:nvSpPr>
          <p:cNvPr id="19" name="Text 17"/>
          <p:cNvSpPr/>
          <p:nvPr/>
        </p:nvSpPr>
        <p:spPr>
          <a:xfrm>
            <a:off x="1828800" y="2679192"/>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7</a:t>
            </a:r>
            <a:endParaRPr lang="en-US" sz="750" dirty="0"/>
          </a:p>
        </p:txBody>
      </p:sp>
      <p:sp>
        <p:nvSpPr>
          <p:cNvPr id="20" name="Shape 18"/>
          <p:cNvSpPr/>
          <p:nvPr/>
        </p:nvSpPr>
        <p:spPr>
          <a:xfrm>
            <a:off x="2340864" y="2569464"/>
            <a:ext cx="420624" cy="384048"/>
          </a:xfrm>
          <a:prstGeom prst="roundRect">
            <a:avLst>
              <a:gd name="adj" fmla="val 7143"/>
            </a:avLst>
          </a:prstGeom>
          <a:solidFill>
            <a:srgbClr val="F4F6F8"/>
          </a:solidFill>
          <a:ln w="12700">
            <a:solidFill>
              <a:srgbClr val="BFD1DB"/>
            </a:solidFill>
            <a:prstDash val="solid"/>
          </a:ln>
        </p:spPr>
      </p:sp>
      <p:sp>
        <p:nvSpPr>
          <p:cNvPr id="21" name="Text 19"/>
          <p:cNvSpPr/>
          <p:nvPr/>
        </p:nvSpPr>
        <p:spPr>
          <a:xfrm>
            <a:off x="2359152" y="2679192"/>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8</a:t>
            </a:r>
            <a:endParaRPr lang="en-US" sz="750" dirty="0"/>
          </a:p>
        </p:txBody>
      </p:sp>
      <p:sp>
        <p:nvSpPr>
          <p:cNvPr id="22" name="Shape 20"/>
          <p:cNvSpPr/>
          <p:nvPr/>
        </p:nvSpPr>
        <p:spPr>
          <a:xfrm>
            <a:off x="749808" y="3145536"/>
            <a:ext cx="420624" cy="384048"/>
          </a:xfrm>
          <a:prstGeom prst="roundRect">
            <a:avLst>
              <a:gd name="adj" fmla="val 7143"/>
            </a:avLst>
          </a:prstGeom>
          <a:solidFill>
            <a:srgbClr val="F4F6F8"/>
          </a:solidFill>
          <a:ln w="12700">
            <a:solidFill>
              <a:srgbClr val="BFD1DB"/>
            </a:solidFill>
            <a:prstDash val="solid"/>
          </a:ln>
        </p:spPr>
      </p:sp>
      <p:sp>
        <p:nvSpPr>
          <p:cNvPr id="23" name="Text 21"/>
          <p:cNvSpPr/>
          <p:nvPr/>
        </p:nvSpPr>
        <p:spPr>
          <a:xfrm>
            <a:off x="768096" y="3255264"/>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9</a:t>
            </a:r>
            <a:endParaRPr lang="en-US" sz="750" dirty="0"/>
          </a:p>
        </p:txBody>
      </p:sp>
      <p:sp>
        <p:nvSpPr>
          <p:cNvPr id="24" name="Shape 22"/>
          <p:cNvSpPr/>
          <p:nvPr/>
        </p:nvSpPr>
        <p:spPr>
          <a:xfrm>
            <a:off x="1280160" y="3145536"/>
            <a:ext cx="420624" cy="384048"/>
          </a:xfrm>
          <a:prstGeom prst="roundRect">
            <a:avLst>
              <a:gd name="adj" fmla="val 7143"/>
            </a:avLst>
          </a:prstGeom>
          <a:solidFill>
            <a:srgbClr val="EAF3F5"/>
          </a:solidFill>
          <a:ln w="12700">
            <a:solidFill>
              <a:srgbClr val="BFD1DB"/>
            </a:solidFill>
            <a:prstDash val="solid"/>
          </a:ln>
        </p:spPr>
      </p:sp>
      <p:sp>
        <p:nvSpPr>
          <p:cNvPr id="25" name="Text 23"/>
          <p:cNvSpPr/>
          <p:nvPr/>
        </p:nvSpPr>
        <p:spPr>
          <a:xfrm>
            <a:off x="1298448" y="3255264"/>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10</a:t>
            </a:r>
            <a:endParaRPr lang="en-US" sz="750" dirty="0"/>
          </a:p>
        </p:txBody>
      </p:sp>
      <p:sp>
        <p:nvSpPr>
          <p:cNvPr id="26" name="Shape 24"/>
          <p:cNvSpPr/>
          <p:nvPr/>
        </p:nvSpPr>
        <p:spPr>
          <a:xfrm>
            <a:off x="1810512" y="3145536"/>
            <a:ext cx="420624" cy="384048"/>
          </a:xfrm>
          <a:prstGeom prst="roundRect">
            <a:avLst>
              <a:gd name="adj" fmla="val 7143"/>
            </a:avLst>
          </a:prstGeom>
          <a:solidFill>
            <a:srgbClr val="F4F6F8"/>
          </a:solidFill>
          <a:ln w="12700">
            <a:solidFill>
              <a:srgbClr val="BFD1DB"/>
            </a:solidFill>
            <a:prstDash val="solid"/>
          </a:ln>
        </p:spPr>
      </p:sp>
      <p:sp>
        <p:nvSpPr>
          <p:cNvPr id="27" name="Text 25"/>
          <p:cNvSpPr/>
          <p:nvPr/>
        </p:nvSpPr>
        <p:spPr>
          <a:xfrm>
            <a:off x="1828800" y="3255264"/>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11</a:t>
            </a:r>
            <a:endParaRPr lang="en-US" sz="750" dirty="0"/>
          </a:p>
        </p:txBody>
      </p:sp>
      <p:sp>
        <p:nvSpPr>
          <p:cNvPr id="28" name="Shape 26"/>
          <p:cNvSpPr/>
          <p:nvPr/>
        </p:nvSpPr>
        <p:spPr>
          <a:xfrm>
            <a:off x="2340864" y="3145536"/>
            <a:ext cx="420624" cy="384048"/>
          </a:xfrm>
          <a:prstGeom prst="roundRect">
            <a:avLst>
              <a:gd name="adj" fmla="val 7143"/>
            </a:avLst>
          </a:prstGeom>
          <a:solidFill>
            <a:srgbClr val="EAF3F5"/>
          </a:solidFill>
          <a:ln w="12700">
            <a:solidFill>
              <a:srgbClr val="BFD1DB"/>
            </a:solidFill>
            <a:prstDash val="solid"/>
          </a:ln>
        </p:spPr>
      </p:sp>
      <p:sp>
        <p:nvSpPr>
          <p:cNvPr id="29" name="Text 27"/>
          <p:cNvSpPr/>
          <p:nvPr/>
        </p:nvSpPr>
        <p:spPr>
          <a:xfrm>
            <a:off x="2359152" y="3255264"/>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12</a:t>
            </a:r>
            <a:endParaRPr lang="en-US" sz="750" dirty="0"/>
          </a:p>
        </p:txBody>
      </p:sp>
      <p:sp>
        <p:nvSpPr>
          <p:cNvPr id="30" name="Shape 28"/>
          <p:cNvSpPr/>
          <p:nvPr/>
        </p:nvSpPr>
        <p:spPr>
          <a:xfrm>
            <a:off x="749808" y="3721608"/>
            <a:ext cx="420624" cy="384048"/>
          </a:xfrm>
          <a:prstGeom prst="roundRect">
            <a:avLst>
              <a:gd name="adj" fmla="val 7143"/>
            </a:avLst>
          </a:prstGeom>
          <a:solidFill>
            <a:srgbClr val="EAF3F5"/>
          </a:solidFill>
          <a:ln w="12700">
            <a:solidFill>
              <a:srgbClr val="BFD1DB"/>
            </a:solidFill>
            <a:prstDash val="solid"/>
          </a:ln>
        </p:spPr>
      </p:sp>
      <p:sp>
        <p:nvSpPr>
          <p:cNvPr id="31" name="Text 29"/>
          <p:cNvSpPr/>
          <p:nvPr/>
        </p:nvSpPr>
        <p:spPr>
          <a:xfrm>
            <a:off x="768096" y="3831336"/>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13</a:t>
            </a:r>
            <a:endParaRPr lang="en-US" sz="750" dirty="0"/>
          </a:p>
        </p:txBody>
      </p:sp>
      <p:sp>
        <p:nvSpPr>
          <p:cNvPr id="32" name="Shape 30"/>
          <p:cNvSpPr/>
          <p:nvPr/>
        </p:nvSpPr>
        <p:spPr>
          <a:xfrm>
            <a:off x="1280160" y="3721608"/>
            <a:ext cx="420624" cy="384048"/>
          </a:xfrm>
          <a:prstGeom prst="roundRect">
            <a:avLst>
              <a:gd name="adj" fmla="val 7143"/>
            </a:avLst>
          </a:prstGeom>
          <a:solidFill>
            <a:srgbClr val="F4F6F8"/>
          </a:solidFill>
          <a:ln w="12700">
            <a:solidFill>
              <a:srgbClr val="BFD1DB"/>
            </a:solidFill>
            <a:prstDash val="solid"/>
          </a:ln>
        </p:spPr>
      </p:sp>
      <p:sp>
        <p:nvSpPr>
          <p:cNvPr id="33" name="Text 31"/>
          <p:cNvSpPr/>
          <p:nvPr/>
        </p:nvSpPr>
        <p:spPr>
          <a:xfrm>
            <a:off x="1298448" y="3831336"/>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14</a:t>
            </a:r>
            <a:endParaRPr lang="en-US" sz="750" dirty="0"/>
          </a:p>
        </p:txBody>
      </p:sp>
      <p:sp>
        <p:nvSpPr>
          <p:cNvPr id="34" name="Shape 32"/>
          <p:cNvSpPr/>
          <p:nvPr/>
        </p:nvSpPr>
        <p:spPr>
          <a:xfrm>
            <a:off x="1810512" y="3721608"/>
            <a:ext cx="420624" cy="384048"/>
          </a:xfrm>
          <a:prstGeom prst="roundRect">
            <a:avLst>
              <a:gd name="adj" fmla="val 7143"/>
            </a:avLst>
          </a:prstGeom>
          <a:solidFill>
            <a:srgbClr val="EAF3F5"/>
          </a:solidFill>
          <a:ln w="12700">
            <a:solidFill>
              <a:srgbClr val="BFD1DB"/>
            </a:solidFill>
            <a:prstDash val="solid"/>
          </a:ln>
        </p:spPr>
      </p:sp>
      <p:sp>
        <p:nvSpPr>
          <p:cNvPr id="35" name="Text 33"/>
          <p:cNvSpPr/>
          <p:nvPr/>
        </p:nvSpPr>
        <p:spPr>
          <a:xfrm>
            <a:off x="1828800" y="3831336"/>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15</a:t>
            </a:r>
            <a:endParaRPr lang="en-US" sz="750" dirty="0"/>
          </a:p>
        </p:txBody>
      </p:sp>
      <p:sp>
        <p:nvSpPr>
          <p:cNvPr id="36" name="Shape 34"/>
          <p:cNvSpPr/>
          <p:nvPr/>
        </p:nvSpPr>
        <p:spPr>
          <a:xfrm>
            <a:off x="2340864" y="3721608"/>
            <a:ext cx="420624" cy="384048"/>
          </a:xfrm>
          <a:prstGeom prst="roundRect">
            <a:avLst>
              <a:gd name="adj" fmla="val 7143"/>
            </a:avLst>
          </a:prstGeom>
          <a:solidFill>
            <a:srgbClr val="F4F6F8"/>
          </a:solidFill>
          <a:ln w="12700">
            <a:solidFill>
              <a:srgbClr val="BFD1DB"/>
            </a:solidFill>
            <a:prstDash val="solid"/>
          </a:ln>
        </p:spPr>
      </p:sp>
      <p:sp>
        <p:nvSpPr>
          <p:cNvPr id="37" name="Text 35"/>
          <p:cNvSpPr/>
          <p:nvPr/>
        </p:nvSpPr>
        <p:spPr>
          <a:xfrm>
            <a:off x="2359152" y="3831336"/>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16</a:t>
            </a:r>
            <a:endParaRPr lang="en-US" sz="750" dirty="0"/>
          </a:p>
        </p:txBody>
      </p:sp>
      <p:sp>
        <p:nvSpPr>
          <p:cNvPr id="38" name="Shape 36"/>
          <p:cNvSpPr/>
          <p:nvPr/>
        </p:nvSpPr>
        <p:spPr>
          <a:xfrm>
            <a:off x="749808" y="4297680"/>
            <a:ext cx="420624" cy="384048"/>
          </a:xfrm>
          <a:prstGeom prst="roundRect">
            <a:avLst>
              <a:gd name="adj" fmla="val 7143"/>
            </a:avLst>
          </a:prstGeom>
          <a:solidFill>
            <a:srgbClr val="F4F6F8"/>
          </a:solidFill>
          <a:ln w="12700">
            <a:solidFill>
              <a:srgbClr val="BFD1DB"/>
            </a:solidFill>
            <a:prstDash val="solid"/>
          </a:ln>
        </p:spPr>
      </p:sp>
      <p:sp>
        <p:nvSpPr>
          <p:cNvPr id="39" name="Text 37"/>
          <p:cNvSpPr/>
          <p:nvPr/>
        </p:nvSpPr>
        <p:spPr>
          <a:xfrm>
            <a:off x="768096" y="4407408"/>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17</a:t>
            </a:r>
            <a:endParaRPr lang="en-US" sz="750" dirty="0"/>
          </a:p>
        </p:txBody>
      </p:sp>
      <p:sp>
        <p:nvSpPr>
          <p:cNvPr id="40" name="Shape 38"/>
          <p:cNvSpPr/>
          <p:nvPr/>
        </p:nvSpPr>
        <p:spPr>
          <a:xfrm>
            <a:off x="1280160" y="4297680"/>
            <a:ext cx="420624" cy="384048"/>
          </a:xfrm>
          <a:prstGeom prst="roundRect">
            <a:avLst>
              <a:gd name="adj" fmla="val 7143"/>
            </a:avLst>
          </a:prstGeom>
          <a:solidFill>
            <a:srgbClr val="EAF3F5"/>
          </a:solidFill>
          <a:ln w="12700">
            <a:solidFill>
              <a:srgbClr val="BFD1DB"/>
            </a:solidFill>
            <a:prstDash val="solid"/>
          </a:ln>
        </p:spPr>
      </p:sp>
      <p:sp>
        <p:nvSpPr>
          <p:cNvPr id="41" name="Text 39"/>
          <p:cNvSpPr/>
          <p:nvPr/>
        </p:nvSpPr>
        <p:spPr>
          <a:xfrm>
            <a:off x="1298448" y="4407408"/>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18</a:t>
            </a:r>
            <a:endParaRPr lang="en-US" sz="750" dirty="0"/>
          </a:p>
        </p:txBody>
      </p:sp>
      <p:sp>
        <p:nvSpPr>
          <p:cNvPr id="42" name="Shape 40"/>
          <p:cNvSpPr/>
          <p:nvPr/>
        </p:nvSpPr>
        <p:spPr>
          <a:xfrm>
            <a:off x="1810512" y="4297680"/>
            <a:ext cx="420624" cy="384048"/>
          </a:xfrm>
          <a:prstGeom prst="roundRect">
            <a:avLst>
              <a:gd name="adj" fmla="val 7143"/>
            </a:avLst>
          </a:prstGeom>
          <a:solidFill>
            <a:srgbClr val="F4F6F8"/>
          </a:solidFill>
          <a:ln w="12700">
            <a:solidFill>
              <a:srgbClr val="BFD1DB"/>
            </a:solidFill>
            <a:prstDash val="solid"/>
          </a:ln>
        </p:spPr>
      </p:sp>
      <p:sp>
        <p:nvSpPr>
          <p:cNvPr id="43" name="Text 41"/>
          <p:cNvSpPr/>
          <p:nvPr/>
        </p:nvSpPr>
        <p:spPr>
          <a:xfrm>
            <a:off x="1828800" y="4407408"/>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19</a:t>
            </a:r>
            <a:endParaRPr lang="en-US" sz="750" dirty="0"/>
          </a:p>
        </p:txBody>
      </p:sp>
      <p:sp>
        <p:nvSpPr>
          <p:cNvPr id="44" name="Shape 42"/>
          <p:cNvSpPr/>
          <p:nvPr/>
        </p:nvSpPr>
        <p:spPr>
          <a:xfrm>
            <a:off x="2340864" y="4297680"/>
            <a:ext cx="420624" cy="384048"/>
          </a:xfrm>
          <a:prstGeom prst="roundRect">
            <a:avLst>
              <a:gd name="adj" fmla="val 7143"/>
            </a:avLst>
          </a:prstGeom>
          <a:solidFill>
            <a:srgbClr val="EAF3F5"/>
          </a:solidFill>
          <a:ln w="12700">
            <a:solidFill>
              <a:srgbClr val="BFD1DB"/>
            </a:solidFill>
            <a:prstDash val="solid"/>
          </a:ln>
        </p:spPr>
      </p:sp>
      <p:sp>
        <p:nvSpPr>
          <p:cNvPr id="45" name="Text 43"/>
          <p:cNvSpPr/>
          <p:nvPr/>
        </p:nvSpPr>
        <p:spPr>
          <a:xfrm>
            <a:off x="2359152" y="4407408"/>
            <a:ext cx="384048" cy="128016"/>
          </a:xfrm>
          <a:prstGeom prst="rect">
            <a:avLst/>
          </a:prstGeom>
          <a:noFill/>
          <a:ln/>
        </p:spPr>
        <p:txBody>
          <a:bodyPr wrap="square" lIns="0" tIns="0" rIns="0" bIns="0" rtlCol="0" anchor="ctr"/>
          <a:lstStyle/>
          <a:p>
            <a:pPr algn="ctr" indent="0" marL="0">
              <a:buNone/>
            </a:pPr>
            <a:r>
              <a:rPr lang="en-US" sz="750" b="1" dirty="0">
                <a:solidFill>
                  <a:srgbClr val="5F7280"/>
                </a:solidFill>
              </a:rPr>
              <a:t>20</a:t>
            </a:r>
            <a:endParaRPr lang="en-US" sz="750" dirty="0"/>
          </a:p>
        </p:txBody>
      </p:sp>
      <p:sp>
        <p:nvSpPr>
          <p:cNvPr id="46" name="Shape 44"/>
          <p:cNvSpPr/>
          <p:nvPr/>
        </p:nvSpPr>
        <p:spPr>
          <a:xfrm>
            <a:off x="3337560" y="1783080"/>
            <a:ext cx="2331720" cy="1060704"/>
          </a:xfrm>
          <a:prstGeom prst="roundRect">
            <a:avLst>
              <a:gd name="adj" fmla="val 6897"/>
            </a:avLst>
          </a:prstGeom>
          <a:solidFill>
            <a:srgbClr val="FFFFFF"/>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47" name="Shape 45"/>
          <p:cNvSpPr/>
          <p:nvPr/>
        </p:nvSpPr>
        <p:spPr>
          <a:xfrm>
            <a:off x="3337560" y="1783080"/>
            <a:ext cx="64008" cy="1060704"/>
          </a:xfrm>
          <a:prstGeom prst="rect">
            <a:avLst/>
          </a:prstGeom>
          <a:solidFill>
            <a:srgbClr val="3F7CAC"/>
          </a:solidFill>
          <a:ln w="12700">
            <a:solidFill>
              <a:srgbClr val="3F7CAC"/>
            </a:solidFill>
            <a:prstDash val="solid"/>
          </a:ln>
        </p:spPr>
      </p:sp>
      <p:pic>
        <p:nvPicPr>
          <p:cNvPr id="4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38728" y="1984248"/>
            <a:ext cx="320040" cy="320040"/>
          </a:xfrm>
          <a:prstGeom prst="rect">
            <a:avLst/>
          </a:prstGeom>
        </p:spPr>
      </p:pic>
      <p:sp>
        <p:nvSpPr>
          <p:cNvPr id="49" name="Text 46"/>
          <p:cNvSpPr/>
          <p:nvPr/>
        </p:nvSpPr>
        <p:spPr>
          <a:xfrm>
            <a:off x="3959352" y="1947672"/>
            <a:ext cx="1508760" cy="329184"/>
          </a:xfrm>
          <a:prstGeom prst="rect">
            <a:avLst/>
          </a:prstGeom>
          <a:noFill/>
          <a:ln/>
        </p:spPr>
        <p:txBody>
          <a:bodyPr wrap="square" lIns="0" tIns="0" rIns="0" bIns="0" rtlCol="0" anchor="ctr">
            <a:normAutofit/>
          </a:bodyPr>
          <a:lstStyle/>
          <a:p>
            <a:pPr indent="0" marL="0">
              <a:buNone/>
            </a:pPr>
            <a:r>
              <a:rPr lang="en-US" sz="1300" b="1" dirty="0">
                <a:solidFill>
                  <a:srgbClr val="17313E"/>
                </a:solidFill>
                <a:latin typeface="Aptos Display" pitchFamily="34" charset="0"/>
                <a:ea typeface="Aptos Display" pitchFamily="34" charset="-122"/>
                <a:cs typeface="Aptos Display" pitchFamily="34" charset="-120"/>
              </a:rPr>
              <a:t>Ingestion + Health</a:t>
            </a:r>
            <a:endParaRPr lang="en-US" sz="1300" dirty="0"/>
          </a:p>
        </p:txBody>
      </p:sp>
      <p:sp>
        <p:nvSpPr>
          <p:cNvPr id="50" name="Text 47"/>
          <p:cNvSpPr/>
          <p:nvPr/>
        </p:nvSpPr>
        <p:spPr>
          <a:xfrm>
            <a:off x="3538728" y="2441448"/>
            <a:ext cx="1929384" cy="219456"/>
          </a:xfrm>
          <a:prstGeom prst="rect">
            <a:avLst/>
          </a:prstGeom>
          <a:noFill/>
          <a:ln/>
        </p:spPr>
        <p:txBody>
          <a:bodyPr wrap="square" lIns="254" tIns="254" rIns="254" bIns="254" rtlCol="0" anchor="t">
            <a:normAutofit/>
          </a:bodyPr>
          <a:lstStyle/>
          <a:p>
            <a:pPr indent="0" marL="0">
              <a:buNone/>
            </a:pPr>
            <a:r>
              <a:rPr lang="en-US" sz="930" dirty="0">
                <a:solidFill>
                  <a:srgbClr val="5F7280"/>
                </a:solidFill>
                <a:latin typeface="Aptos" pitchFamily="34" charset="0"/>
                <a:ea typeface="Aptos" pitchFamily="34" charset="-122"/>
                <a:cs typeface="Aptos" pitchFamily="34" charset="-120"/>
              </a:rPr>
              <a:t>Normalize streams and detect source degradation</a:t>
            </a:r>
            <a:endParaRPr lang="en-US" sz="930" dirty="0"/>
          </a:p>
        </p:txBody>
      </p:sp>
      <p:sp>
        <p:nvSpPr>
          <p:cNvPr id="51" name="Shape 48"/>
          <p:cNvSpPr/>
          <p:nvPr/>
        </p:nvSpPr>
        <p:spPr>
          <a:xfrm>
            <a:off x="3337560" y="3054096"/>
            <a:ext cx="2331720" cy="1060704"/>
          </a:xfrm>
          <a:prstGeom prst="roundRect">
            <a:avLst>
              <a:gd name="adj" fmla="val 6897"/>
            </a:avLst>
          </a:prstGeom>
          <a:solidFill>
            <a:srgbClr val="FFFFFF"/>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52" name="Shape 49"/>
          <p:cNvSpPr/>
          <p:nvPr/>
        </p:nvSpPr>
        <p:spPr>
          <a:xfrm>
            <a:off x="3337560" y="3054096"/>
            <a:ext cx="64008" cy="1060704"/>
          </a:xfrm>
          <a:prstGeom prst="rect">
            <a:avLst/>
          </a:prstGeom>
          <a:solidFill>
            <a:srgbClr val="2A9D8F"/>
          </a:solidFill>
          <a:ln w="12700">
            <a:solidFill>
              <a:srgbClr val="2A9D8F"/>
            </a:solidFill>
            <a:prstDash val="solid"/>
          </a:ln>
        </p:spPr>
      </p:sp>
      <p:pic>
        <p:nvPicPr>
          <p:cNvPr id="5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38728" y="3255264"/>
            <a:ext cx="320040" cy="320040"/>
          </a:xfrm>
          <a:prstGeom prst="rect">
            <a:avLst/>
          </a:prstGeom>
        </p:spPr>
      </p:pic>
      <p:sp>
        <p:nvSpPr>
          <p:cNvPr id="54" name="Text 50"/>
          <p:cNvSpPr/>
          <p:nvPr/>
        </p:nvSpPr>
        <p:spPr>
          <a:xfrm>
            <a:off x="3959352" y="3218688"/>
            <a:ext cx="1508760" cy="329184"/>
          </a:xfrm>
          <a:prstGeom prst="rect">
            <a:avLst/>
          </a:prstGeom>
          <a:noFill/>
          <a:ln/>
        </p:spPr>
        <p:txBody>
          <a:bodyPr wrap="square" lIns="0" tIns="0" rIns="0" bIns="0" rtlCol="0" anchor="ctr">
            <a:normAutofit/>
          </a:bodyPr>
          <a:lstStyle/>
          <a:p>
            <a:pPr indent="0" marL="0">
              <a:buNone/>
            </a:pPr>
            <a:r>
              <a:rPr lang="en-US" sz="1300" b="1" dirty="0">
                <a:solidFill>
                  <a:srgbClr val="17313E"/>
                </a:solidFill>
                <a:latin typeface="Aptos Display" pitchFamily="34" charset="0"/>
                <a:ea typeface="Aptos Display" pitchFamily="34" charset="-122"/>
                <a:cs typeface="Aptos Display" pitchFamily="34" charset="-120"/>
              </a:rPr>
              <a:t>Cognitive Frame Selection</a:t>
            </a:r>
            <a:endParaRPr lang="en-US" sz="1300" dirty="0"/>
          </a:p>
        </p:txBody>
      </p:sp>
      <p:sp>
        <p:nvSpPr>
          <p:cNvPr id="55" name="Text 51"/>
          <p:cNvSpPr/>
          <p:nvPr/>
        </p:nvSpPr>
        <p:spPr>
          <a:xfrm>
            <a:off x="3538728" y="3712464"/>
            <a:ext cx="1929384" cy="219456"/>
          </a:xfrm>
          <a:prstGeom prst="rect">
            <a:avLst/>
          </a:prstGeom>
          <a:noFill/>
          <a:ln/>
        </p:spPr>
        <p:txBody>
          <a:bodyPr wrap="square" lIns="254" tIns="254" rIns="254" bIns="254" rtlCol="0" anchor="t">
            <a:normAutofit/>
          </a:bodyPr>
          <a:lstStyle/>
          <a:p>
            <a:pPr indent="0" marL="0">
              <a:buNone/>
            </a:pPr>
            <a:r>
              <a:rPr lang="en-US" sz="930" dirty="0">
                <a:solidFill>
                  <a:srgbClr val="5F7280"/>
                </a:solidFill>
                <a:latin typeface="Aptos" pitchFamily="34" charset="0"/>
                <a:ea typeface="Aptos" pitchFamily="34" charset="-122"/>
                <a:cs typeface="Aptos" pitchFamily="34" charset="-120"/>
              </a:rPr>
              <a:t>Prioritize informative frames / windows</a:t>
            </a:r>
            <a:endParaRPr lang="en-US" sz="930" dirty="0"/>
          </a:p>
        </p:txBody>
      </p:sp>
      <p:sp>
        <p:nvSpPr>
          <p:cNvPr id="56" name="Shape 52"/>
          <p:cNvSpPr/>
          <p:nvPr/>
        </p:nvSpPr>
        <p:spPr>
          <a:xfrm>
            <a:off x="3337560" y="4325112"/>
            <a:ext cx="2331720" cy="1060704"/>
          </a:xfrm>
          <a:prstGeom prst="roundRect">
            <a:avLst>
              <a:gd name="adj" fmla="val 6897"/>
            </a:avLst>
          </a:prstGeom>
          <a:solidFill>
            <a:srgbClr val="FFFFFF"/>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57" name="Shape 53"/>
          <p:cNvSpPr/>
          <p:nvPr/>
        </p:nvSpPr>
        <p:spPr>
          <a:xfrm>
            <a:off x="3337560" y="4325112"/>
            <a:ext cx="64008" cy="1060704"/>
          </a:xfrm>
          <a:prstGeom prst="rect">
            <a:avLst/>
          </a:prstGeom>
          <a:solidFill>
            <a:srgbClr val="E69A45"/>
          </a:solidFill>
          <a:ln w="12700">
            <a:solidFill>
              <a:srgbClr val="E69A45"/>
            </a:solidFill>
            <a:prstDash val="solid"/>
          </a:ln>
        </p:spPr>
      </p:sp>
      <p:pic>
        <p:nvPicPr>
          <p:cNvPr id="5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538728" y="4526280"/>
            <a:ext cx="320040" cy="320040"/>
          </a:xfrm>
          <a:prstGeom prst="rect">
            <a:avLst/>
          </a:prstGeom>
        </p:spPr>
      </p:pic>
      <p:sp>
        <p:nvSpPr>
          <p:cNvPr id="59" name="Text 54"/>
          <p:cNvSpPr/>
          <p:nvPr/>
        </p:nvSpPr>
        <p:spPr>
          <a:xfrm>
            <a:off x="3959352" y="4489704"/>
            <a:ext cx="1508760" cy="329184"/>
          </a:xfrm>
          <a:prstGeom prst="rect">
            <a:avLst/>
          </a:prstGeom>
          <a:noFill/>
          <a:ln/>
        </p:spPr>
        <p:txBody>
          <a:bodyPr wrap="square" lIns="0" tIns="0" rIns="0" bIns="0" rtlCol="0" anchor="ctr">
            <a:normAutofit/>
          </a:bodyPr>
          <a:lstStyle/>
          <a:p>
            <a:pPr indent="0" marL="0">
              <a:buNone/>
            </a:pPr>
            <a:r>
              <a:rPr lang="en-US" sz="1300" b="1" dirty="0">
                <a:solidFill>
                  <a:srgbClr val="17313E"/>
                </a:solidFill>
                <a:latin typeface="Aptos Display" pitchFamily="34" charset="0"/>
                <a:ea typeface="Aptos Display" pitchFamily="34" charset="-122"/>
                <a:cs typeface="Aptos Display" pitchFamily="34" charset="-120"/>
              </a:rPr>
              <a:t>Resource-Aware Scheduling</a:t>
            </a:r>
            <a:endParaRPr lang="en-US" sz="1300" dirty="0"/>
          </a:p>
        </p:txBody>
      </p:sp>
      <p:sp>
        <p:nvSpPr>
          <p:cNvPr id="60" name="Text 55"/>
          <p:cNvSpPr/>
          <p:nvPr/>
        </p:nvSpPr>
        <p:spPr>
          <a:xfrm>
            <a:off x="3538728" y="4983480"/>
            <a:ext cx="1929384" cy="219456"/>
          </a:xfrm>
          <a:prstGeom prst="rect">
            <a:avLst/>
          </a:prstGeom>
          <a:noFill/>
          <a:ln/>
        </p:spPr>
        <p:txBody>
          <a:bodyPr wrap="square" lIns="254" tIns="254" rIns="254" bIns="254" rtlCol="0" anchor="t">
            <a:normAutofit/>
          </a:bodyPr>
          <a:lstStyle/>
          <a:p>
            <a:pPr indent="0" marL="0">
              <a:buNone/>
            </a:pPr>
            <a:r>
              <a:rPr lang="en-US" sz="930" dirty="0">
                <a:solidFill>
                  <a:srgbClr val="5F7280"/>
                </a:solidFill>
                <a:latin typeface="Aptos" pitchFamily="34" charset="0"/>
                <a:ea typeface="Aptos" pitchFamily="34" charset="-122"/>
                <a:cs typeface="Aptos" pitchFamily="34" charset="-120"/>
              </a:rPr>
              <a:t>Assign model profile and compute path</a:t>
            </a:r>
            <a:endParaRPr lang="en-US" sz="930" dirty="0"/>
          </a:p>
        </p:txBody>
      </p:sp>
      <p:sp>
        <p:nvSpPr>
          <p:cNvPr id="61" name="Shape 56"/>
          <p:cNvSpPr/>
          <p:nvPr/>
        </p:nvSpPr>
        <p:spPr>
          <a:xfrm>
            <a:off x="2788920" y="3319272"/>
            <a:ext cx="548640" cy="0"/>
          </a:xfrm>
          <a:prstGeom prst="line">
            <a:avLst/>
          </a:prstGeom>
          <a:noFill/>
          <a:ln w="22860">
            <a:solidFill>
              <a:srgbClr val="8BA9B7"/>
            </a:solidFill>
            <a:prstDash val="solid"/>
            <a:headEnd type="none"/>
            <a:tailEnd type="triangle"/>
          </a:ln>
        </p:spPr>
      </p:sp>
      <p:sp>
        <p:nvSpPr>
          <p:cNvPr id="62" name="Shape 57"/>
          <p:cNvSpPr/>
          <p:nvPr/>
        </p:nvSpPr>
        <p:spPr>
          <a:xfrm>
            <a:off x="6400800" y="1874520"/>
            <a:ext cx="2377440" cy="1417320"/>
          </a:xfrm>
          <a:prstGeom prst="roundRect">
            <a:avLst>
              <a:gd name="adj" fmla="val 5161"/>
            </a:avLst>
          </a:prstGeom>
          <a:solidFill>
            <a:srgbClr val="F2FAF8"/>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63" name="Shape 58"/>
          <p:cNvSpPr/>
          <p:nvPr/>
        </p:nvSpPr>
        <p:spPr>
          <a:xfrm>
            <a:off x="6400800" y="1874520"/>
            <a:ext cx="64008" cy="1417320"/>
          </a:xfrm>
          <a:prstGeom prst="rect">
            <a:avLst/>
          </a:prstGeom>
          <a:solidFill>
            <a:srgbClr val="0F6B6F"/>
          </a:solidFill>
          <a:ln w="12700">
            <a:solidFill>
              <a:srgbClr val="0F6B6F"/>
            </a:solidFill>
            <a:prstDash val="solid"/>
          </a:ln>
        </p:spPr>
      </p:sp>
      <p:pic>
        <p:nvPicPr>
          <p:cNvPr id="64"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01968" y="2075688"/>
            <a:ext cx="320040" cy="320040"/>
          </a:xfrm>
          <a:prstGeom prst="rect">
            <a:avLst/>
          </a:prstGeom>
        </p:spPr>
      </p:pic>
      <p:sp>
        <p:nvSpPr>
          <p:cNvPr id="65" name="Text 59"/>
          <p:cNvSpPr/>
          <p:nvPr/>
        </p:nvSpPr>
        <p:spPr>
          <a:xfrm>
            <a:off x="7022592" y="2039112"/>
            <a:ext cx="1554480" cy="329184"/>
          </a:xfrm>
          <a:prstGeom prst="rect">
            <a:avLst/>
          </a:prstGeom>
          <a:noFill/>
          <a:ln/>
        </p:spPr>
        <p:txBody>
          <a:bodyPr wrap="square" lIns="0" tIns="0" rIns="0" bIns="0" rtlCol="0" anchor="ctr">
            <a:normAutofit/>
          </a:bodyPr>
          <a:lstStyle/>
          <a:p>
            <a:pPr indent="0" marL="0">
              <a:buNone/>
            </a:pPr>
            <a:r>
              <a:rPr lang="en-US" sz="1500" b="1" dirty="0">
                <a:solidFill>
                  <a:srgbClr val="17313E"/>
                </a:solidFill>
                <a:latin typeface="Aptos Display" pitchFamily="34" charset="0"/>
                <a:ea typeface="Aptos Display" pitchFamily="34" charset="-122"/>
                <a:cs typeface="Aptos Display" pitchFamily="34" charset="-120"/>
              </a:rPr>
              <a:t>Central GPU</a:t>
            </a:r>
            <a:endParaRPr lang="en-US" sz="1500" dirty="0"/>
          </a:p>
        </p:txBody>
      </p:sp>
      <p:sp>
        <p:nvSpPr>
          <p:cNvPr id="66" name="Text 60"/>
          <p:cNvSpPr/>
          <p:nvPr/>
        </p:nvSpPr>
        <p:spPr>
          <a:xfrm>
            <a:off x="6601968" y="2532888"/>
            <a:ext cx="1975104" cy="576072"/>
          </a:xfrm>
          <a:prstGeom prst="rect">
            <a:avLst/>
          </a:prstGeom>
          <a:noFill/>
          <a:ln/>
        </p:spPr>
        <p:txBody>
          <a:bodyPr wrap="square" lIns="254" tIns="254" rIns="254" bIns="254" rtlCol="0" anchor="t">
            <a:normAutofit/>
          </a:bodyPr>
          <a:lstStyle/>
          <a:p>
            <a:pPr indent="0" marL="0">
              <a:buNone/>
            </a:pPr>
            <a:r>
              <a:rPr lang="en-US" sz="1050" dirty="0">
                <a:solidFill>
                  <a:srgbClr val="5F7280"/>
                </a:solidFill>
                <a:latin typeface="Aptos" pitchFamily="34" charset="0"/>
                <a:ea typeface="Aptos" pitchFamily="34" charset="-122"/>
                <a:cs typeface="Aptos" pitchFamily="34" charset="-120"/>
              </a:rPr>
              <a:t>Preferred for full-scale, multi-feed, high-throughput inference</a:t>
            </a:r>
            <a:endParaRPr lang="en-US" sz="1050" dirty="0"/>
          </a:p>
        </p:txBody>
      </p:sp>
      <p:sp>
        <p:nvSpPr>
          <p:cNvPr id="67" name="Shape 61"/>
          <p:cNvSpPr/>
          <p:nvPr/>
        </p:nvSpPr>
        <p:spPr>
          <a:xfrm>
            <a:off x="6400800" y="3794760"/>
            <a:ext cx="2377440" cy="1417320"/>
          </a:xfrm>
          <a:prstGeom prst="roundRect">
            <a:avLst>
              <a:gd name="adj" fmla="val 5161"/>
            </a:avLst>
          </a:prstGeom>
          <a:solidFill>
            <a:srgbClr val="F3F8FC"/>
          </a:solidFill>
          <a:ln w="12700">
            <a:solidFill>
              <a:srgbClr val="C7D6DF"/>
            </a:solidFill>
            <a:prstDash val="solid"/>
          </a:ln>
          <a:effectLst>
            <a:outerShdw sx="100000" sy="100000" kx="0" ky="0" algn="bl" rotWithShape="0" blurRad="12700" dist="50800" dir="2700000">
              <a:srgbClr val="AAB7C0">
                <a:alpha val="12000"/>
              </a:srgbClr>
            </a:outerShdw>
          </a:effectLst>
        </p:spPr>
      </p:sp>
      <p:sp>
        <p:nvSpPr>
          <p:cNvPr id="68" name="Shape 62"/>
          <p:cNvSpPr/>
          <p:nvPr/>
        </p:nvSpPr>
        <p:spPr>
          <a:xfrm>
            <a:off x="6400800" y="3794760"/>
            <a:ext cx="64008" cy="1417320"/>
          </a:xfrm>
          <a:prstGeom prst="rect">
            <a:avLst/>
          </a:prstGeom>
          <a:solidFill>
            <a:srgbClr val="3F7CAC"/>
          </a:solidFill>
          <a:ln w="12700">
            <a:solidFill>
              <a:srgbClr val="3F7CAC"/>
            </a:solidFill>
            <a:prstDash val="solid"/>
          </a:ln>
        </p:spPr>
      </p:sp>
      <p:pic>
        <p:nvPicPr>
          <p:cNvPr id="6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01968" y="3995928"/>
            <a:ext cx="320040" cy="320040"/>
          </a:xfrm>
          <a:prstGeom prst="rect">
            <a:avLst/>
          </a:prstGeom>
        </p:spPr>
      </p:pic>
      <p:sp>
        <p:nvSpPr>
          <p:cNvPr id="70" name="Text 63"/>
          <p:cNvSpPr/>
          <p:nvPr/>
        </p:nvSpPr>
        <p:spPr>
          <a:xfrm>
            <a:off x="7022592" y="3959352"/>
            <a:ext cx="1554480" cy="329184"/>
          </a:xfrm>
          <a:prstGeom prst="rect">
            <a:avLst/>
          </a:prstGeom>
          <a:noFill/>
          <a:ln/>
        </p:spPr>
        <p:txBody>
          <a:bodyPr wrap="square" lIns="0" tIns="0" rIns="0" bIns="0" rtlCol="0" anchor="ctr">
            <a:normAutofit/>
          </a:bodyPr>
          <a:lstStyle/>
          <a:p>
            <a:pPr indent="0" marL="0">
              <a:buNone/>
            </a:pPr>
            <a:r>
              <a:rPr lang="en-US" sz="1500" b="1" dirty="0">
                <a:solidFill>
                  <a:srgbClr val="17313E"/>
                </a:solidFill>
                <a:latin typeface="Aptos Display" pitchFamily="34" charset="0"/>
                <a:ea typeface="Aptos Display" pitchFamily="34" charset="-122"/>
                <a:cs typeface="Aptos Display" pitchFamily="34" charset="-120"/>
              </a:rPr>
              <a:t>Validated Edge Profiles</a:t>
            </a:r>
            <a:endParaRPr lang="en-US" sz="1500" dirty="0"/>
          </a:p>
        </p:txBody>
      </p:sp>
      <p:sp>
        <p:nvSpPr>
          <p:cNvPr id="71" name="Text 64"/>
          <p:cNvSpPr/>
          <p:nvPr/>
        </p:nvSpPr>
        <p:spPr>
          <a:xfrm>
            <a:off x="6601968" y="4453128"/>
            <a:ext cx="1975104" cy="576072"/>
          </a:xfrm>
          <a:prstGeom prst="rect">
            <a:avLst/>
          </a:prstGeom>
          <a:noFill/>
          <a:ln/>
        </p:spPr>
        <p:txBody>
          <a:bodyPr wrap="square" lIns="254" tIns="254" rIns="254" bIns="254" rtlCol="0" anchor="t">
            <a:normAutofit/>
          </a:bodyPr>
          <a:lstStyle/>
          <a:p>
            <a:pPr indent="0" marL="0">
              <a:buNone/>
            </a:pPr>
            <a:r>
              <a:rPr lang="en-US" sz="1050" dirty="0">
                <a:solidFill>
                  <a:srgbClr val="5F7280"/>
                </a:solidFill>
                <a:latin typeface="Aptos" pitchFamily="34" charset="0"/>
                <a:ea typeface="Aptos" pitchFamily="34" charset="-122"/>
                <a:cs typeface="Aptos" pitchFamily="34" charset="-120"/>
              </a:rPr>
              <a:t>Limited-feed / bandwidth-constrained or post-mission processing</a:t>
            </a:r>
            <a:endParaRPr lang="en-US" sz="1050" dirty="0"/>
          </a:p>
        </p:txBody>
      </p:sp>
      <p:sp>
        <p:nvSpPr>
          <p:cNvPr id="72" name="Shape 65"/>
          <p:cNvSpPr/>
          <p:nvPr/>
        </p:nvSpPr>
        <p:spPr>
          <a:xfrm>
            <a:off x="5669280" y="3703320"/>
            <a:ext cx="731520" cy="-1106424"/>
          </a:xfrm>
          <a:prstGeom prst="line">
            <a:avLst/>
          </a:prstGeom>
          <a:noFill/>
          <a:ln w="19050">
            <a:solidFill>
              <a:srgbClr val="8BA9B7"/>
            </a:solidFill>
            <a:prstDash val="solid"/>
            <a:headEnd type="none"/>
            <a:tailEnd type="triangle"/>
          </a:ln>
        </p:spPr>
      </p:sp>
      <p:sp>
        <p:nvSpPr>
          <p:cNvPr id="73" name="Shape 66"/>
          <p:cNvSpPr/>
          <p:nvPr/>
        </p:nvSpPr>
        <p:spPr>
          <a:xfrm>
            <a:off x="5669280" y="3703320"/>
            <a:ext cx="731520" cy="795528"/>
          </a:xfrm>
          <a:prstGeom prst="line">
            <a:avLst/>
          </a:prstGeom>
          <a:noFill/>
          <a:ln w="19050">
            <a:solidFill>
              <a:srgbClr val="8BA9B7"/>
            </a:solidFill>
            <a:prstDash val="solid"/>
            <a:headEnd type="none"/>
            <a:tailEnd type="triangle"/>
          </a:ln>
        </p:spPr>
      </p:sp>
      <p:sp>
        <p:nvSpPr>
          <p:cNvPr id="74" name="Shape 67"/>
          <p:cNvSpPr/>
          <p:nvPr/>
        </p:nvSpPr>
        <p:spPr>
          <a:xfrm>
            <a:off x="9308592" y="2542032"/>
            <a:ext cx="2212848" cy="1920240"/>
          </a:xfrm>
          <a:prstGeom prst="roundRect">
            <a:avLst>
              <a:gd name="adj" fmla="val 3333"/>
            </a:avLst>
          </a:prstGeom>
          <a:solidFill>
            <a:srgbClr val="0B1F33"/>
          </a:solidFill>
          <a:ln w="12700">
            <a:solidFill>
              <a:srgbClr val="0B1F33"/>
            </a:solidFill>
            <a:prstDash val="solid"/>
          </a:ln>
        </p:spPr>
      </p:sp>
      <p:pic>
        <p:nvPicPr>
          <p:cNvPr id="75"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067544" y="2907792"/>
            <a:ext cx="658368" cy="658368"/>
          </a:xfrm>
          <a:prstGeom prst="rect">
            <a:avLst/>
          </a:prstGeom>
        </p:spPr>
      </p:pic>
      <p:sp>
        <p:nvSpPr>
          <p:cNvPr id="76" name="Text 68"/>
          <p:cNvSpPr/>
          <p:nvPr/>
        </p:nvSpPr>
        <p:spPr>
          <a:xfrm>
            <a:off x="9555480" y="3721608"/>
            <a:ext cx="1737360" cy="475488"/>
          </a:xfrm>
          <a:prstGeom prst="rect">
            <a:avLst/>
          </a:prstGeom>
          <a:noFill/>
          <a:ln/>
        </p:spPr>
        <p:txBody>
          <a:bodyPr wrap="square" lIns="0" tIns="0" rIns="0" bIns="0" rtlCol="0" anchor="ctr">
            <a:normAutofit/>
          </a:bodyPr>
          <a:lstStyle/>
          <a:p>
            <a:pPr algn="ctr" indent="0" marL="0">
              <a:buNone/>
            </a:pPr>
            <a:r>
              <a:rPr lang="en-US" sz="1300" b="1" dirty="0">
                <a:solidFill>
                  <a:srgbClr val="FFFFFF"/>
                </a:solidFill>
              </a:rPr>
              <a:t>Centralized</a:t>
            </a:r>
            <a:endParaRPr lang="en-US" sz="1300" dirty="0"/>
          </a:p>
          <a:p>
            <a:pPr algn="ctr" indent="0" marL="0">
              <a:buNone/>
            </a:pPr>
            <a:r>
              <a:rPr lang="en-US" sz="1300" b="1" dirty="0">
                <a:solidFill>
                  <a:srgbClr val="FFFFFF"/>
                </a:solidFill>
              </a:rPr>
              <a:t>Operational Platform</a:t>
            </a:r>
            <a:endParaRPr lang="en-US" sz="1300" dirty="0"/>
          </a:p>
        </p:txBody>
      </p:sp>
      <p:sp>
        <p:nvSpPr>
          <p:cNvPr id="77" name="Shape 69"/>
          <p:cNvSpPr/>
          <p:nvPr/>
        </p:nvSpPr>
        <p:spPr>
          <a:xfrm>
            <a:off x="8778240" y="2880360"/>
            <a:ext cx="530352" cy="365760"/>
          </a:xfrm>
          <a:prstGeom prst="line">
            <a:avLst/>
          </a:prstGeom>
          <a:noFill/>
          <a:ln w="20320">
            <a:solidFill>
              <a:srgbClr val="2A9D8F"/>
            </a:solidFill>
            <a:prstDash val="solid"/>
            <a:headEnd type="none"/>
            <a:tailEnd type="triangle"/>
          </a:ln>
        </p:spPr>
      </p:sp>
      <p:sp>
        <p:nvSpPr>
          <p:cNvPr id="78" name="Shape 70"/>
          <p:cNvSpPr/>
          <p:nvPr/>
        </p:nvSpPr>
        <p:spPr>
          <a:xfrm>
            <a:off x="8778240" y="4507992"/>
            <a:ext cx="530352" cy="-777240"/>
          </a:xfrm>
          <a:prstGeom prst="line">
            <a:avLst/>
          </a:prstGeom>
          <a:noFill/>
          <a:ln w="20320">
            <a:solidFill>
              <a:srgbClr val="3F7CAC"/>
            </a:solidFill>
            <a:prstDash val="solid"/>
            <a:headEnd type="none"/>
            <a:tailEnd type="triangle"/>
          </a:ln>
        </p:spPr>
      </p:sp>
      <p:sp>
        <p:nvSpPr>
          <p:cNvPr id="79" name="Text 71"/>
          <p:cNvSpPr/>
          <p:nvPr/>
        </p:nvSpPr>
        <p:spPr>
          <a:xfrm>
            <a:off x="2514600" y="5806440"/>
            <a:ext cx="7498080" cy="347472"/>
          </a:xfrm>
          <a:prstGeom prst="rect">
            <a:avLst/>
          </a:prstGeom>
          <a:noFill/>
          <a:ln/>
        </p:spPr>
        <p:txBody>
          <a:bodyPr wrap="square" lIns="0" tIns="0" rIns="0" bIns="0" rtlCol="0" anchor="ctr">
            <a:normAutofit/>
          </a:bodyPr>
          <a:lstStyle/>
          <a:p>
            <a:pPr algn="ctr" indent="0" marL="0">
              <a:buNone/>
            </a:pPr>
            <a:r>
              <a:rPr lang="en-US" sz="1230" b="1" dirty="0">
                <a:solidFill>
                  <a:srgbClr val="0B1F33"/>
                </a:solidFill>
              </a:rPr>
              <a:t>Formal 20-feed operating envelope will be benchmarked on the approved production infrastructure.</a:t>
            </a:r>
            <a:endParaRPr lang="en-US" sz="1230" dirty="0"/>
          </a:p>
        </p:txBody>
      </p:sp>
      <p:sp>
        <p:nvSpPr>
          <p:cNvPr id="25" name="Slide Number Placeholder 0"/>
          <p:cNvSpPr>
            <a:spLocks noGrp="1"/>
          </p:cNvSpPr>
          <p:nvPr>
            <p:ph type="sldNum" sz="quarter" idx="4294967295"/>
          </p:nvPr>
        </p:nvSpPr>
        <p:spPr>
          <a:xfrm>
            <a:off x="11631168" y="6547104"/>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B7D89"/>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758952"/>
            <a:ext cx="10972800" cy="438912"/>
          </a:xfrm>
          <a:prstGeom prst="rect">
            <a:avLst/>
          </a:prstGeom>
          <a:noFill/>
          <a:ln/>
        </p:spPr>
        <p:txBody>
          <a:bodyPr wrap="square" lIns="0" tIns="0" rIns="0" bIns="0" rtlCol="0" anchor="ctr">
            <a:normAutofit/>
          </a:bodyP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Sustainable AI Model Strategy</a:t>
            </a:r>
            <a:endParaRPr lang="en-US" sz="2500" dirty="0"/>
          </a:p>
        </p:txBody>
      </p:sp>
      <p:sp>
        <p:nvSpPr>
          <p:cNvPr id="3" name="Shape 1"/>
          <p:cNvSpPr/>
          <p:nvPr/>
        </p:nvSpPr>
        <p:spPr>
          <a:xfrm>
            <a:off x="566928" y="1243584"/>
            <a:ext cx="914400" cy="45720"/>
          </a:xfrm>
          <a:prstGeom prst="rect">
            <a:avLst/>
          </a:prstGeom>
          <a:solidFill>
            <a:srgbClr val="2A9D8F"/>
          </a:solidFill>
          <a:ln w="12700">
            <a:solidFill>
              <a:srgbClr val="2A9D8F"/>
            </a:solidFill>
            <a:prstDash val="solid"/>
          </a:ln>
        </p:spPr>
      </p:sp>
      <p:sp>
        <p:nvSpPr>
          <p:cNvPr id="4" name="Text 2"/>
          <p:cNvSpPr/>
          <p:nvPr/>
        </p:nvSpPr>
        <p:spPr>
          <a:xfrm>
            <a:off x="1600200" y="1115568"/>
            <a:ext cx="9784080" cy="228600"/>
          </a:xfrm>
          <a:prstGeom prst="rect">
            <a:avLst/>
          </a:prstGeom>
          <a:noFill/>
          <a:ln/>
        </p:spPr>
        <p:txBody>
          <a:bodyPr wrap="square" lIns="0" tIns="0" rIns="0" bIns="0" rtlCol="0" anchor="ctr">
            <a:normAutofit/>
          </a:bodyPr>
          <a:lstStyle/>
          <a:p>
            <a:pPr indent="0" marL="0">
              <a:buNone/>
            </a:pPr>
            <a:r>
              <a:rPr lang="en-US" sz="1050" dirty="0">
                <a:solidFill>
                  <a:srgbClr val="5F7280"/>
                </a:solidFill>
                <a:latin typeface="Aptos" pitchFamily="34" charset="0"/>
                <a:ea typeface="Aptos" pitchFamily="34" charset="-122"/>
                <a:cs typeface="Aptos" pitchFamily="34" charset="-120"/>
              </a:rPr>
              <a:t>Performance first — without locking Kerala Police to one detector family or licensing model</a:t>
            </a:r>
            <a:endParaRPr lang="en-US" sz="1050" dirty="0"/>
          </a:p>
        </p:txBody>
      </p:sp>
      <p:sp>
        <p:nvSpPr>
          <p:cNvPr id="5" name="Shape 3"/>
          <p:cNvSpPr/>
          <p:nvPr/>
        </p:nvSpPr>
        <p:spPr>
          <a:xfrm>
            <a:off x="685800" y="1664208"/>
            <a:ext cx="5166360" cy="3611880"/>
          </a:xfrm>
          <a:prstGeom prst="roundRect">
            <a:avLst>
              <a:gd name="adj" fmla="val 2025"/>
            </a:avLst>
          </a:prstGeom>
          <a:solidFill>
            <a:srgbClr val="FFF8F2"/>
          </a:solidFill>
          <a:ln w="12700">
            <a:solidFill>
              <a:srgbClr val="E7C9A8"/>
            </a:solidFill>
            <a:prstDash val="solid"/>
          </a:ln>
        </p:spPr>
      </p:sp>
      <p:sp>
        <p:nvSpPr>
          <p:cNvPr id="6" name="Text 4"/>
          <p:cNvSpPr/>
          <p:nvPr/>
        </p:nvSpPr>
        <p:spPr>
          <a:xfrm>
            <a:off x="987552" y="1938528"/>
            <a:ext cx="4526280" cy="365760"/>
          </a:xfrm>
          <a:prstGeom prst="rect">
            <a:avLst/>
          </a:prstGeom>
          <a:noFill/>
          <a:ln/>
        </p:spPr>
        <p:txBody>
          <a:bodyPr wrap="square" lIns="0" tIns="0" rIns="0" bIns="0" rtlCol="0" anchor="ctr"/>
          <a:lstStyle/>
          <a:p>
            <a:pPr algn="ctr" indent="0" marL="0">
              <a:buNone/>
            </a:pPr>
            <a:r>
              <a:rPr lang="en-US" sz="1800" b="1" dirty="0">
                <a:solidFill>
                  <a:srgbClr val="E69A45"/>
                </a:solidFill>
              </a:rPr>
              <a:t>Widely Used: Ultralytics YOLO</a:t>
            </a:r>
            <a:endParaRPr lang="en-US" sz="18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999232" y="2423160"/>
            <a:ext cx="566928" cy="566928"/>
          </a:xfrm>
          <a:prstGeom prst="rect">
            <a:avLst/>
          </a:prstGeom>
        </p:spPr>
      </p:pic>
      <p:sp>
        <p:nvSpPr>
          <p:cNvPr id="8" name="Text 5"/>
          <p:cNvSpPr/>
          <p:nvPr/>
        </p:nvSpPr>
        <p:spPr>
          <a:xfrm>
            <a:off x="1234440" y="3127248"/>
            <a:ext cx="4069080" cy="658368"/>
          </a:xfrm>
          <a:prstGeom prst="rect">
            <a:avLst/>
          </a:prstGeom>
          <a:noFill/>
          <a:ln/>
        </p:spPr>
        <p:txBody>
          <a:bodyPr wrap="square" lIns="0" tIns="0" rIns="0" bIns="0" rtlCol="0" anchor="ctr"/>
          <a:lstStyle/>
          <a:p>
            <a:pPr algn="ctr" indent="0" marL="0">
              <a:buNone/>
            </a:pPr>
            <a:r>
              <a:rPr lang="en-US" sz="1300" b="1" dirty="0">
                <a:solidFill>
                  <a:srgbClr val="17313E"/>
                </a:solidFill>
              </a:rPr>
              <a:t>Strong detector family</a:t>
            </a:r>
            <a:endParaRPr lang="en-US" sz="1300" dirty="0"/>
          </a:p>
          <a:p>
            <a:pPr algn="ctr" indent="0" marL="0">
              <a:buNone/>
            </a:pPr>
            <a:r>
              <a:rPr lang="en-US" sz="1300" b="1" dirty="0">
                <a:solidFill>
                  <a:srgbClr val="17313E"/>
                </a:solidFill>
              </a:rPr>
              <a:t>Widely adopted in prototypes and production</a:t>
            </a:r>
            <a:endParaRPr lang="en-US" sz="1300" dirty="0"/>
          </a:p>
        </p:txBody>
      </p:sp>
      <p:sp>
        <p:nvSpPr>
          <p:cNvPr id="9" name="Shape 6"/>
          <p:cNvSpPr/>
          <p:nvPr/>
        </p:nvSpPr>
        <p:spPr>
          <a:xfrm>
            <a:off x="1234440" y="3968496"/>
            <a:ext cx="4069080" cy="0"/>
          </a:xfrm>
          <a:prstGeom prst="line">
            <a:avLst/>
          </a:prstGeom>
          <a:noFill/>
          <a:ln w="12700">
            <a:solidFill>
              <a:srgbClr val="E6D6C5"/>
            </a:solidFill>
            <a:prstDash val="solid"/>
          </a:ln>
        </p:spPr>
      </p:sp>
      <p:sp>
        <p:nvSpPr>
          <p:cNvPr id="10" name="Text 7"/>
          <p:cNvSpPr/>
          <p:nvPr/>
        </p:nvSpPr>
        <p:spPr>
          <a:xfrm>
            <a:off x="1115568" y="4206240"/>
            <a:ext cx="4297680" cy="749808"/>
          </a:xfrm>
          <a:prstGeom prst="rect">
            <a:avLst/>
          </a:prstGeom>
          <a:noFill/>
          <a:ln/>
        </p:spPr>
        <p:txBody>
          <a:bodyPr wrap="square" lIns="254" tIns="254" rIns="254" bIns="254" rtlCol="0" anchor="ctr">
            <a:normAutofit/>
          </a:bodyPr>
          <a:lstStyle/>
          <a:p>
            <a:pPr algn="ctr" indent="0" marL="0">
              <a:buNone/>
            </a:pPr>
            <a:r>
              <a:rPr lang="en-US" sz="1080" dirty="0">
                <a:solidFill>
                  <a:srgbClr val="5F7280"/>
                </a:solidFill>
              </a:rPr>
              <a:t>Licensing must be considered for closed / proprietary deployment. Ultralytics currently offers AGPL-3.0 and an Enterprise licensing path.</a:t>
            </a:r>
            <a:endParaRPr lang="en-US" sz="1080" dirty="0"/>
          </a:p>
        </p:txBody>
      </p:sp>
      <p:sp>
        <p:nvSpPr>
          <p:cNvPr id="11" name="Shape 8"/>
          <p:cNvSpPr/>
          <p:nvPr/>
        </p:nvSpPr>
        <p:spPr>
          <a:xfrm>
            <a:off x="6327648" y="1664208"/>
            <a:ext cx="5166360" cy="3611880"/>
          </a:xfrm>
          <a:prstGeom prst="roundRect">
            <a:avLst>
              <a:gd name="adj" fmla="val 2025"/>
            </a:avLst>
          </a:prstGeom>
          <a:solidFill>
            <a:srgbClr val="F2FAF8"/>
          </a:solidFill>
          <a:ln w="12700">
            <a:solidFill>
              <a:srgbClr val="BBDCD6"/>
            </a:solidFill>
            <a:prstDash val="solid"/>
          </a:ln>
        </p:spPr>
      </p:sp>
      <p:sp>
        <p:nvSpPr>
          <p:cNvPr id="12" name="Text 9"/>
          <p:cNvSpPr/>
          <p:nvPr/>
        </p:nvSpPr>
        <p:spPr>
          <a:xfrm>
            <a:off x="6629400" y="1938528"/>
            <a:ext cx="4526280" cy="365760"/>
          </a:xfrm>
          <a:prstGeom prst="rect">
            <a:avLst/>
          </a:prstGeom>
          <a:noFill/>
          <a:ln/>
        </p:spPr>
        <p:txBody>
          <a:bodyPr wrap="square" lIns="0" tIns="0" rIns="0" bIns="0" rtlCol="0" anchor="ctr"/>
          <a:lstStyle/>
          <a:p>
            <a:pPr algn="ctr" indent="0" marL="0">
              <a:buNone/>
            </a:pPr>
            <a:r>
              <a:rPr lang="en-US" sz="1800" b="1" dirty="0">
                <a:solidFill>
                  <a:srgbClr val="0F6B6F"/>
                </a:solidFill>
              </a:rPr>
              <a:t>SmartQEye Coastal Strategy</a:t>
            </a:r>
            <a:endParaRPr lang="en-US" sz="1800" dirty="0"/>
          </a:p>
        </p:txBody>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66560" y="2606040"/>
            <a:ext cx="292608" cy="292608"/>
          </a:xfrm>
          <a:prstGeom prst="rect">
            <a:avLst/>
          </a:prstGeom>
        </p:spPr>
      </p:pic>
      <p:sp>
        <p:nvSpPr>
          <p:cNvPr id="14" name="Text 10"/>
          <p:cNvSpPr/>
          <p:nvPr/>
        </p:nvSpPr>
        <p:spPr>
          <a:xfrm>
            <a:off x="7178040" y="2587752"/>
            <a:ext cx="2560320" cy="274320"/>
          </a:xfrm>
          <a:prstGeom prst="rect">
            <a:avLst/>
          </a:prstGeom>
          <a:noFill/>
          <a:ln/>
        </p:spPr>
        <p:txBody>
          <a:bodyPr wrap="square" lIns="0" tIns="0" rIns="0" bIns="0" rtlCol="0" anchor="ctr"/>
          <a:lstStyle/>
          <a:p>
            <a:pPr indent="0" marL="0">
              <a:buNone/>
            </a:pPr>
            <a:r>
              <a:rPr lang="en-US" sz="1220" b="1" dirty="0">
                <a:solidFill>
                  <a:srgbClr val="17313E"/>
                </a:solidFill>
              </a:rPr>
              <a:t>RTMDet / MMDetection</a:t>
            </a:r>
            <a:endParaRPr lang="en-US" sz="1220" dirty="0"/>
          </a:p>
        </p:txBody>
      </p:sp>
      <p:sp>
        <p:nvSpPr>
          <p:cNvPr id="15" name="Text 11"/>
          <p:cNvSpPr/>
          <p:nvPr/>
        </p:nvSpPr>
        <p:spPr>
          <a:xfrm>
            <a:off x="9601200" y="2587752"/>
            <a:ext cx="1325880" cy="274320"/>
          </a:xfrm>
          <a:prstGeom prst="rect">
            <a:avLst/>
          </a:prstGeom>
          <a:noFill/>
          <a:ln/>
        </p:spPr>
        <p:txBody>
          <a:bodyPr wrap="square" lIns="0" tIns="0" rIns="0" bIns="0" rtlCol="0" anchor="ctr">
            <a:normAutofit/>
          </a:bodyPr>
          <a:lstStyle/>
          <a:p>
            <a:pPr algn="r" indent="0" marL="0">
              <a:buNone/>
            </a:pPr>
            <a:r>
              <a:rPr lang="en-US" sz="1020" dirty="0">
                <a:solidFill>
                  <a:srgbClr val="5F7280"/>
                </a:solidFill>
              </a:rPr>
              <a:t>Apache-2.0</a:t>
            </a:r>
            <a:endParaRPr lang="en-US" sz="1020" dirty="0"/>
          </a:p>
        </p:txBody>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66560" y="3264408"/>
            <a:ext cx="292608" cy="292608"/>
          </a:xfrm>
          <a:prstGeom prst="rect">
            <a:avLst/>
          </a:prstGeom>
        </p:spPr>
      </p:pic>
      <p:sp>
        <p:nvSpPr>
          <p:cNvPr id="17" name="Text 12"/>
          <p:cNvSpPr/>
          <p:nvPr/>
        </p:nvSpPr>
        <p:spPr>
          <a:xfrm>
            <a:off x="7178040" y="3246120"/>
            <a:ext cx="2560320" cy="274320"/>
          </a:xfrm>
          <a:prstGeom prst="rect">
            <a:avLst/>
          </a:prstGeom>
          <a:noFill/>
          <a:ln/>
        </p:spPr>
        <p:txBody>
          <a:bodyPr wrap="square" lIns="0" tIns="0" rIns="0" bIns="0" rtlCol="0" anchor="ctr"/>
          <a:lstStyle/>
          <a:p>
            <a:pPr indent="0" marL="0">
              <a:buNone/>
            </a:pPr>
            <a:r>
              <a:rPr lang="en-US" sz="1220" b="1" dirty="0">
                <a:solidFill>
                  <a:srgbClr val="17313E"/>
                </a:solidFill>
              </a:rPr>
              <a:t>RT-DETR / RT-DETRv2</a:t>
            </a:r>
            <a:endParaRPr lang="en-US" sz="1220" dirty="0"/>
          </a:p>
        </p:txBody>
      </p:sp>
      <p:sp>
        <p:nvSpPr>
          <p:cNvPr id="18" name="Text 13"/>
          <p:cNvSpPr/>
          <p:nvPr/>
        </p:nvSpPr>
        <p:spPr>
          <a:xfrm>
            <a:off x="9601200" y="3246120"/>
            <a:ext cx="1325880" cy="274320"/>
          </a:xfrm>
          <a:prstGeom prst="rect">
            <a:avLst/>
          </a:prstGeom>
          <a:noFill/>
          <a:ln/>
        </p:spPr>
        <p:txBody>
          <a:bodyPr wrap="square" lIns="0" tIns="0" rIns="0" bIns="0" rtlCol="0" anchor="ctr">
            <a:normAutofit/>
          </a:bodyPr>
          <a:lstStyle/>
          <a:p>
            <a:pPr algn="r" indent="0" marL="0">
              <a:buNone/>
            </a:pPr>
            <a:r>
              <a:rPr lang="en-US" sz="1020" dirty="0">
                <a:solidFill>
                  <a:srgbClr val="5F7280"/>
                </a:solidFill>
              </a:rPr>
              <a:t>Apache-2.0</a:t>
            </a:r>
            <a:endParaRPr lang="en-US" sz="1020" dirty="0"/>
          </a:p>
        </p:txBody>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66560" y="3922776"/>
            <a:ext cx="292608" cy="292608"/>
          </a:xfrm>
          <a:prstGeom prst="rect">
            <a:avLst/>
          </a:prstGeom>
        </p:spPr>
      </p:pic>
      <p:sp>
        <p:nvSpPr>
          <p:cNvPr id="20" name="Text 14"/>
          <p:cNvSpPr/>
          <p:nvPr/>
        </p:nvSpPr>
        <p:spPr>
          <a:xfrm>
            <a:off x="7178040" y="3904488"/>
            <a:ext cx="2560320" cy="274320"/>
          </a:xfrm>
          <a:prstGeom prst="rect">
            <a:avLst/>
          </a:prstGeom>
          <a:noFill/>
          <a:ln/>
        </p:spPr>
        <p:txBody>
          <a:bodyPr wrap="square" lIns="0" tIns="0" rIns="0" bIns="0" rtlCol="0" anchor="ctr"/>
          <a:lstStyle/>
          <a:p>
            <a:pPr indent="0" marL="0">
              <a:buNone/>
            </a:pPr>
            <a:r>
              <a:rPr lang="en-US" sz="1220" b="1" dirty="0">
                <a:solidFill>
                  <a:srgbClr val="17313E"/>
                </a:solidFill>
              </a:rPr>
              <a:t>ByteTrack</a:t>
            </a:r>
            <a:endParaRPr lang="en-US" sz="1220" dirty="0"/>
          </a:p>
        </p:txBody>
      </p:sp>
      <p:sp>
        <p:nvSpPr>
          <p:cNvPr id="21" name="Text 15"/>
          <p:cNvSpPr/>
          <p:nvPr/>
        </p:nvSpPr>
        <p:spPr>
          <a:xfrm>
            <a:off x="9601200" y="3904488"/>
            <a:ext cx="1325880" cy="274320"/>
          </a:xfrm>
          <a:prstGeom prst="rect">
            <a:avLst/>
          </a:prstGeom>
          <a:noFill/>
          <a:ln/>
        </p:spPr>
        <p:txBody>
          <a:bodyPr wrap="square" lIns="0" tIns="0" rIns="0" bIns="0" rtlCol="0" anchor="ctr">
            <a:normAutofit/>
          </a:bodyPr>
          <a:lstStyle/>
          <a:p>
            <a:pPr algn="r" indent="0" marL="0">
              <a:buNone/>
            </a:pPr>
            <a:r>
              <a:rPr lang="en-US" sz="1020" dirty="0">
                <a:solidFill>
                  <a:srgbClr val="5F7280"/>
                </a:solidFill>
              </a:rPr>
              <a:t>Detector-independent tracking</a:t>
            </a:r>
            <a:endParaRPr lang="en-US" sz="1020" dirty="0"/>
          </a:p>
        </p:txBody>
      </p:sp>
      <p:sp>
        <p:nvSpPr>
          <p:cNvPr id="22" name="Text 16"/>
          <p:cNvSpPr/>
          <p:nvPr/>
        </p:nvSpPr>
        <p:spPr>
          <a:xfrm>
            <a:off x="6720840" y="4617720"/>
            <a:ext cx="4434840" cy="457200"/>
          </a:xfrm>
          <a:prstGeom prst="rect">
            <a:avLst/>
          </a:prstGeom>
          <a:noFill/>
          <a:ln/>
        </p:spPr>
        <p:txBody>
          <a:bodyPr wrap="square" lIns="0" tIns="0" rIns="0" bIns="0" rtlCol="0" anchor="ctr">
            <a:normAutofit/>
          </a:bodyPr>
          <a:lstStyle/>
          <a:p>
            <a:pPr algn="ctr" indent="0" marL="0">
              <a:buNone/>
            </a:pPr>
            <a:r>
              <a:rPr lang="en-US" sz="1070" b="1" dirty="0">
                <a:solidFill>
                  <a:srgbClr val="0B1F33"/>
                </a:solidFill>
              </a:rPr>
              <a:t>Final model selection = small-target accuracy + thermal performance + latency + VRAM + tracking stability + multi-feed scalability</a:t>
            </a:r>
            <a:endParaRPr lang="en-US" sz="1070" dirty="0"/>
          </a:p>
        </p:txBody>
      </p:sp>
      <p:sp>
        <p:nvSpPr>
          <p:cNvPr id="23" name="Shape 17"/>
          <p:cNvSpPr/>
          <p:nvPr/>
        </p:nvSpPr>
        <p:spPr>
          <a:xfrm>
            <a:off x="1554480" y="5541264"/>
            <a:ext cx="9098280" cy="548640"/>
          </a:xfrm>
          <a:prstGeom prst="roundRect">
            <a:avLst>
              <a:gd name="adj" fmla="val 10000"/>
            </a:avLst>
          </a:prstGeom>
          <a:solidFill>
            <a:srgbClr val="0B1F33"/>
          </a:solidFill>
          <a:ln w="12700">
            <a:solidFill>
              <a:srgbClr val="0B1F33"/>
            </a:solidFill>
            <a:prstDash val="solid"/>
          </a:ln>
        </p:spPr>
      </p:sp>
      <p:sp>
        <p:nvSpPr>
          <p:cNvPr id="24" name="Text 18"/>
          <p:cNvSpPr/>
          <p:nvPr/>
        </p:nvSpPr>
        <p:spPr>
          <a:xfrm>
            <a:off x="1783080" y="5724144"/>
            <a:ext cx="8641080" cy="201168"/>
          </a:xfrm>
          <a:prstGeom prst="rect">
            <a:avLst/>
          </a:prstGeom>
          <a:noFill/>
          <a:ln/>
        </p:spPr>
        <p:txBody>
          <a:bodyPr wrap="square" lIns="0" tIns="0" rIns="0" bIns="0" rtlCol="0" anchor="ctr">
            <a:normAutofit/>
          </a:bodyPr>
          <a:lstStyle/>
          <a:p>
            <a:pPr algn="ctr" indent="0" marL="0">
              <a:buNone/>
            </a:pPr>
            <a:r>
              <a:rPr lang="en-US" sz="1310" b="1" dirty="0">
                <a:solidFill>
                  <a:srgbClr val="FFFFFF"/>
                </a:solidFill>
              </a:rPr>
              <a:t>Detector = replaceable perception component  •  Intelligence, GIS, evidence and governance remain stable</a:t>
            </a:r>
            <a:endParaRPr lang="en-US" sz="1310" dirty="0"/>
          </a:p>
        </p:txBody>
      </p:sp>
      <p:sp>
        <p:nvSpPr>
          <p:cNvPr id="25" name="Text 19"/>
          <p:cNvSpPr/>
          <p:nvPr/>
        </p:nvSpPr>
        <p:spPr>
          <a:xfrm>
            <a:off x="1280160" y="6236208"/>
            <a:ext cx="9692640" cy="201168"/>
          </a:xfrm>
          <a:prstGeom prst="rect">
            <a:avLst/>
          </a:prstGeom>
          <a:noFill/>
          <a:ln/>
        </p:spPr>
        <p:txBody>
          <a:bodyPr wrap="square" lIns="0" tIns="0" rIns="0" bIns="0" rtlCol="0" anchor="ctr">
            <a:normAutofit/>
          </a:bodyPr>
          <a:lstStyle/>
          <a:p>
            <a:pPr algn="ctr" indent="0" marL="0">
              <a:buNone/>
            </a:pPr>
            <a:r>
              <a:rPr lang="en-US" sz="780" dirty="0">
                <a:solidFill>
                  <a:srgbClr val="5F7280"/>
                </a:solidFill>
              </a:rPr>
              <a:t>Licence positions shown are based on current official project/licensing pages; final production selection remains subject to Kerala Police approval.</a:t>
            </a:r>
            <a:endParaRPr lang="en-US" sz="780" dirty="0"/>
          </a:p>
        </p:txBody>
      </p:sp>
      <p:sp>
        <p:nvSpPr>
          <p:cNvPr id="25" name="Slide Number Placeholder 0"/>
          <p:cNvSpPr>
            <a:spLocks noGrp="1"/>
          </p:cNvSpPr>
          <p:nvPr>
            <p:ph type="sldNum" sz="quarter" idx="4294967295"/>
          </p:nvPr>
        </p:nvSpPr>
        <p:spPr>
          <a:xfrm>
            <a:off x="11631168" y="6547104"/>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B7D89"/>
                </a:solidFill>
                <a:latin typeface="Aptos"/>
                <a:ea typeface="Aptos"/>
                <a:cs typeface="Apto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758952"/>
            <a:ext cx="10972800" cy="438912"/>
          </a:xfrm>
          <a:prstGeom prst="rect">
            <a:avLst/>
          </a:prstGeom>
          <a:noFill/>
          <a:ln/>
        </p:spPr>
        <p:txBody>
          <a:bodyPr wrap="square" lIns="0" tIns="0" rIns="0" bIns="0" rtlCol="0" anchor="ctr">
            <a:normAutofit/>
          </a:bodyP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Four Deployment Models — One Central Operational Platform</a:t>
            </a:r>
            <a:endParaRPr lang="en-US" sz="2500" dirty="0"/>
          </a:p>
        </p:txBody>
      </p:sp>
      <p:sp>
        <p:nvSpPr>
          <p:cNvPr id="3" name="Shape 1"/>
          <p:cNvSpPr/>
          <p:nvPr/>
        </p:nvSpPr>
        <p:spPr>
          <a:xfrm>
            <a:off x="566928" y="1243584"/>
            <a:ext cx="914400" cy="45720"/>
          </a:xfrm>
          <a:prstGeom prst="rect">
            <a:avLst/>
          </a:prstGeom>
          <a:solidFill>
            <a:srgbClr val="2A9D8F"/>
          </a:solidFill>
          <a:ln w="12700">
            <a:solidFill>
              <a:srgbClr val="2A9D8F"/>
            </a:solidFill>
            <a:prstDash val="solid"/>
          </a:ln>
        </p:spPr>
      </p:sp>
      <p:sp>
        <p:nvSpPr>
          <p:cNvPr id="4" name="Text 2"/>
          <p:cNvSpPr/>
          <p:nvPr/>
        </p:nvSpPr>
        <p:spPr>
          <a:xfrm>
            <a:off x="1600200" y="1115568"/>
            <a:ext cx="9784080" cy="228600"/>
          </a:xfrm>
          <a:prstGeom prst="rect">
            <a:avLst/>
          </a:prstGeom>
          <a:noFill/>
          <a:ln/>
        </p:spPr>
        <p:txBody>
          <a:bodyPr wrap="square" lIns="0" tIns="0" rIns="0" bIns="0" rtlCol="0" anchor="ctr">
            <a:normAutofit/>
          </a:bodyPr>
          <a:lstStyle/>
          <a:p>
            <a:pPr indent="0" marL="0">
              <a:buNone/>
            </a:pPr>
            <a:r>
              <a:rPr lang="en-US" sz="1050" dirty="0">
                <a:solidFill>
                  <a:srgbClr val="5F7280"/>
                </a:solidFill>
                <a:latin typeface="Aptos" pitchFamily="34" charset="0"/>
                <a:ea typeface="Aptos" pitchFamily="34" charset="-122"/>
                <a:cs typeface="Aptos" pitchFamily="34" charset="-120"/>
              </a:rPr>
              <a:t>The models differ mainly in where AI inference runs</a:t>
            </a:r>
            <a:endParaRPr lang="en-US" sz="1050" dirty="0"/>
          </a:p>
        </p:txBody>
      </p:sp>
      <p:sp>
        <p:nvSpPr>
          <p:cNvPr id="5" name="Shape 3"/>
          <p:cNvSpPr/>
          <p:nvPr/>
        </p:nvSpPr>
        <p:spPr>
          <a:xfrm>
            <a:off x="731520" y="1627632"/>
            <a:ext cx="10744200" cy="4251960"/>
          </a:xfrm>
          <a:prstGeom prst="roundRect">
            <a:avLst>
              <a:gd name="adj" fmla="val 1290"/>
            </a:avLst>
          </a:prstGeom>
          <a:solidFill>
            <a:srgbClr val="FFFFFF"/>
          </a:solidFill>
          <a:ln w="12700">
            <a:solidFill>
              <a:srgbClr val="C7D6DF"/>
            </a:solidFill>
            <a:prstDash val="solid"/>
          </a:ln>
        </p:spPr>
      </p:sp>
      <p:sp>
        <p:nvSpPr>
          <p:cNvPr id="6" name="Text 4"/>
          <p:cNvSpPr/>
          <p:nvPr/>
        </p:nvSpPr>
        <p:spPr>
          <a:xfrm>
            <a:off x="950976" y="1828800"/>
            <a:ext cx="640080" cy="219456"/>
          </a:xfrm>
          <a:prstGeom prst="rect">
            <a:avLst/>
          </a:prstGeom>
          <a:noFill/>
          <a:ln/>
        </p:spPr>
        <p:txBody>
          <a:bodyPr wrap="square" lIns="0" tIns="0" rIns="0" bIns="0" rtlCol="0" anchor="ctr"/>
          <a:lstStyle/>
          <a:p>
            <a:pPr indent="0" marL="0">
              <a:buNone/>
            </a:pPr>
            <a:r>
              <a:rPr lang="en-US" sz="900" b="1" dirty="0">
                <a:solidFill>
                  <a:srgbClr val="5F7280"/>
                </a:solidFill>
              </a:rPr>
              <a:t>MODEL</a:t>
            </a:r>
            <a:endParaRPr lang="en-US" sz="900" dirty="0"/>
          </a:p>
        </p:txBody>
      </p:sp>
      <p:sp>
        <p:nvSpPr>
          <p:cNvPr id="7" name="Text 5"/>
          <p:cNvSpPr/>
          <p:nvPr/>
        </p:nvSpPr>
        <p:spPr>
          <a:xfrm>
            <a:off x="1664208" y="1828800"/>
            <a:ext cx="3840480" cy="219456"/>
          </a:xfrm>
          <a:prstGeom prst="rect">
            <a:avLst/>
          </a:prstGeom>
          <a:noFill/>
          <a:ln/>
        </p:spPr>
        <p:txBody>
          <a:bodyPr wrap="square" lIns="0" tIns="0" rIns="0" bIns="0" rtlCol="0" anchor="ctr"/>
          <a:lstStyle/>
          <a:p>
            <a:pPr indent="0" marL="0">
              <a:buNone/>
            </a:pPr>
            <a:r>
              <a:rPr lang="en-US" sz="900" b="1" dirty="0">
                <a:solidFill>
                  <a:srgbClr val="5F7280"/>
                </a:solidFill>
              </a:rPr>
              <a:t>DEPLOYMENT MODE</a:t>
            </a:r>
            <a:endParaRPr lang="en-US" sz="900" dirty="0"/>
          </a:p>
        </p:txBody>
      </p:sp>
      <p:sp>
        <p:nvSpPr>
          <p:cNvPr id="8" name="Text 6"/>
          <p:cNvSpPr/>
          <p:nvPr/>
        </p:nvSpPr>
        <p:spPr>
          <a:xfrm>
            <a:off x="5742432" y="1828800"/>
            <a:ext cx="1691640" cy="219456"/>
          </a:xfrm>
          <a:prstGeom prst="rect">
            <a:avLst/>
          </a:prstGeom>
          <a:noFill/>
          <a:ln/>
        </p:spPr>
        <p:txBody>
          <a:bodyPr wrap="square" lIns="0" tIns="0" rIns="0" bIns="0" rtlCol="0" anchor="ctr"/>
          <a:lstStyle/>
          <a:p>
            <a:pPr indent="0" marL="0">
              <a:buNone/>
            </a:pPr>
            <a:r>
              <a:rPr lang="en-US" sz="900" b="1" dirty="0">
                <a:solidFill>
                  <a:srgbClr val="5F7280"/>
                </a:solidFill>
              </a:rPr>
              <a:t>AI RUNS AT</a:t>
            </a:r>
            <a:endParaRPr lang="en-US" sz="900" dirty="0"/>
          </a:p>
        </p:txBody>
      </p:sp>
      <p:sp>
        <p:nvSpPr>
          <p:cNvPr id="9" name="Text 7"/>
          <p:cNvSpPr/>
          <p:nvPr/>
        </p:nvSpPr>
        <p:spPr>
          <a:xfrm>
            <a:off x="7452360" y="1828800"/>
            <a:ext cx="2743200" cy="219456"/>
          </a:xfrm>
          <a:prstGeom prst="rect">
            <a:avLst/>
          </a:prstGeom>
          <a:noFill/>
          <a:ln/>
        </p:spPr>
        <p:txBody>
          <a:bodyPr wrap="square" lIns="0" tIns="0" rIns="0" bIns="0" rtlCol="0" anchor="ctr"/>
          <a:lstStyle/>
          <a:p>
            <a:pPr indent="0" marL="0">
              <a:buNone/>
            </a:pPr>
            <a:r>
              <a:rPr lang="en-US" sz="900" b="1" dirty="0">
                <a:solidFill>
                  <a:srgbClr val="5F7280"/>
                </a:solidFill>
              </a:rPr>
              <a:t>BEST USE</a:t>
            </a:r>
            <a:endParaRPr lang="en-US" sz="900" dirty="0"/>
          </a:p>
        </p:txBody>
      </p:sp>
      <p:sp>
        <p:nvSpPr>
          <p:cNvPr id="10" name="Text 8"/>
          <p:cNvSpPr/>
          <p:nvPr/>
        </p:nvSpPr>
        <p:spPr>
          <a:xfrm>
            <a:off x="10360152" y="1828800"/>
            <a:ext cx="786384" cy="219456"/>
          </a:xfrm>
          <a:prstGeom prst="rect">
            <a:avLst/>
          </a:prstGeom>
          <a:noFill/>
          <a:ln/>
        </p:spPr>
        <p:txBody>
          <a:bodyPr wrap="square" lIns="0" tIns="0" rIns="0" bIns="0" rtlCol="0" anchor="ctr"/>
          <a:lstStyle/>
          <a:p>
            <a:pPr algn="ctr" indent="0" marL="0">
              <a:buNone/>
            </a:pPr>
            <a:r>
              <a:rPr lang="en-US" sz="900" b="1" dirty="0">
                <a:solidFill>
                  <a:srgbClr val="5F7280"/>
                </a:solidFill>
              </a:rPr>
              <a:t>ROLE</a:t>
            </a:r>
            <a:endParaRPr lang="en-US" sz="900" dirty="0"/>
          </a:p>
        </p:txBody>
      </p:sp>
      <p:sp>
        <p:nvSpPr>
          <p:cNvPr id="11" name="Shape 9"/>
          <p:cNvSpPr/>
          <p:nvPr/>
        </p:nvSpPr>
        <p:spPr>
          <a:xfrm>
            <a:off x="914400" y="2139696"/>
            <a:ext cx="10058400" cy="0"/>
          </a:xfrm>
          <a:prstGeom prst="line">
            <a:avLst/>
          </a:prstGeom>
          <a:noFill/>
          <a:ln w="12700">
            <a:solidFill>
              <a:srgbClr val="C7D6DF"/>
            </a:solidFill>
            <a:prstDash val="solid"/>
          </a:ln>
        </p:spPr>
      </p:sp>
      <p:sp>
        <p:nvSpPr>
          <p:cNvPr id="12" name="Shape 10"/>
          <p:cNvSpPr/>
          <p:nvPr/>
        </p:nvSpPr>
        <p:spPr>
          <a:xfrm>
            <a:off x="841248" y="2240280"/>
            <a:ext cx="10497312" cy="685800"/>
          </a:xfrm>
          <a:prstGeom prst="rect">
            <a:avLst/>
          </a:prstGeom>
          <a:solidFill>
            <a:srgbClr val="F1FAF8"/>
          </a:solidFill>
          <a:ln w="12700">
            <a:solidFill>
              <a:srgbClr val="FFFFFF">
                <a:alpha val="0"/>
              </a:srgbClr>
            </a:solidFill>
            <a:prstDash val="solid"/>
          </a:ln>
        </p:spPr>
      </p:sp>
      <p:sp>
        <p:nvSpPr>
          <p:cNvPr id="13" name="Shape 11"/>
          <p:cNvSpPr/>
          <p:nvPr/>
        </p:nvSpPr>
        <p:spPr>
          <a:xfrm>
            <a:off x="978408" y="2368296"/>
            <a:ext cx="365760" cy="365760"/>
          </a:xfrm>
          <a:prstGeom prst="ellipse">
            <a:avLst/>
          </a:prstGeom>
          <a:solidFill>
            <a:srgbClr val="0F6B6F"/>
          </a:solidFill>
          <a:ln w="12700">
            <a:solidFill>
              <a:srgbClr val="0F6B6F"/>
            </a:solidFill>
            <a:prstDash val="solid"/>
          </a:ln>
        </p:spPr>
      </p:sp>
      <p:sp>
        <p:nvSpPr>
          <p:cNvPr id="14" name="Text 12"/>
          <p:cNvSpPr/>
          <p:nvPr/>
        </p:nvSpPr>
        <p:spPr>
          <a:xfrm>
            <a:off x="978408" y="2459736"/>
            <a:ext cx="365760" cy="109728"/>
          </a:xfrm>
          <a:prstGeom prst="rect">
            <a:avLst/>
          </a:prstGeom>
          <a:noFill/>
          <a:ln/>
        </p:spPr>
        <p:txBody>
          <a:bodyPr wrap="square" lIns="0" tIns="0" rIns="0" bIns="0" rtlCol="0" anchor="ctr"/>
          <a:lstStyle/>
          <a:p>
            <a:pPr algn="ctr" indent="0" marL="0">
              <a:buNone/>
            </a:pPr>
            <a:r>
              <a:rPr lang="en-US" sz="900" b="1" dirty="0">
                <a:solidFill>
                  <a:srgbClr val="FFFFFF"/>
                </a:solidFill>
              </a:rPr>
              <a:t>1</a:t>
            </a:r>
            <a:endParaRPr lang="en-US" sz="900" dirty="0"/>
          </a:p>
        </p:txBody>
      </p:sp>
      <p:sp>
        <p:nvSpPr>
          <p:cNvPr id="15" name="Text 13"/>
          <p:cNvSpPr/>
          <p:nvPr/>
        </p:nvSpPr>
        <p:spPr>
          <a:xfrm>
            <a:off x="1664208" y="2386584"/>
            <a:ext cx="3840480" cy="310896"/>
          </a:xfrm>
          <a:prstGeom prst="rect">
            <a:avLst/>
          </a:prstGeom>
          <a:noFill/>
          <a:ln/>
        </p:spPr>
        <p:txBody>
          <a:bodyPr wrap="square" lIns="0" tIns="0" rIns="0" bIns="0" rtlCol="0" anchor="ctr">
            <a:normAutofit/>
          </a:bodyPr>
          <a:lstStyle/>
          <a:p>
            <a:pPr indent="0" marL="0">
              <a:buNone/>
            </a:pPr>
            <a:r>
              <a:rPr lang="en-US" sz="1220" b="1" dirty="0">
                <a:solidFill>
                  <a:srgbClr val="17313E"/>
                </a:solidFill>
              </a:rPr>
              <a:t>Central GPU + Field/GCS Gateway</a:t>
            </a:r>
            <a:endParaRPr lang="en-US" sz="1220" dirty="0"/>
          </a:p>
        </p:txBody>
      </p:sp>
      <p:sp>
        <p:nvSpPr>
          <p:cNvPr id="16" name="Text 14"/>
          <p:cNvSpPr/>
          <p:nvPr/>
        </p:nvSpPr>
        <p:spPr>
          <a:xfrm>
            <a:off x="5742432" y="2386584"/>
            <a:ext cx="1600200" cy="310896"/>
          </a:xfrm>
          <a:prstGeom prst="rect">
            <a:avLst/>
          </a:prstGeom>
          <a:noFill/>
          <a:ln/>
        </p:spPr>
        <p:txBody>
          <a:bodyPr wrap="square" lIns="0" tIns="0" rIns="0" bIns="0" rtlCol="0" anchor="ctr">
            <a:normAutofit/>
          </a:bodyPr>
          <a:lstStyle/>
          <a:p>
            <a:pPr indent="0" marL="0">
              <a:buNone/>
            </a:pPr>
            <a:r>
              <a:rPr lang="en-US" sz="1080" b="1" dirty="0">
                <a:solidFill>
                  <a:srgbClr val="17313E"/>
                </a:solidFill>
              </a:rPr>
              <a:t>Central GPU</a:t>
            </a:r>
            <a:endParaRPr lang="en-US" sz="1080" dirty="0"/>
          </a:p>
        </p:txBody>
      </p:sp>
      <p:sp>
        <p:nvSpPr>
          <p:cNvPr id="17" name="Text 15"/>
          <p:cNvSpPr/>
          <p:nvPr/>
        </p:nvSpPr>
        <p:spPr>
          <a:xfrm>
            <a:off x="7452360" y="2331720"/>
            <a:ext cx="2743200" cy="438912"/>
          </a:xfrm>
          <a:prstGeom prst="rect">
            <a:avLst/>
          </a:prstGeom>
          <a:noFill/>
          <a:ln/>
        </p:spPr>
        <p:txBody>
          <a:bodyPr wrap="square" lIns="0" tIns="0" rIns="0" bIns="0" rtlCol="0" anchor="ctr">
            <a:normAutofit/>
          </a:bodyPr>
          <a:lstStyle/>
          <a:p>
            <a:pPr indent="0" marL="0">
              <a:buNone/>
            </a:pPr>
            <a:r>
              <a:rPr lang="en-US" sz="1030" dirty="0">
                <a:solidFill>
                  <a:srgbClr val="5F7280"/>
                </a:solidFill>
              </a:rPr>
              <a:t>Full-scale / multi-feed real-time</a:t>
            </a:r>
            <a:endParaRPr lang="en-US" sz="1030" dirty="0"/>
          </a:p>
        </p:txBody>
      </p:sp>
      <p:sp>
        <p:nvSpPr>
          <p:cNvPr id="18" name="Shape 16"/>
          <p:cNvSpPr/>
          <p:nvPr/>
        </p:nvSpPr>
        <p:spPr>
          <a:xfrm>
            <a:off x="10222992" y="2395728"/>
            <a:ext cx="1005840" cy="310896"/>
          </a:xfrm>
          <a:prstGeom prst="roundRect">
            <a:avLst>
              <a:gd name="adj" fmla="val 23529"/>
            </a:avLst>
          </a:prstGeom>
          <a:solidFill>
            <a:srgbClr val="E1F3EE"/>
          </a:solidFill>
          <a:ln w="12700">
            <a:solidFill>
              <a:srgbClr val="E1F3EE"/>
            </a:solidFill>
            <a:prstDash val="solid"/>
          </a:ln>
        </p:spPr>
      </p:sp>
      <p:sp>
        <p:nvSpPr>
          <p:cNvPr id="19" name="Text 17"/>
          <p:cNvSpPr/>
          <p:nvPr/>
        </p:nvSpPr>
        <p:spPr>
          <a:xfrm>
            <a:off x="10296144" y="2450592"/>
            <a:ext cx="859536" cy="164592"/>
          </a:xfrm>
          <a:prstGeom prst="rect">
            <a:avLst/>
          </a:prstGeom>
          <a:noFill/>
          <a:ln/>
        </p:spPr>
        <p:txBody>
          <a:bodyPr wrap="square" lIns="0" tIns="0" rIns="0" bIns="0" rtlCol="0" anchor="ctr">
            <a:normAutofit/>
          </a:bodyPr>
          <a:lstStyle/>
          <a:p>
            <a:pPr algn="ctr" indent="0" marL="0">
              <a:buNone/>
            </a:pPr>
            <a:r>
              <a:rPr lang="en-US" sz="900" b="1" dirty="0">
                <a:solidFill>
                  <a:srgbClr val="0F6B6F"/>
                </a:solidFill>
              </a:rPr>
              <a:t>PREFERRED</a:t>
            </a:r>
            <a:endParaRPr lang="en-US" sz="900" dirty="0"/>
          </a:p>
        </p:txBody>
      </p:sp>
      <p:sp>
        <p:nvSpPr>
          <p:cNvPr id="20" name="Shape 18"/>
          <p:cNvSpPr/>
          <p:nvPr/>
        </p:nvSpPr>
        <p:spPr>
          <a:xfrm>
            <a:off x="841248" y="3063240"/>
            <a:ext cx="10497312" cy="685800"/>
          </a:xfrm>
          <a:prstGeom prst="rect">
            <a:avLst/>
          </a:prstGeom>
          <a:solidFill>
            <a:srgbClr val="F3F8FC"/>
          </a:solidFill>
          <a:ln w="12700">
            <a:solidFill>
              <a:srgbClr val="FFFFFF">
                <a:alpha val="0"/>
              </a:srgbClr>
            </a:solidFill>
            <a:prstDash val="solid"/>
          </a:ln>
        </p:spPr>
      </p:sp>
      <p:sp>
        <p:nvSpPr>
          <p:cNvPr id="21" name="Shape 19"/>
          <p:cNvSpPr/>
          <p:nvPr/>
        </p:nvSpPr>
        <p:spPr>
          <a:xfrm>
            <a:off x="978408" y="3191256"/>
            <a:ext cx="365760" cy="365760"/>
          </a:xfrm>
          <a:prstGeom prst="ellipse">
            <a:avLst/>
          </a:prstGeom>
          <a:solidFill>
            <a:srgbClr val="3F7CAC"/>
          </a:solidFill>
          <a:ln w="12700">
            <a:solidFill>
              <a:srgbClr val="3F7CAC"/>
            </a:solidFill>
            <a:prstDash val="solid"/>
          </a:ln>
        </p:spPr>
      </p:sp>
      <p:sp>
        <p:nvSpPr>
          <p:cNvPr id="22" name="Text 20"/>
          <p:cNvSpPr/>
          <p:nvPr/>
        </p:nvSpPr>
        <p:spPr>
          <a:xfrm>
            <a:off x="978408" y="3282696"/>
            <a:ext cx="365760" cy="109728"/>
          </a:xfrm>
          <a:prstGeom prst="rect">
            <a:avLst/>
          </a:prstGeom>
          <a:noFill/>
          <a:ln/>
        </p:spPr>
        <p:txBody>
          <a:bodyPr wrap="square" lIns="0" tIns="0" rIns="0" bIns="0" rtlCol="0" anchor="ctr"/>
          <a:lstStyle/>
          <a:p>
            <a:pPr algn="ctr" indent="0" marL="0">
              <a:buNone/>
            </a:pPr>
            <a:r>
              <a:rPr lang="en-US" sz="900" b="1" dirty="0">
                <a:solidFill>
                  <a:srgbClr val="FFFFFF"/>
                </a:solidFill>
              </a:rPr>
              <a:t>2</a:t>
            </a:r>
            <a:endParaRPr lang="en-US" sz="900" dirty="0"/>
          </a:p>
        </p:txBody>
      </p:sp>
      <p:sp>
        <p:nvSpPr>
          <p:cNvPr id="23" name="Text 21"/>
          <p:cNvSpPr/>
          <p:nvPr/>
        </p:nvSpPr>
        <p:spPr>
          <a:xfrm>
            <a:off x="1664208" y="3209544"/>
            <a:ext cx="3840480" cy="310896"/>
          </a:xfrm>
          <a:prstGeom prst="rect">
            <a:avLst/>
          </a:prstGeom>
          <a:noFill/>
          <a:ln/>
        </p:spPr>
        <p:txBody>
          <a:bodyPr wrap="square" lIns="0" tIns="0" rIns="0" bIns="0" rtlCol="0" anchor="ctr">
            <a:normAutofit/>
          </a:bodyPr>
          <a:lstStyle/>
          <a:p>
            <a:pPr indent="0" marL="0">
              <a:buNone/>
            </a:pPr>
            <a:r>
              <a:rPr lang="en-US" sz="1220" b="1" dirty="0">
                <a:solidFill>
                  <a:srgbClr val="17313E"/>
                </a:solidFill>
              </a:rPr>
              <a:t>Local Edge + Central Synchronization</a:t>
            </a:r>
            <a:endParaRPr lang="en-US" sz="1220" dirty="0"/>
          </a:p>
        </p:txBody>
      </p:sp>
      <p:sp>
        <p:nvSpPr>
          <p:cNvPr id="24" name="Text 22"/>
          <p:cNvSpPr/>
          <p:nvPr/>
        </p:nvSpPr>
        <p:spPr>
          <a:xfrm>
            <a:off x="5742432" y="3209544"/>
            <a:ext cx="1600200" cy="310896"/>
          </a:xfrm>
          <a:prstGeom prst="rect">
            <a:avLst/>
          </a:prstGeom>
          <a:noFill/>
          <a:ln/>
        </p:spPr>
        <p:txBody>
          <a:bodyPr wrap="square" lIns="0" tIns="0" rIns="0" bIns="0" rtlCol="0" anchor="ctr">
            <a:normAutofit/>
          </a:bodyPr>
          <a:lstStyle/>
          <a:p>
            <a:pPr indent="0" marL="0">
              <a:buNone/>
            </a:pPr>
            <a:r>
              <a:rPr lang="en-US" sz="1080" b="1" dirty="0">
                <a:solidFill>
                  <a:srgbClr val="17313E"/>
                </a:solidFill>
              </a:rPr>
              <a:t>Field laptop</a:t>
            </a:r>
            <a:endParaRPr lang="en-US" sz="1080" dirty="0"/>
          </a:p>
        </p:txBody>
      </p:sp>
      <p:sp>
        <p:nvSpPr>
          <p:cNvPr id="25" name="Text 23"/>
          <p:cNvSpPr/>
          <p:nvPr/>
        </p:nvSpPr>
        <p:spPr>
          <a:xfrm>
            <a:off x="7452360" y="3154680"/>
            <a:ext cx="2743200" cy="438912"/>
          </a:xfrm>
          <a:prstGeom prst="rect">
            <a:avLst/>
          </a:prstGeom>
          <a:noFill/>
          <a:ln/>
        </p:spPr>
        <p:txBody>
          <a:bodyPr wrap="square" lIns="0" tIns="0" rIns="0" bIns="0" rtlCol="0" anchor="ctr">
            <a:normAutofit/>
          </a:bodyPr>
          <a:lstStyle/>
          <a:p>
            <a:pPr indent="0" marL="0">
              <a:buNone/>
            </a:pPr>
            <a:r>
              <a:rPr lang="en-US" sz="1030" dirty="0">
                <a:solidFill>
                  <a:srgbClr val="5F7280"/>
                </a:solidFill>
              </a:rPr>
              <a:t>Single/limited feeds, constrained bandwidth, post-mission</a:t>
            </a:r>
            <a:endParaRPr lang="en-US" sz="1030" dirty="0"/>
          </a:p>
        </p:txBody>
      </p:sp>
      <p:sp>
        <p:nvSpPr>
          <p:cNvPr id="26" name="Shape 24"/>
          <p:cNvSpPr/>
          <p:nvPr/>
        </p:nvSpPr>
        <p:spPr>
          <a:xfrm>
            <a:off x="10222992" y="3218688"/>
            <a:ext cx="1005840" cy="310896"/>
          </a:xfrm>
          <a:prstGeom prst="roundRect">
            <a:avLst>
              <a:gd name="adj" fmla="val 23529"/>
            </a:avLst>
          </a:prstGeom>
          <a:solidFill>
            <a:srgbClr val="E7F0F8"/>
          </a:solidFill>
          <a:ln w="12700">
            <a:solidFill>
              <a:srgbClr val="E7F0F8"/>
            </a:solidFill>
            <a:prstDash val="solid"/>
          </a:ln>
        </p:spPr>
      </p:sp>
      <p:sp>
        <p:nvSpPr>
          <p:cNvPr id="27" name="Text 25"/>
          <p:cNvSpPr/>
          <p:nvPr/>
        </p:nvSpPr>
        <p:spPr>
          <a:xfrm>
            <a:off x="10296144" y="3273552"/>
            <a:ext cx="859536" cy="164592"/>
          </a:xfrm>
          <a:prstGeom prst="rect">
            <a:avLst/>
          </a:prstGeom>
          <a:noFill/>
          <a:ln/>
        </p:spPr>
        <p:txBody>
          <a:bodyPr wrap="square" lIns="0" tIns="0" rIns="0" bIns="0" rtlCol="0" anchor="ctr">
            <a:normAutofit/>
          </a:bodyPr>
          <a:lstStyle/>
          <a:p>
            <a:pPr algn="ctr" indent="0" marL="0">
              <a:buNone/>
            </a:pPr>
            <a:r>
              <a:rPr lang="en-US" sz="900" b="1" dirty="0">
                <a:solidFill>
                  <a:srgbClr val="3F7CAC"/>
                </a:solidFill>
              </a:rPr>
              <a:t>PRACTICAL</a:t>
            </a:r>
            <a:endParaRPr lang="en-US" sz="900" dirty="0"/>
          </a:p>
        </p:txBody>
      </p:sp>
      <p:sp>
        <p:nvSpPr>
          <p:cNvPr id="28" name="Shape 26"/>
          <p:cNvSpPr/>
          <p:nvPr/>
        </p:nvSpPr>
        <p:spPr>
          <a:xfrm>
            <a:off x="978408" y="4014216"/>
            <a:ext cx="365760" cy="365760"/>
          </a:xfrm>
          <a:prstGeom prst="ellipse">
            <a:avLst/>
          </a:prstGeom>
          <a:solidFill>
            <a:srgbClr val="E69A45"/>
          </a:solidFill>
          <a:ln w="12700">
            <a:solidFill>
              <a:srgbClr val="E69A45"/>
            </a:solidFill>
            <a:prstDash val="solid"/>
          </a:ln>
        </p:spPr>
      </p:sp>
      <p:sp>
        <p:nvSpPr>
          <p:cNvPr id="29" name="Text 27"/>
          <p:cNvSpPr/>
          <p:nvPr/>
        </p:nvSpPr>
        <p:spPr>
          <a:xfrm>
            <a:off x="978408" y="4105656"/>
            <a:ext cx="365760" cy="109728"/>
          </a:xfrm>
          <a:prstGeom prst="rect">
            <a:avLst/>
          </a:prstGeom>
          <a:noFill/>
          <a:ln/>
        </p:spPr>
        <p:txBody>
          <a:bodyPr wrap="square" lIns="0" tIns="0" rIns="0" bIns="0" rtlCol="0" anchor="ctr"/>
          <a:lstStyle/>
          <a:p>
            <a:pPr algn="ctr" indent="0" marL="0">
              <a:buNone/>
            </a:pPr>
            <a:r>
              <a:rPr lang="en-US" sz="900" b="1" dirty="0">
                <a:solidFill>
                  <a:srgbClr val="FFFFFF"/>
                </a:solidFill>
              </a:rPr>
              <a:t>3</a:t>
            </a:r>
            <a:endParaRPr lang="en-US" sz="900" dirty="0"/>
          </a:p>
        </p:txBody>
      </p:sp>
      <p:sp>
        <p:nvSpPr>
          <p:cNvPr id="30" name="Text 28"/>
          <p:cNvSpPr/>
          <p:nvPr/>
        </p:nvSpPr>
        <p:spPr>
          <a:xfrm>
            <a:off x="1664208" y="4032504"/>
            <a:ext cx="3840480" cy="310896"/>
          </a:xfrm>
          <a:prstGeom prst="rect">
            <a:avLst/>
          </a:prstGeom>
          <a:noFill/>
          <a:ln/>
        </p:spPr>
        <p:txBody>
          <a:bodyPr wrap="square" lIns="0" tIns="0" rIns="0" bIns="0" rtlCol="0" anchor="ctr">
            <a:normAutofit/>
          </a:bodyPr>
          <a:lstStyle/>
          <a:p>
            <a:pPr indent="0" marL="0">
              <a:buNone/>
            </a:pPr>
            <a:r>
              <a:rPr lang="en-US" sz="1220" b="1" dirty="0">
                <a:solidFill>
                  <a:srgbClr val="17313E"/>
                </a:solidFill>
              </a:rPr>
              <a:t>Cooperative Edge Processing</a:t>
            </a:r>
            <a:endParaRPr lang="en-US" sz="1220" dirty="0"/>
          </a:p>
        </p:txBody>
      </p:sp>
      <p:sp>
        <p:nvSpPr>
          <p:cNvPr id="31" name="Text 29"/>
          <p:cNvSpPr/>
          <p:nvPr/>
        </p:nvSpPr>
        <p:spPr>
          <a:xfrm>
            <a:off x="5742432" y="4032504"/>
            <a:ext cx="1600200" cy="310896"/>
          </a:xfrm>
          <a:prstGeom prst="rect">
            <a:avLst/>
          </a:prstGeom>
          <a:noFill/>
          <a:ln/>
        </p:spPr>
        <p:txBody>
          <a:bodyPr wrap="square" lIns="0" tIns="0" rIns="0" bIns="0" rtlCol="0" anchor="ctr">
            <a:normAutofit/>
          </a:bodyPr>
          <a:lstStyle/>
          <a:p>
            <a:pPr indent="0" marL="0">
              <a:buNone/>
            </a:pPr>
            <a:r>
              <a:rPr lang="en-US" sz="1080" b="1" dirty="0">
                <a:solidFill>
                  <a:srgbClr val="17313E"/>
                </a:solidFill>
              </a:rPr>
              <a:t>Approved laptops</a:t>
            </a:r>
            <a:endParaRPr lang="en-US" sz="1080" dirty="0"/>
          </a:p>
        </p:txBody>
      </p:sp>
      <p:sp>
        <p:nvSpPr>
          <p:cNvPr id="32" name="Text 30"/>
          <p:cNvSpPr/>
          <p:nvPr/>
        </p:nvSpPr>
        <p:spPr>
          <a:xfrm>
            <a:off x="7452360" y="3977640"/>
            <a:ext cx="2743200" cy="438912"/>
          </a:xfrm>
          <a:prstGeom prst="rect">
            <a:avLst/>
          </a:prstGeom>
          <a:noFill/>
          <a:ln/>
        </p:spPr>
        <p:txBody>
          <a:bodyPr wrap="square" lIns="0" tIns="0" rIns="0" bIns="0" rtlCol="0" anchor="ctr">
            <a:normAutofit/>
          </a:bodyPr>
          <a:lstStyle/>
          <a:p>
            <a:pPr indent="0" marL="0">
              <a:buNone/>
            </a:pPr>
            <a:r>
              <a:rPr lang="en-US" sz="1030" dirty="0">
                <a:solidFill>
                  <a:srgbClr val="5F7280"/>
                </a:solidFill>
              </a:rPr>
              <a:t>Batch / overflow / post-mission</a:t>
            </a:r>
            <a:endParaRPr lang="en-US" sz="1030" dirty="0"/>
          </a:p>
        </p:txBody>
      </p:sp>
      <p:sp>
        <p:nvSpPr>
          <p:cNvPr id="33" name="Shape 31"/>
          <p:cNvSpPr/>
          <p:nvPr/>
        </p:nvSpPr>
        <p:spPr>
          <a:xfrm>
            <a:off x="10222992" y="4041648"/>
            <a:ext cx="1005840" cy="310896"/>
          </a:xfrm>
          <a:prstGeom prst="roundRect">
            <a:avLst>
              <a:gd name="adj" fmla="val 23529"/>
            </a:avLst>
          </a:prstGeom>
          <a:solidFill>
            <a:srgbClr val="FCF0E2"/>
          </a:solidFill>
          <a:ln w="12700">
            <a:solidFill>
              <a:srgbClr val="FCF0E2"/>
            </a:solidFill>
            <a:prstDash val="solid"/>
          </a:ln>
        </p:spPr>
      </p:sp>
      <p:sp>
        <p:nvSpPr>
          <p:cNvPr id="34" name="Text 32"/>
          <p:cNvSpPr/>
          <p:nvPr/>
        </p:nvSpPr>
        <p:spPr>
          <a:xfrm>
            <a:off x="10296144" y="4096512"/>
            <a:ext cx="859536" cy="164592"/>
          </a:xfrm>
          <a:prstGeom prst="rect">
            <a:avLst/>
          </a:prstGeom>
          <a:noFill/>
          <a:ln/>
        </p:spPr>
        <p:txBody>
          <a:bodyPr wrap="square" lIns="0" tIns="0" rIns="0" bIns="0" rtlCol="0" anchor="ctr">
            <a:normAutofit/>
          </a:bodyPr>
          <a:lstStyle/>
          <a:p>
            <a:pPr algn="ctr" indent="0" marL="0">
              <a:buNone/>
            </a:pPr>
            <a:r>
              <a:rPr lang="en-US" sz="900" b="1" dirty="0">
                <a:solidFill>
                  <a:srgbClr val="E69A45"/>
                </a:solidFill>
              </a:rPr>
              <a:t>OPTIONAL</a:t>
            </a:r>
            <a:endParaRPr lang="en-US" sz="900" dirty="0"/>
          </a:p>
        </p:txBody>
      </p:sp>
      <p:sp>
        <p:nvSpPr>
          <p:cNvPr id="35" name="Shape 33"/>
          <p:cNvSpPr/>
          <p:nvPr/>
        </p:nvSpPr>
        <p:spPr>
          <a:xfrm>
            <a:off x="978408" y="4837176"/>
            <a:ext cx="365760" cy="365760"/>
          </a:xfrm>
          <a:prstGeom prst="ellipse">
            <a:avLst/>
          </a:prstGeom>
          <a:solidFill>
            <a:srgbClr val="82929C"/>
          </a:solidFill>
          <a:ln w="12700">
            <a:solidFill>
              <a:srgbClr val="82929C"/>
            </a:solidFill>
            <a:prstDash val="solid"/>
          </a:ln>
        </p:spPr>
      </p:sp>
      <p:sp>
        <p:nvSpPr>
          <p:cNvPr id="36" name="Text 34"/>
          <p:cNvSpPr/>
          <p:nvPr/>
        </p:nvSpPr>
        <p:spPr>
          <a:xfrm>
            <a:off x="978408" y="4928616"/>
            <a:ext cx="365760" cy="109728"/>
          </a:xfrm>
          <a:prstGeom prst="rect">
            <a:avLst/>
          </a:prstGeom>
          <a:noFill/>
          <a:ln/>
        </p:spPr>
        <p:txBody>
          <a:bodyPr wrap="square" lIns="0" tIns="0" rIns="0" bIns="0" rtlCol="0" anchor="ctr"/>
          <a:lstStyle/>
          <a:p>
            <a:pPr algn="ctr" indent="0" marL="0">
              <a:buNone/>
            </a:pPr>
            <a:r>
              <a:rPr lang="en-US" sz="900" b="1" dirty="0">
                <a:solidFill>
                  <a:srgbClr val="FFFFFF"/>
                </a:solidFill>
              </a:rPr>
              <a:t>4</a:t>
            </a:r>
            <a:endParaRPr lang="en-US" sz="900" dirty="0"/>
          </a:p>
        </p:txBody>
      </p:sp>
      <p:sp>
        <p:nvSpPr>
          <p:cNvPr id="37" name="Text 35"/>
          <p:cNvSpPr/>
          <p:nvPr/>
        </p:nvSpPr>
        <p:spPr>
          <a:xfrm>
            <a:off x="1664208" y="4855464"/>
            <a:ext cx="3840480" cy="310896"/>
          </a:xfrm>
          <a:prstGeom prst="rect">
            <a:avLst/>
          </a:prstGeom>
          <a:noFill/>
          <a:ln/>
        </p:spPr>
        <p:txBody>
          <a:bodyPr wrap="square" lIns="0" tIns="0" rIns="0" bIns="0" rtlCol="0" anchor="ctr">
            <a:normAutofit/>
          </a:bodyPr>
          <a:lstStyle/>
          <a:p>
            <a:pPr indent="0" marL="0">
              <a:buNone/>
            </a:pPr>
            <a:r>
              <a:rPr lang="en-US" sz="1220" b="1" dirty="0">
                <a:solidFill>
                  <a:srgbClr val="17313E"/>
                </a:solidFill>
              </a:rPr>
              <a:t>UAV-Onboard Edge + 4G/5G</a:t>
            </a:r>
            <a:endParaRPr lang="en-US" sz="1220" dirty="0"/>
          </a:p>
        </p:txBody>
      </p:sp>
      <p:sp>
        <p:nvSpPr>
          <p:cNvPr id="38" name="Text 36"/>
          <p:cNvSpPr/>
          <p:nvPr/>
        </p:nvSpPr>
        <p:spPr>
          <a:xfrm>
            <a:off x="5742432" y="4855464"/>
            <a:ext cx="1600200" cy="310896"/>
          </a:xfrm>
          <a:prstGeom prst="rect">
            <a:avLst/>
          </a:prstGeom>
          <a:noFill/>
          <a:ln/>
        </p:spPr>
        <p:txBody>
          <a:bodyPr wrap="square" lIns="0" tIns="0" rIns="0" bIns="0" rtlCol="0" anchor="ctr">
            <a:normAutofit/>
          </a:bodyPr>
          <a:lstStyle/>
          <a:p>
            <a:pPr indent="0" marL="0">
              <a:buNone/>
            </a:pPr>
            <a:r>
              <a:rPr lang="en-US" sz="1080" b="1" dirty="0">
                <a:solidFill>
                  <a:srgbClr val="17313E"/>
                </a:solidFill>
              </a:rPr>
              <a:t>UAV edge module</a:t>
            </a:r>
            <a:endParaRPr lang="en-US" sz="1080" dirty="0"/>
          </a:p>
        </p:txBody>
      </p:sp>
      <p:sp>
        <p:nvSpPr>
          <p:cNvPr id="39" name="Text 37"/>
          <p:cNvSpPr/>
          <p:nvPr/>
        </p:nvSpPr>
        <p:spPr>
          <a:xfrm>
            <a:off x="7452360" y="4800600"/>
            <a:ext cx="2743200" cy="438912"/>
          </a:xfrm>
          <a:prstGeom prst="rect">
            <a:avLst/>
          </a:prstGeom>
          <a:noFill/>
          <a:ln/>
        </p:spPr>
        <p:txBody>
          <a:bodyPr wrap="square" lIns="0" tIns="0" rIns="0" bIns="0" rtlCol="0" anchor="ctr">
            <a:normAutofit/>
          </a:bodyPr>
          <a:lstStyle/>
          <a:p>
            <a:pPr indent="0" marL="0">
              <a:buNone/>
            </a:pPr>
            <a:r>
              <a:rPr lang="en-US" sz="1030" dirty="0">
                <a:solidFill>
                  <a:srgbClr val="5F7280"/>
                </a:solidFill>
              </a:rPr>
              <a:t>Future compatible UAVs</a:t>
            </a:r>
            <a:endParaRPr lang="en-US" sz="1030" dirty="0"/>
          </a:p>
        </p:txBody>
      </p:sp>
      <p:sp>
        <p:nvSpPr>
          <p:cNvPr id="40" name="Shape 38"/>
          <p:cNvSpPr/>
          <p:nvPr/>
        </p:nvSpPr>
        <p:spPr>
          <a:xfrm>
            <a:off x="10222992" y="4864608"/>
            <a:ext cx="1005840" cy="310896"/>
          </a:xfrm>
          <a:prstGeom prst="roundRect">
            <a:avLst>
              <a:gd name="adj" fmla="val 23529"/>
            </a:avLst>
          </a:prstGeom>
          <a:solidFill>
            <a:srgbClr val="EFF2F4"/>
          </a:solidFill>
          <a:ln w="12700">
            <a:solidFill>
              <a:srgbClr val="EFF2F4"/>
            </a:solidFill>
            <a:prstDash val="solid"/>
          </a:ln>
        </p:spPr>
      </p:sp>
      <p:sp>
        <p:nvSpPr>
          <p:cNvPr id="41" name="Text 39"/>
          <p:cNvSpPr/>
          <p:nvPr/>
        </p:nvSpPr>
        <p:spPr>
          <a:xfrm>
            <a:off x="10296144" y="4919472"/>
            <a:ext cx="859536" cy="164592"/>
          </a:xfrm>
          <a:prstGeom prst="rect">
            <a:avLst/>
          </a:prstGeom>
          <a:noFill/>
          <a:ln/>
        </p:spPr>
        <p:txBody>
          <a:bodyPr wrap="square" lIns="0" tIns="0" rIns="0" bIns="0" rtlCol="0" anchor="ctr">
            <a:normAutofit/>
          </a:bodyPr>
          <a:lstStyle/>
          <a:p>
            <a:pPr algn="ctr" indent="0" marL="0">
              <a:buNone/>
            </a:pPr>
            <a:r>
              <a:rPr lang="en-US" sz="900" b="1" dirty="0">
                <a:solidFill>
                  <a:srgbClr val="82929C"/>
                </a:solidFill>
              </a:rPr>
              <a:t>FUTURE</a:t>
            </a:r>
            <a:endParaRPr lang="en-US" sz="900" dirty="0"/>
          </a:p>
        </p:txBody>
      </p:sp>
      <p:sp>
        <p:nvSpPr>
          <p:cNvPr id="42" name="Shape 40"/>
          <p:cNvSpPr/>
          <p:nvPr/>
        </p:nvSpPr>
        <p:spPr>
          <a:xfrm>
            <a:off x="1664208" y="6053328"/>
            <a:ext cx="8732520" cy="420624"/>
          </a:xfrm>
          <a:prstGeom prst="roundRect">
            <a:avLst>
              <a:gd name="adj" fmla="val 10870"/>
            </a:avLst>
          </a:prstGeom>
          <a:solidFill>
            <a:srgbClr val="0B1F33"/>
          </a:solidFill>
          <a:ln w="12700">
            <a:solidFill>
              <a:srgbClr val="0B1F33"/>
            </a:solidFill>
            <a:prstDash val="solid"/>
          </a:ln>
        </p:spPr>
      </p:sp>
      <p:sp>
        <p:nvSpPr>
          <p:cNvPr id="43" name="Text 41"/>
          <p:cNvSpPr/>
          <p:nvPr/>
        </p:nvSpPr>
        <p:spPr>
          <a:xfrm>
            <a:off x="1901952" y="6181344"/>
            <a:ext cx="8275320" cy="146304"/>
          </a:xfrm>
          <a:prstGeom prst="rect">
            <a:avLst/>
          </a:prstGeom>
          <a:noFill/>
          <a:ln/>
        </p:spPr>
        <p:txBody>
          <a:bodyPr wrap="square" lIns="0" tIns="0" rIns="0" bIns="0" rtlCol="0" anchor="ctr">
            <a:normAutofit/>
          </a:bodyPr>
          <a:lstStyle/>
          <a:p>
            <a:pPr algn="ctr" indent="0" marL="0">
              <a:buNone/>
            </a:pPr>
            <a:r>
              <a:rPr lang="en-US" sz="1180" b="1" dirty="0">
                <a:solidFill>
                  <a:srgbClr val="FFFFFF"/>
                </a:solidFill>
              </a:rPr>
              <a:t>Centralized operational management is common to all configurations; only the location of AI inference changes.</a:t>
            </a:r>
            <a:endParaRPr lang="en-US" sz="1180" dirty="0"/>
          </a:p>
        </p:txBody>
      </p:sp>
      <p:sp>
        <p:nvSpPr>
          <p:cNvPr id="25" name="Slide Number Placeholder 0"/>
          <p:cNvSpPr>
            <a:spLocks noGrp="1"/>
          </p:cNvSpPr>
          <p:nvPr>
            <p:ph type="sldNum" sz="quarter" idx="4294967295"/>
          </p:nvPr>
        </p:nvSpPr>
        <p:spPr>
          <a:xfrm>
            <a:off x="11631168" y="6547104"/>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B7D89"/>
                </a:solidFill>
                <a:latin typeface="Aptos"/>
                <a:ea typeface="Aptos"/>
                <a:cs typeface="Apto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758952"/>
            <a:ext cx="10972800" cy="438912"/>
          </a:xfrm>
          <a:prstGeom prst="rect">
            <a:avLst/>
          </a:prstGeom>
          <a:noFill/>
          <a:ln/>
        </p:spPr>
        <p:txBody>
          <a:bodyPr wrap="square" lIns="0" tIns="0" rIns="0" bIns="0" rtlCol="0" anchor="ctr">
            <a:normAutofit/>
          </a:bodyP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Development Environment → Production Transition</a:t>
            </a:r>
            <a:endParaRPr lang="en-US" sz="2500" dirty="0"/>
          </a:p>
        </p:txBody>
      </p:sp>
      <p:sp>
        <p:nvSpPr>
          <p:cNvPr id="3" name="Shape 1"/>
          <p:cNvSpPr/>
          <p:nvPr/>
        </p:nvSpPr>
        <p:spPr>
          <a:xfrm>
            <a:off x="566928" y="1243584"/>
            <a:ext cx="914400" cy="45720"/>
          </a:xfrm>
          <a:prstGeom prst="rect">
            <a:avLst/>
          </a:prstGeom>
          <a:solidFill>
            <a:srgbClr val="2A9D8F"/>
          </a:solidFill>
          <a:ln w="12700">
            <a:solidFill>
              <a:srgbClr val="2A9D8F"/>
            </a:solidFill>
            <a:prstDash val="solid"/>
          </a:ln>
        </p:spPr>
      </p:sp>
      <p:sp>
        <p:nvSpPr>
          <p:cNvPr id="4" name="Text 2"/>
          <p:cNvSpPr/>
          <p:nvPr/>
        </p:nvSpPr>
        <p:spPr>
          <a:xfrm>
            <a:off x="1600200" y="1115568"/>
            <a:ext cx="9784080" cy="228600"/>
          </a:xfrm>
          <a:prstGeom prst="rect">
            <a:avLst/>
          </a:prstGeom>
          <a:noFill/>
          <a:ln/>
        </p:spPr>
        <p:txBody>
          <a:bodyPr wrap="square" lIns="0" tIns="0" rIns="0" bIns="0" rtlCol="0" anchor="ctr">
            <a:normAutofit/>
          </a:bodyPr>
          <a:lstStyle/>
          <a:p>
            <a:pPr indent="0" marL="0">
              <a:buNone/>
            </a:pPr>
            <a:r>
              <a:rPr lang="en-US" sz="1050" dirty="0">
                <a:solidFill>
                  <a:srgbClr val="5F7280"/>
                </a:solidFill>
                <a:latin typeface="Aptos" pitchFamily="34" charset="0"/>
                <a:ea typeface="Aptos" pitchFamily="34" charset="-122"/>
                <a:cs typeface="Aptos" pitchFamily="34" charset="-120"/>
              </a:rPr>
              <a:t>Start early, preserve data-locality options, finish under Kerala Police-approved infrastructure</a:t>
            </a:r>
            <a:endParaRPr lang="en-US" sz="1050" dirty="0"/>
          </a:p>
        </p:txBody>
      </p:sp>
      <p:sp>
        <p:nvSpPr>
          <p:cNvPr id="5" name="Shape 3"/>
          <p:cNvSpPr/>
          <p:nvPr/>
        </p:nvSpPr>
        <p:spPr>
          <a:xfrm>
            <a:off x="786384" y="1755648"/>
            <a:ext cx="4617720" cy="3474720"/>
          </a:xfrm>
          <a:prstGeom prst="roundRect">
            <a:avLst>
              <a:gd name="adj" fmla="val 2105"/>
            </a:avLst>
          </a:prstGeom>
          <a:solidFill>
            <a:srgbClr val="F2F8FB"/>
          </a:solidFill>
          <a:ln w="15240">
            <a:solidFill>
              <a:srgbClr val="BDD5E2"/>
            </a:solidFill>
            <a:prstDash val="solid"/>
          </a:ln>
        </p:spPr>
      </p:sp>
      <p:sp>
        <p:nvSpPr>
          <p:cNvPr id="6" name="Text 4"/>
          <p:cNvSpPr/>
          <p:nvPr/>
        </p:nvSpPr>
        <p:spPr>
          <a:xfrm>
            <a:off x="1060704" y="2011680"/>
            <a:ext cx="4069080" cy="310896"/>
          </a:xfrm>
          <a:prstGeom prst="rect">
            <a:avLst/>
          </a:prstGeom>
          <a:noFill/>
          <a:ln/>
        </p:spPr>
        <p:txBody>
          <a:bodyPr wrap="square" lIns="0" tIns="0" rIns="0" bIns="0" rtlCol="0" anchor="ctr"/>
          <a:lstStyle/>
          <a:p>
            <a:pPr algn="ctr" indent="0" marL="0">
              <a:buNone/>
            </a:pPr>
            <a:r>
              <a:rPr lang="en-US" sz="1700" b="1" dirty="0">
                <a:solidFill>
                  <a:srgbClr val="3F7CAC"/>
                </a:solidFill>
              </a:rPr>
              <a:t>STAGE 1  |  First ~3 Months</a:t>
            </a:r>
            <a:endParaRPr lang="en-US" sz="17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779776" y="2523744"/>
            <a:ext cx="658368" cy="658368"/>
          </a:xfrm>
          <a:prstGeom prst="rect">
            <a:avLst/>
          </a:prstGeom>
        </p:spPr>
      </p:pic>
      <p:sp>
        <p:nvSpPr>
          <p:cNvPr id="8" name="Text 5"/>
          <p:cNvSpPr/>
          <p:nvPr/>
        </p:nvSpPr>
        <p:spPr>
          <a:xfrm>
            <a:off x="1325880" y="3346704"/>
            <a:ext cx="3584448" cy="475488"/>
          </a:xfrm>
          <a:prstGeom prst="rect">
            <a:avLst/>
          </a:prstGeom>
          <a:noFill/>
          <a:ln/>
        </p:spPr>
        <p:txBody>
          <a:bodyPr wrap="square" lIns="0" tIns="0" rIns="0" bIns="0" rtlCol="0" anchor="ctr">
            <a:normAutofit/>
          </a:bodyPr>
          <a:lstStyle/>
          <a:p>
            <a:pPr algn="ctr" indent="0" marL="0">
              <a:buNone/>
            </a:pPr>
            <a:r>
              <a:rPr lang="en-US" sz="1500" b="1" dirty="0">
                <a:solidFill>
                  <a:srgbClr val="17313E"/>
                </a:solidFill>
              </a:rPr>
              <a:t>Secure QWI-Managed Development Environment</a:t>
            </a:r>
            <a:endParaRPr lang="en-US" sz="1500" dirty="0"/>
          </a:p>
        </p:txBody>
      </p:sp>
      <p:sp>
        <p:nvSpPr>
          <p:cNvPr id="9" name="Text 6"/>
          <p:cNvSpPr/>
          <p:nvPr/>
        </p:nvSpPr>
        <p:spPr>
          <a:xfrm>
            <a:off x="1325880" y="3968496"/>
            <a:ext cx="3584448" cy="987552"/>
          </a:xfrm>
          <a:prstGeom prst="rect">
            <a:avLst/>
          </a:prstGeom>
          <a:noFill/>
          <a:ln/>
        </p:spPr>
        <p:txBody>
          <a:bodyPr wrap="square" lIns="127" tIns="127" rIns="127" bIns="127" rtlCol="0" anchor="ctr">
            <a:normAutofit/>
          </a:bodyPr>
          <a:lstStyle/>
          <a:p>
            <a:pPr algn="ctr" indent="0" marL="0">
              <a:buNone/>
            </a:pPr>
            <a:r>
              <a:rPr lang="en-US" sz="1070" dirty="0">
                <a:solidFill>
                  <a:srgbClr val="5F7280"/>
                </a:solidFill>
              </a:rPr>
              <a:t>Subject to Kerala Police approval</a:t>
            </a:r>
            <a:endParaRPr lang="en-US" sz="1070" dirty="0"/>
          </a:p>
          <a:p>
            <a:pPr algn="ctr" indent="0" marL="0">
              <a:buNone/>
            </a:pPr>
            <a:r>
              <a:rPr lang="en-US" sz="1070" dirty="0">
                <a:solidFill>
                  <a:srgbClr val="5F7280"/>
                </a:solidFill>
              </a:rPr>
              <a:t>• software integration</a:t>
            </a:r>
            <a:endParaRPr lang="en-US" sz="1070" dirty="0"/>
          </a:p>
          <a:p>
            <a:pPr algn="ctr" indent="0" marL="0">
              <a:buNone/>
            </a:pPr>
            <a:r>
              <a:rPr lang="en-US" sz="1070" dirty="0">
                <a:solidFill>
                  <a:srgbClr val="5F7280"/>
                </a:solidFill>
              </a:rPr>
              <a:t>• model adaptation</a:t>
            </a:r>
            <a:endParaRPr lang="en-US" sz="1070" dirty="0"/>
          </a:p>
          <a:p>
            <a:pPr algn="ctr" indent="0" marL="0">
              <a:buNone/>
            </a:pPr>
            <a:r>
              <a:rPr lang="en-US" sz="1070" dirty="0">
                <a:solidFill>
                  <a:srgbClr val="5F7280"/>
                </a:solidFill>
              </a:rPr>
              <a:t>• dashboard + GIS/telemetry</a:t>
            </a:r>
            <a:endParaRPr lang="en-US" sz="1070" dirty="0"/>
          </a:p>
          <a:p>
            <a:pPr algn="ctr" indent="0" marL="0">
              <a:buNone/>
            </a:pPr>
            <a:r>
              <a:rPr lang="en-US" sz="1070" dirty="0">
                <a:solidFill>
                  <a:srgbClr val="5F7280"/>
                </a:solidFill>
              </a:rPr>
              <a:t>• evidence workflows</a:t>
            </a:r>
            <a:endParaRPr lang="en-US" sz="1070" dirty="0"/>
          </a:p>
          <a:p>
            <a:pPr algn="ctr" indent="0" marL="0">
              <a:buNone/>
            </a:pPr>
            <a:r>
              <a:rPr lang="en-US" sz="1070" dirty="0">
                <a:solidFill>
                  <a:srgbClr val="5F7280"/>
                </a:solidFill>
              </a:rPr>
              <a:t>• authorized prerecorded footage</a:t>
            </a:r>
            <a:endParaRPr lang="en-US" sz="1070" dirty="0"/>
          </a:p>
        </p:txBody>
      </p:sp>
      <p:sp>
        <p:nvSpPr>
          <p:cNvPr id="10" name="Shape 7"/>
          <p:cNvSpPr/>
          <p:nvPr/>
        </p:nvSpPr>
        <p:spPr>
          <a:xfrm>
            <a:off x="5413248" y="3456432"/>
            <a:ext cx="1060704" cy="0"/>
          </a:xfrm>
          <a:prstGeom prst="line">
            <a:avLst/>
          </a:prstGeom>
          <a:noFill/>
          <a:ln w="27940">
            <a:solidFill>
              <a:srgbClr val="2A9D8F"/>
            </a:solidFill>
            <a:prstDash val="solid"/>
            <a:headEnd type="none"/>
            <a:tailEnd type="triangle"/>
          </a:ln>
        </p:spPr>
      </p:sp>
      <p:sp>
        <p:nvSpPr>
          <p:cNvPr id="11" name="Shape 8"/>
          <p:cNvSpPr/>
          <p:nvPr/>
        </p:nvSpPr>
        <p:spPr>
          <a:xfrm>
            <a:off x="6483096" y="1755648"/>
            <a:ext cx="4892040" cy="3474720"/>
          </a:xfrm>
          <a:prstGeom prst="roundRect">
            <a:avLst>
              <a:gd name="adj" fmla="val 2105"/>
            </a:avLst>
          </a:prstGeom>
          <a:solidFill>
            <a:srgbClr val="F2FAF8"/>
          </a:solidFill>
          <a:ln w="15240">
            <a:solidFill>
              <a:srgbClr val="BBDCD6"/>
            </a:solidFill>
            <a:prstDash val="solid"/>
          </a:ln>
        </p:spPr>
      </p:sp>
      <p:sp>
        <p:nvSpPr>
          <p:cNvPr id="12" name="Text 9"/>
          <p:cNvSpPr/>
          <p:nvPr/>
        </p:nvSpPr>
        <p:spPr>
          <a:xfrm>
            <a:off x="6784848" y="2011680"/>
            <a:ext cx="4297680" cy="310896"/>
          </a:xfrm>
          <a:prstGeom prst="rect">
            <a:avLst/>
          </a:prstGeom>
          <a:noFill/>
          <a:ln/>
        </p:spPr>
        <p:txBody>
          <a:bodyPr wrap="square" lIns="0" tIns="0" rIns="0" bIns="0" rtlCol="0" anchor="ctr"/>
          <a:lstStyle/>
          <a:p>
            <a:pPr algn="ctr" indent="0" marL="0">
              <a:buNone/>
            </a:pPr>
            <a:r>
              <a:rPr lang="en-US" sz="1700" b="1" dirty="0">
                <a:solidFill>
                  <a:srgbClr val="0F6B6F"/>
                </a:solidFill>
              </a:rPr>
              <a:t>STAGE 2  |  Production Transition</a:t>
            </a:r>
            <a:endParaRPr lang="en-US" sz="1700" dirty="0"/>
          </a:p>
        </p:txBody>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58784" y="2523744"/>
            <a:ext cx="658368" cy="658368"/>
          </a:xfrm>
          <a:prstGeom prst="rect">
            <a:avLst/>
          </a:prstGeom>
        </p:spPr>
      </p:pic>
      <p:sp>
        <p:nvSpPr>
          <p:cNvPr id="14" name="Text 10"/>
          <p:cNvSpPr/>
          <p:nvPr/>
        </p:nvSpPr>
        <p:spPr>
          <a:xfrm>
            <a:off x="7059168" y="3346704"/>
            <a:ext cx="3730752" cy="475488"/>
          </a:xfrm>
          <a:prstGeom prst="rect">
            <a:avLst/>
          </a:prstGeom>
          <a:noFill/>
          <a:ln/>
        </p:spPr>
        <p:txBody>
          <a:bodyPr wrap="square" lIns="0" tIns="0" rIns="0" bIns="0" rtlCol="0" anchor="ctr"/>
          <a:lstStyle/>
          <a:p>
            <a:pPr algn="ctr" indent="0" marL="0">
              <a:buNone/>
            </a:pPr>
            <a:r>
              <a:rPr lang="en-US" sz="1500" b="1" dirty="0">
                <a:solidFill>
                  <a:srgbClr val="17313E"/>
                </a:solidFill>
              </a:rPr>
              <a:t>Kerala Police-Designated Infrastructure</a:t>
            </a:r>
            <a:endParaRPr lang="en-US" sz="1500" dirty="0"/>
          </a:p>
        </p:txBody>
      </p:sp>
      <p:sp>
        <p:nvSpPr>
          <p:cNvPr id="15" name="Text 11"/>
          <p:cNvSpPr/>
          <p:nvPr/>
        </p:nvSpPr>
        <p:spPr>
          <a:xfrm>
            <a:off x="6967728" y="3986784"/>
            <a:ext cx="3913632" cy="859536"/>
          </a:xfrm>
          <a:prstGeom prst="rect">
            <a:avLst/>
          </a:prstGeom>
          <a:noFill/>
          <a:ln/>
        </p:spPr>
        <p:txBody>
          <a:bodyPr wrap="square" lIns="127" tIns="127" rIns="127" bIns="127" rtlCol="0" anchor="ctr">
            <a:normAutofit/>
          </a:bodyPr>
          <a:lstStyle/>
          <a:p>
            <a:pPr algn="ctr" indent="0" marL="0">
              <a:buNone/>
            </a:pPr>
            <a:r>
              <a:rPr lang="en-US" sz="1090" dirty="0">
                <a:solidFill>
                  <a:srgbClr val="5F7280"/>
                </a:solidFill>
              </a:rPr>
              <a:t>Department Server / Data Centre / SDC / approved environment</a:t>
            </a:r>
            <a:endParaRPr lang="en-US" sz="1090" dirty="0"/>
          </a:p>
          <a:p>
            <a:pPr algn="ctr" indent="0" marL="0">
              <a:buNone/>
            </a:pPr>
            <a:endParaRPr lang="en-US" sz="1090" dirty="0"/>
          </a:p>
          <a:p>
            <a:pPr algn="ctr" indent="0" marL="0">
              <a:buNone/>
            </a:pPr>
            <a:r>
              <a:rPr lang="en-US" sz="1090" dirty="0">
                <a:solidFill>
                  <a:srgbClr val="5F7280"/>
                </a:solidFill>
              </a:rPr>
              <a:t>UAV/GCS integration → live validation → UAT → commissioning</a:t>
            </a:r>
            <a:endParaRPr lang="en-US" sz="1090" dirty="0"/>
          </a:p>
        </p:txBody>
      </p:sp>
      <p:sp>
        <p:nvSpPr>
          <p:cNvPr id="16" name="Shape 12"/>
          <p:cNvSpPr/>
          <p:nvPr/>
        </p:nvSpPr>
        <p:spPr>
          <a:xfrm>
            <a:off x="2057400" y="5522976"/>
            <a:ext cx="8101584" cy="585216"/>
          </a:xfrm>
          <a:prstGeom prst="roundRect">
            <a:avLst>
              <a:gd name="adj" fmla="val 9375"/>
            </a:avLst>
          </a:prstGeom>
          <a:solidFill>
            <a:srgbClr val="FFF8F1"/>
          </a:solidFill>
          <a:ln w="12700">
            <a:solidFill>
              <a:srgbClr val="E8C69E"/>
            </a:solidFill>
            <a:prstDash val="solid"/>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40864" y="5660136"/>
            <a:ext cx="237744" cy="237744"/>
          </a:xfrm>
          <a:prstGeom prst="rect">
            <a:avLst/>
          </a:prstGeom>
        </p:spPr>
      </p:pic>
      <p:sp>
        <p:nvSpPr>
          <p:cNvPr id="18" name="Text 13"/>
          <p:cNvSpPr/>
          <p:nvPr/>
        </p:nvSpPr>
        <p:spPr>
          <a:xfrm>
            <a:off x="2706624" y="5623560"/>
            <a:ext cx="7132320" cy="283464"/>
          </a:xfrm>
          <a:prstGeom prst="rect">
            <a:avLst/>
          </a:prstGeom>
          <a:noFill/>
          <a:ln/>
        </p:spPr>
        <p:txBody>
          <a:bodyPr wrap="square" lIns="0" tIns="0" rIns="0" bIns="0" rtlCol="0" anchor="ctr">
            <a:normAutofit/>
          </a:bodyPr>
          <a:lstStyle/>
          <a:p>
            <a:pPr indent="0" marL="0">
              <a:buNone/>
            </a:pPr>
            <a:r>
              <a:rPr lang="en-US" sz="1070" b="1" dirty="0">
                <a:solidFill>
                  <a:srgbClr val="17313E"/>
                </a:solidFill>
              </a:rPr>
              <a:t>If operational footage cannot leave Police infrastructure → deploy the same development stack directly within Department-designated infrastructure.</a:t>
            </a:r>
            <a:endParaRPr lang="en-US" sz="1070" dirty="0"/>
          </a:p>
        </p:txBody>
      </p:sp>
      <p:sp>
        <p:nvSpPr>
          <p:cNvPr id="25" name="Slide Number Placeholder 0"/>
          <p:cNvSpPr>
            <a:spLocks noGrp="1"/>
          </p:cNvSpPr>
          <p:nvPr>
            <p:ph type="sldNum" sz="quarter" idx="4294967295"/>
          </p:nvPr>
        </p:nvSpPr>
        <p:spPr>
          <a:xfrm>
            <a:off x="11631168" y="6547104"/>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B7D89"/>
                </a:solidFill>
                <a:latin typeface="Aptos"/>
                <a:ea typeface="Aptos"/>
                <a:cs typeface="Apto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758952"/>
            <a:ext cx="10972800" cy="438912"/>
          </a:xfrm>
          <a:prstGeom prst="rect">
            <a:avLst/>
          </a:prstGeom>
          <a:noFill/>
          <a:ln/>
        </p:spPr>
        <p:txBody>
          <a:bodyPr wrap="square" lIns="0" tIns="0" rIns="0" bIns="0" rtlCol="0" anchor="ctr">
            <a:normAutofit/>
          </a:bodyPr>
          <a:lstStyle/>
          <a:p>
            <a:pPr indent="0" marL="0">
              <a:buNone/>
            </a:pPr>
            <a:r>
              <a:rPr lang="en-US" sz="2500" b="1" dirty="0">
                <a:solidFill>
                  <a:srgbClr val="0B1F33"/>
                </a:solidFill>
                <a:latin typeface="Aptos Display" pitchFamily="34" charset="0"/>
                <a:ea typeface="Aptos Display" pitchFamily="34" charset="-122"/>
                <a:cs typeface="Aptos Display" pitchFamily="34" charset="-120"/>
              </a:rPr>
              <a:t>16-Week Implementation + Acceptance</a:t>
            </a:r>
            <a:endParaRPr lang="en-US" sz="2500" dirty="0"/>
          </a:p>
        </p:txBody>
      </p:sp>
      <p:sp>
        <p:nvSpPr>
          <p:cNvPr id="3" name="Shape 1"/>
          <p:cNvSpPr/>
          <p:nvPr/>
        </p:nvSpPr>
        <p:spPr>
          <a:xfrm>
            <a:off x="566928" y="1243584"/>
            <a:ext cx="914400" cy="45720"/>
          </a:xfrm>
          <a:prstGeom prst="rect">
            <a:avLst/>
          </a:prstGeom>
          <a:solidFill>
            <a:srgbClr val="2A9D8F"/>
          </a:solidFill>
          <a:ln w="12700">
            <a:solidFill>
              <a:srgbClr val="2A9D8F"/>
            </a:solidFill>
            <a:prstDash val="solid"/>
          </a:ln>
        </p:spPr>
      </p:sp>
      <p:sp>
        <p:nvSpPr>
          <p:cNvPr id="4" name="Text 2"/>
          <p:cNvSpPr/>
          <p:nvPr/>
        </p:nvSpPr>
        <p:spPr>
          <a:xfrm>
            <a:off x="1600200" y="1115568"/>
            <a:ext cx="9784080" cy="228600"/>
          </a:xfrm>
          <a:prstGeom prst="rect">
            <a:avLst/>
          </a:prstGeom>
          <a:noFill/>
          <a:ln/>
        </p:spPr>
        <p:txBody>
          <a:bodyPr wrap="square" lIns="0" tIns="0" rIns="0" bIns="0" rtlCol="0" anchor="ctr">
            <a:normAutofit/>
          </a:bodyPr>
          <a:lstStyle/>
          <a:p>
            <a:pPr indent="0" marL="0">
              <a:buNone/>
            </a:pPr>
            <a:r>
              <a:rPr lang="en-US" sz="1050" dirty="0">
                <a:solidFill>
                  <a:srgbClr val="5F7280"/>
                </a:solidFill>
                <a:latin typeface="Aptos" pitchFamily="34" charset="0"/>
                <a:ea typeface="Aptos" pitchFamily="34" charset="-122"/>
                <a:cs typeface="Aptos" pitchFamily="34" charset="-120"/>
              </a:rPr>
              <a:t>Development, local adaptation, integration and commissioning — followed by ≥3 years support</a:t>
            </a:r>
            <a:endParaRPr lang="en-US" sz="1050" dirty="0"/>
          </a:p>
        </p:txBody>
      </p:sp>
      <p:sp>
        <p:nvSpPr>
          <p:cNvPr id="5" name="Shape 3"/>
          <p:cNvSpPr/>
          <p:nvPr/>
        </p:nvSpPr>
        <p:spPr>
          <a:xfrm>
            <a:off x="658368" y="1719072"/>
            <a:ext cx="2542032" cy="3054096"/>
          </a:xfrm>
          <a:prstGeom prst="roundRect">
            <a:avLst>
              <a:gd name="adj" fmla="val 2878"/>
            </a:avLst>
          </a:prstGeom>
          <a:solidFill>
            <a:srgbClr val="FFFFFF"/>
          </a:solidFill>
          <a:ln w="16510">
            <a:solidFill>
              <a:srgbClr val="3F7CAC"/>
            </a:solidFill>
            <a:prstDash val="solid"/>
          </a:ln>
        </p:spPr>
      </p:sp>
      <p:sp>
        <p:nvSpPr>
          <p:cNvPr id="6" name="Shape 4"/>
          <p:cNvSpPr/>
          <p:nvPr/>
        </p:nvSpPr>
        <p:spPr>
          <a:xfrm>
            <a:off x="658368" y="1719072"/>
            <a:ext cx="2542032" cy="475488"/>
          </a:xfrm>
          <a:prstGeom prst="rect">
            <a:avLst/>
          </a:prstGeom>
          <a:solidFill>
            <a:srgbClr val="3F7CAC"/>
          </a:solidFill>
          <a:ln w="12700">
            <a:solidFill>
              <a:srgbClr val="3F7CAC"/>
            </a:solidFill>
            <a:prstDash val="solid"/>
          </a:ln>
        </p:spPr>
      </p:sp>
      <p:sp>
        <p:nvSpPr>
          <p:cNvPr id="7" name="Text 5"/>
          <p:cNvSpPr/>
          <p:nvPr/>
        </p:nvSpPr>
        <p:spPr>
          <a:xfrm>
            <a:off x="841248" y="1883664"/>
            <a:ext cx="2176272" cy="164592"/>
          </a:xfrm>
          <a:prstGeom prst="rect">
            <a:avLst/>
          </a:prstGeom>
          <a:noFill/>
          <a:ln/>
        </p:spPr>
        <p:txBody>
          <a:bodyPr wrap="square" lIns="0" tIns="0" rIns="0" bIns="0" rtlCol="0" anchor="ctr"/>
          <a:lstStyle/>
          <a:p>
            <a:pPr algn="ctr" indent="0" marL="0">
              <a:buNone/>
            </a:pPr>
            <a:r>
              <a:rPr lang="en-US" sz="1050" b="1" dirty="0">
                <a:solidFill>
                  <a:srgbClr val="FFFFFF"/>
                </a:solidFill>
              </a:rPr>
              <a:t>MONTH 1</a:t>
            </a:r>
            <a:endParaRPr lang="en-US" sz="1050" dirty="0"/>
          </a:p>
        </p:txBody>
      </p:sp>
      <p:sp>
        <p:nvSpPr>
          <p:cNvPr id="8" name="Text 6"/>
          <p:cNvSpPr/>
          <p:nvPr/>
        </p:nvSpPr>
        <p:spPr>
          <a:xfrm>
            <a:off x="841248" y="2505456"/>
            <a:ext cx="2176272" cy="530352"/>
          </a:xfrm>
          <a:prstGeom prst="rect">
            <a:avLst/>
          </a:prstGeom>
          <a:noFill/>
          <a:ln/>
        </p:spPr>
        <p:txBody>
          <a:bodyPr wrap="square" lIns="0" tIns="0" rIns="0" bIns="0" rtlCol="0" anchor="ctr">
            <a:normAutofit/>
          </a:bodyPr>
          <a:lstStyle/>
          <a:p>
            <a:pPr algn="ctr" indent="0" marL="0">
              <a:buNone/>
            </a:pPr>
            <a:r>
              <a:rPr lang="en-US" sz="1500" b="1" dirty="0">
                <a:solidFill>
                  <a:srgbClr val="17313E"/>
                </a:solidFill>
              </a:rPr>
              <a:t>Platform Foundation</a:t>
            </a:r>
            <a:endParaRPr lang="en-US" sz="1500" dirty="0"/>
          </a:p>
        </p:txBody>
      </p:sp>
      <p:sp>
        <p:nvSpPr>
          <p:cNvPr id="9" name="Text 7"/>
          <p:cNvSpPr/>
          <p:nvPr/>
        </p:nvSpPr>
        <p:spPr>
          <a:xfrm>
            <a:off x="896112" y="3273552"/>
            <a:ext cx="2066544" cy="932688"/>
          </a:xfrm>
          <a:prstGeom prst="rect">
            <a:avLst/>
          </a:prstGeom>
          <a:noFill/>
          <a:ln/>
        </p:spPr>
        <p:txBody>
          <a:bodyPr wrap="square" lIns="127" tIns="127" rIns="127" bIns="127" rtlCol="0" anchor="ctr">
            <a:normAutofit/>
          </a:bodyPr>
          <a:lstStyle/>
          <a:p>
            <a:pPr algn="ctr" indent="0" marL="0">
              <a:buNone/>
            </a:pPr>
            <a:r>
              <a:rPr lang="en-US" sz="1020" dirty="0">
                <a:solidFill>
                  <a:srgbClr val="5F7280"/>
                </a:solidFill>
              </a:rPr>
              <a:t>Environment • ingestion • telemetry framework • dashboard • baseline RGB/thermal</a:t>
            </a:r>
            <a:endParaRPr lang="en-US" sz="1020" dirty="0"/>
          </a:p>
        </p:txBody>
      </p:sp>
      <p:sp>
        <p:nvSpPr>
          <p:cNvPr id="10" name="Shape 8"/>
          <p:cNvSpPr/>
          <p:nvPr/>
        </p:nvSpPr>
        <p:spPr>
          <a:xfrm>
            <a:off x="3200400" y="3246120"/>
            <a:ext cx="256032" cy="0"/>
          </a:xfrm>
          <a:prstGeom prst="line">
            <a:avLst/>
          </a:prstGeom>
          <a:noFill/>
          <a:ln w="19050">
            <a:solidFill>
              <a:srgbClr val="9AB2BE"/>
            </a:solidFill>
            <a:prstDash val="solid"/>
            <a:headEnd type="none"/>
            <a:tailEnd type="triangle"/>
          </a:ln>
        </p:spPr>
      </p:sp>
      <p:sp>
        <p:nvSpPr>
          <p:cNvPr id="11" name="Shape 9"/>
          <p:cNvSpPr/>
          <p:nvPr/>
        </p:nvSpPr>
        <p:spPr>
          <a:xfrm>
            <a:off x="3493008" y="1719072"/>
            <a:ext cx="2542032" cy="3054096"/>
          </a:xfrm>
          <a:prstGeom prst="roundRect">
            <a:avLst>
              <a:gd name="adj" fmla="val 2878"/>
            </a:avLst>
          </a:prstGeom>
          <a:solidFill>
            <a:srgbClr val="FFFFFF"/>
          </a:solidFill>
          <a:ln w="16510">
            <a:solidFill>
              <a:srgbClr val="2A9D8F"/>
            </a:solidFill>
            <a:prstDash val="solid"/>
          </a:ln>
        </p:spPr>
      </p:sp>
      <p:sp>
        <p:nvSpPr>
          <p:cNvPr id="12" name="Shape 10"/>
          <p:cNvSpPr/>
          <p:nvPr/>
        </p:nvSpPr>
        <p:spPr>
          <a:xfrm>
            <a:off x="3493008" y="1719072"/>
            <a:ext cx="2542032" cy="475488"/>
          </a:xfrm>
          <a:prstGeom prst="rect">
            <a:avLst/>
          </a:prstGeom>
          <a:solidFill>
            <a:srgbClr val="2A9D8F"/>
          </a:solidFill>
          <a:ln w="12700">
            <a:solidFill>
              <a:srgbClr val="2A9D8F"/>
            </a:solidFill>
            <a:prstDash val="solid"/>
          </a:ln>
        </p:spPr>
      </p:sp>
      <p:sp>
        <p:nvSpPr>
          <p:cNvPr id="13" name="Text 11"/>
          <p:cNvSpPr/>
          <p:nvPr/>
        </p:nvSpPr>
        <p:spPr>
          <a:xfrm>
            <a:off x="3675888" y="1883664"/>
            <a:ext cx="2176272" cy="164592"/>
          </a:xfrm>
          <a:prstGeom prst="rect">
            <a:avLst/>
          </a:prstGeom>
          <a:noFill/>
          <a:ln/>
        </p:spPr>
        <p:txBody>
          <a:bodyPr wrap="square" lIns="0" tIns="0" rIns="0" bIns="0" rtlCol="0" anchor="ctr"/>
          <a:lstStyle/>
          <a:p>
            <a:pPr algn="ctr" indent="0" marL="0">
              <a:buNone/>
            </a:pPr>
            <a:r>
              <a:rPr lang="en-US" sz="1050" b="1" dirty="0">
                <a:solidFill>
                  <a:srgbClr val="FFFFFF"/>
                </a:solidFill>
              </a:rPr>
              <a:t>MONTH 2</a:t>
            </a:r>
            <a:endParaRPr lang="en-US" sz="1050" dirty="0"/>
          </a:p>
        </p:txBody>
      </p:sp>
      <p:sp>
        <p:nvSpPr>
          <p:cNvPr id="14" name="Text 12"/>
          <p:cNvSpPr/>
          <p:nvPr/>
        </p:nvSpPr>
        <p:spPr>
          <a:xfrm>
            <a:off x="3675888" y="2505456"/>
            <a:ext cx="2176272" cy="530352"/>
          </a:xfrm>
          <a:prstGeom prst="rect">
            <a:avLst/>
          </a:prstGeom>
          <a:noFill/>
          <a:ln/>
        </p:spPr>
        <p:txBody>
          <a:bodyPr wrap="square" lIns="0" tIns="0" rIns="0" bIns="0" rtlCol="0" anchor="ctr">
            <a:normAutofit/>
          </a:bodyPr>
          <a:lstStyle/>
          <a:p>
            <a:pPr algn="ctr" indent="0" marL="0">
              <a:buNone/>
            </a:pPr>
            <a:r>
              <a:rPr lang="en-US" sz="1500" b="1" dirty="0">
                <a:solidFill>
                  <a:srgbClr val="17313E"/>
                </a:solidFill>
              </a:rPr>
              <a:t>Coastal Adaptation</a:t>
            </a:r>
            <a:endParaRPr lang="en-US" sz="1500" dirty="0"/>
          </a:p>
        </p:txBody>
      </p:sp>
      <p:sp>
        <p:nvSpPr>
          <p:cNvPr id="15" name="Text 13"/>
          <p:cNvSpPr/>
          <p:nvPr/>
        </p:nvSpPr>
        <p:spPr>
          <a:xfrm>
            <a:off x="3730752" y="3273552"/>
            <a:ext cx="2066544" cy="932688"/>
          </a:xfrm>
          <a:prstGeom prst="rect">
            <a:avLst/>
          </a:prstGeom>
          <a:noFill/>
          <a:ln/>
        </p:spPr>
        <p:txBody>
          <a:bodyPr wrap="square" lIns="127" tIns="127" rIns="127" bIns="127" rtlCol="0" anchor="ctr">
            <a:normAutofit/>
          </a:bodyPr>
          <a:lstStyle/>
          <a:p>
            <a:pPr algn="ctr" indent="0" marL="0">
              <a:buNone/>
            </a:pPr>
            <a:r>
              <a:rPr lang="en-US" sz="1020" dirty="0">
                <a:solidFill>
                  <a:srgbClr val="5F7280"/>
                </a:solidFill>
              </a:rPr>
              <a:t>Dataset preparation • model adaptation • small-target optimization • tracking • GIS/geofences</a:t>
            </a:r>
            <a:endParaRPr lang="en-US" sz="1020" dirty="0"/>
          </a:p>
        </p:txBody>
      </p:sp>
      <p:sp>
        <p:nvSpPr>
          <p:cNvPr id="16" name="Shape 14"/>
          <p:cNvSpPr/>
          <p:nvPr/>
        </p:nvSpPr>
        <p:spPr>
          <a:xfrm>
            <a:off x="6035040" y="3246120"/>
            <a:ext cx="256032" cy="0"/>
          </a:xfrm>
          <a:prstGeom prst="line">
            <a:avLst/>
          </a:prstGeom>
          <a:noFill/>
          <a:ln w="19050">
            <a:solidFill>
              <a:srgbClr val="9AB2BE"/>
            </a:solidFill>
            <a:prstDash val="solid"/>
            <a:headEnd type="none"/>
            <a:tailEnd type="triangle"/>
          </a:ln>
        </p:spPr>
      </p:sp>
      <p:sp>
        <p:nvSpPr>
          <p:cNvPr id="17" name="Shape 15"/>
          <p:cNvSpPr/>
          <p:nvPr/>
        </p:nvSpPr>
        <p:spPr>
          <a:xfrm>
            <a:off x="6327648" y="1719072"/>
            <a:ext cx="2542032" cy="3054096"/>
          </a:xfrm>
          <a:prstGeom prst="roundRect">
            <a:avLst>
              <a:gd name="adj" fmla="val 2878"/>
            </a:avLst>
          </a:prstGeom>
          <a:solidFill>
            <a:srgbClr val="FFFFFF"/>
          </a:solidFill>
          <a:ln w="16510">
            <a:solidFill>
              <a:srgbClr val="E69A45"/>
            </a:solidFill>
            <a:prstDash val="solid"/>
          </a:ln>
        </p:spPr>
      </p:sp>
      <p:sp>
        <p:nvSpPr>
          <p:cNvPr id="18" name="Shape 16"/>
          <p:cNvSpPr/>
          <p:nvPr/>
        </p:nvSpPr>
        <p:spPr>
          <a:xfrm>
            <a:off x="6327648" y="1719072"/>
            <a:ext cx="2542032" cy="475488"/>
          </a:xfrm>
          <a:prstGeom prst="rect">
            <a:avLst/>
          </a:prstGeom>
          <a:solidFill>
            <a:srgbClr val="E69A45"/>
          </a:solidFill>
          <a:ln w="12700">
            <a:solidFill>
              <a:srgbClr val="E69A45"/>
            </a:solidFill>
            <a:prstDash val="solid"/>
          </a:ln>
        </p:spPr>
      </p:sp>
      <p:sp>
        <p:nvSpPr>
          <p:cNvPr id="19" name="Text 17"/>
          <p:cNvSpPr/>
          <p:nvPr/>
        </p:nvSpPr>
        <p:spPr>
          <a:xfrm>
            <a:off x="6510528" y="1883664"/>
            <a:ext cx="2176272" cy="164592"/>
          </a:xfrm>
          <a:prstGeom prst="rect">
            <a:avLst/>
          </a:prstGeom>
          <a:noFill/>
          <a:ln/>
        </p:spPr>
        <p:txBody>
          <a:bodyPr wrap="square" lIns="0" tIns="0" rIns="0" bIns="0" rtlCol="0" anchor="ctr"/>
          <a:lstStyle/>
          <a:p>
            <a:pPr algn="ctr" indent="0" marL="0">
              <a:buNone/>
            </a:pPr>
            <a:r>
              <a:rPr lang="en-US" sz="1050" b="1" dirty="0">
                <a:solidFill>
                  <a:srgbClr val="FFFFFF"/>
                </a:solidFill>
              </a:rPr>
              <a:t>MONTH 3</a:t>
            </a:r>
            <a:endParaRPr lang="en-US" sz="1050" dirty="0"/>
          </a:p>
        </p:txBody>
      </p:sp>
      <p:sp>
        <p:nvSpPr>
          <p:cNvPr id="20" name="Text 18"/>
          <p:cNvSpPr/>
          <p:nvPr/>
        </p:nvSpPr>
        <p:spPr>
          <a:xfrm>
            <a:off x="6510528" y="2505456"/>
            <a:ext cx="2176272" cy="530352"/>
          </a:xfrm>
          <a:prstGeom prst="rect">
            <a:avLst/>
          </a:prstGeom>
          <a:noFill/>
          <a:ln/>
        </p:spPr>
        <p:txBody>
          <a:bodyPr wrap="square" lIns="0" tIns="0" rIns="0" bIns="0" rtlCol="0" anchor="ctr">
            <a:normAutofit/>
          </a:bodyPr>
          <a:lstStyle/>
          <a:p>
            <a:pPr algn="ctr" indent="0" marL="0">
              <a:buNone/>
            </a:pPr>
            <a:r>
              <a:rPr lang="en-US" sz="1500" b="1" dirty="0">
                <a:solidFill>
                  <a:srgbClr val="17313E"/>
                </a:solidFill>
              </a:rPr>
              <a:t>Integrated Intelligence</a:t>
            </a:r>
            <a:endParaRPr lang="en-US" sz="1500" dirty="0"/>
          </a:p>
        </p:txBody>
      </p:sp>
      <p:sp>
        <p:nvSpPr>
          <p:cNvPr id="21" name="Text 19"/>
          <p:cNvSpPr/>
          <p:nvPr/>
        </p:nvSpPr>
        <p:spPr>
          <a:xfrm>
            <a:off x="6565392" y="3273552"/>
            <a:ext cx="2066544" cy="932688"/>
          </a:xfrm>
          <a:prstGeom prst="rect">
            <a:avLst/>
          </a:prstGeom>
          <a:noFill/>
          <a:ln/>
        </p:spPr>
        <p:txBody>
          <a:bodyPr wrap="square" lIns="127" tIns="127" rIns="127" bIns="127" rtlCol="0" anchor="ctr">
            <a:normAutofit/>
          </a:bodyPr>
          <a:lstStyle/>
          <a:p>
            <a:pPr algn="ctr" indent="0" marL="0">
              <a:buNone/>
            </a:pPr>
            <a:r>
              <a:rPr lang="en-US" sz="1020" dirty="0">
                <a:solidFill>
                  <a:srgbClr val="5F7280"/>
                </a:solidFill>
              </a:rPr>
              <a:t>Context/behaviour • CFS/CKFE • evidence • APIs • RBAC/audit • multi-feed profiling</a:t>
            </a:r>
            <a:endParaRPr lang="en-US" sz="1020" dirty="0"/>
          </a:p>
        </p:txBody>
      </p:sp>
      <p:sp>
        <p:nvSpPr>
          <p:cNvPr id="22" name="Shape 20"/>
          <p:cNvSpPr/>
          <p:nvPr/>
        </p:nvSpPr>
        <p:spPr>
          <a:xfrm>
            <a:off x="8869680" y="3246120"/>
            <a:ext cx="256032" cy="0"/>
          </a:xfrm>
          <a:prstGeom prst="line">
            <a:avLst/>
          </a:prstGeom>
          <a:noFill/>
          <a:ln w="19050">
            <a:solidFill>
              <a:srgbClr val="9AB2BE"/>
            </a:solidFill>
            <a:prstDash val="solid"/>
            <a:headEnd type="none"/>
            <a:tailEnd type="triangle"/>
          </a:ln>
        </p:spPr>
      </p:sp>
      <p:sp>
        <p:nvSpPr>
          <p:cNvPr id="23" name="Shape 21"/>
          <p:cNvSpPr/>
          <p:nvPr/>
        </p:nvSpPr>
        <p:spPr>
          <a:xfrm>
            <a:off x="9162288" y="1719072"/>
            <a:ext cx="2542032" cy="3054096"/>
          </a:xfrm>
          <a:prstGeom prst="roundRect">
            <a:avLst>
              <a:gd name="adj" fmla="val 2878"/>
            </a:avLst>
          </a:prstGeom>
          <a:solidFill>
            <a:srgbClr val="FFFFFF"/>
          </a:solidFill>
          <a:ln w="16510">
            <a:solidFill>
              <a:srgbClr val="0F6B6F"/>
            </a:solidFill>
            <a:prstDash val="solid"/>
          </a:ln>
        </p:spPr>
      </p:sp>
      <p:sp>
        <p:nvSpPr>
          <p:cNvPr id="24" name="Shape 22"/>
          <p:cNvSpPr/>
          <p:nvPr/>
        </p:nvSpPr>
        <p:spPr>
          <a:xfrm>
            <a:off x="9162288" y="1719072"/>
            <a:ext cx="2542032" cy="475488"/>
          </a:xfrm>
          <a:prstGeom prst="rect">
            <a:avLst/>
          </a:prstGeom>
          <a:solidFill>
            <a:srgbClr val="0F6B6F"/>
          </a:solidFill>
          <a:ln w="12700">
            <a:solidFill>
              <a:srgbClr val="0F6B6F"/>
            </a:solidFill>
            <a:prstDash val="solid"/>
          </a:ln>
        </p:spPr>
      </p:sp>
      <p:sp>
        <p:nvSpPr>
          <p:cNvPr id="25" name="Text 23"/>
          <p:cNvSpPr/>
          <p:nvPr/>
        </p:nvSpPr>
        <p:spPr>
          <a:xfrm>
            <a:off x="9345168" y="1883664"/>
            <a:ext cx="2176272" cy="164592"/>
          </a:xfrm>
          <a:prstGeom prst="rect">
            <a:avLst/>
          </a:prstGeom>
          <a:noFill/>
          <a:ln/>
        </p:spPr>
        <p:txBody>
          <a:bodyPr wrap="square" lIns="0" tIns="0" rIns="0" bIns="0" rtlCol="0" anchor="ctr"/>
          <a:lstStyle/>
          <a:p>
            <a:pPr algn="ctr" indent="0" marL="0">
              <a:buNone/>
            </a:pPr>
            <a:r>
              <a:rPr lang="en-US" sz="1050" b="1" dirty="0">
                <a:solidFill>
                  <a:srgbClr val="FFFFFF"/>
                </a:solidFill>
              </a:rPr>
              <a:t>MONTH 4</a:t>
            </a:r>
            <a:endParaRPr lang="en-US" sz="1050" dirty="0"/>
          </a:p>
        </p:txBody>
      </p:sp>
      <p:sp>
        <p:nvSpPr>
          <p:cNvPr id="26" name="Text 24"/>
          <p:cNvSpPr/>
          <p:nvPr/>
        </p:nvSpPr>
        <p:spPr>
          <a:xfrm>
            <a:off x="9345168" y="2505456"/>
            <a:ext cx="2176272" cy="530352"/>
          </a:xfrm>
          <a:prstGeom prst="rect">
            <a:avLst/>
          </a:prstGeom>
          <a:noFill/>
          <a:ln/>
        </p:spPr>
        <p:txBody>
          <a:bodyPr wrap="square" lIns="0" tIns="0" rIns="0" bIns="0" rtlCol="0" anchor="ctr">
            <a:normAutofit/>
          </a:bodyPr>
          <a:lstStyle/>
          <a:p>
            <a:pPr algn="ctr" indent="0" marL="0">
              <a:buNone/>
            </a:pPr>
            <a:r>
              <a:rPr lang="en-US" sz="1500" b="1" dirty="0">
                <a:solidFill>
                  <a:srgbClr val="17313E"/>
                </a:solidFill>
              </a:rPr>
              <a:t>Field Validation &amp; Commissioning</a:t>
            </a:r>
            <a:endParaRPr lang="en-US" sz="1500" dirty="0"/>
          </a:p>
        </p:txBody>
      </p:sp>
      <p:sp>
        <p:nvSpPr>
          <p:cNvPr id="27" name="Text 25"/>
          <p:cNvSpPr/>
          <p:nvPr/>
        </p:nvSpPr>
        <p:spPr>
          <a:xfrm>
            <a:off x="9400032" y="3273552"/>
            <a:ext cx="2066544" cy="932688"/>
          </a:xfrm>
          <a:prstGeom prst="rect">
            <a:avLst/>
          </a:prstGeom>
          <a:noFill/>
          <a:ln/>
        </p:spPr>
        <p:txBody>
          <a:bodyPr wrap="square" lIns="127" tIns="127" rIns="127" bIns="127" rtlCol="0" anchor="ctr">
            <a:normAutofit/>
          </a:bodyPr>
          <a:lstStyle/>
          <a:p>
            <a:pPr algn="ctr" indent="0" marL="0">
              <a:buNone/>
            </a:pPr>
            <a:r>
              <a:rPr lang="en-US" sz="1020" dirty="0">
                <a:solidFill>
                  <a:srgbClr val="5F7280"/>
                </a:solidFill>
              </a:rPr>
              <a:t>Police infrastructure • UAV/GCS • live RGB/thermal + telemetry • UAT • training • commissioning</a:t>
            </a:r>
            <a:endParaRPr lang="en-US" sz="1020" dirty="0"/>
          </a:p>
        </p:txBody>
      </p:sp>
      <p:sp>
        <p:nvSpPr>
          <p:cNvPr id="28" name="Shape 26"/>
          <p:cNvSpPr/>
          <p:nvPr/>
        </p:nvSpPr>
        <p:spPr>
          <a:xfrm>
            <a:off x="1444752" y="5193792"/>
            <a:ext cx="9308592" cy="731520"/>
          </a:xfrm>
          <a:prstGeom prst="roundRect">
            <a:avLst>
              <a:gd name="adj" fmla="val 7500"/>
            </a:avLst>
          </a:prstGeom>
          <a:solidFill>
            <a:srgbClr val="0B1F33"/>
          </a:solidFill>
          <a:ln w="12700">
            <a:solidFill>
              <a:srgbClr val="0B1F33"/>
            </a:solidFill>
            <a:prstDash val="solid"/>
          </a:ln>
        </p:spPr>
      </p:sp>
      <p:pic>
        <p:nvPicPr>
          <p:cNvPr id="2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874520" y="5385816"/>
            <a:ext cx="310896" cy="310896"/>
          </a:xfrm>
          <a:prstGeom prst="rect">
            <a:avLst/>
          </a:prstGeom>
        </p:spPr>
      </p:pic>
      <p:sp>
        <p:nvSpPr>
          <p:cNvPr id="30" name="Text 27"/>
          <p:cNvSpPr/>
          <p:nvPr/>
        </p:nvSpPr>
        <p:spPr>
          <a:xfrm>
            <a:off x="2304288" y="5367528"/>
            <a:ext cx="1874520" cy="256032"/>
          </a:xfrm>
          <a:prstGeom prst="rect">
            <a:avLst/>
          </a:prstGeom>
          <a:noFill/>
          <a:ln/>
        </p:spPr>
        <p:txBody>
          <a:bodyPr wrap="square" lIns="0" tIns="0" rIns="0" bIns="0" rtlCol="0" anchor="ctr"/>
          <a:lstStyle/>
          <a:p>
            <a:pPr indent="0" marL="0">
              <a:buNone/>
            </a:pPr>
            <a:r>
              <a:rPr lang="en-US" sz="1400" b="1" dirty="0">
                <a:solidFill>
                  <a:srgbClr val="FFFFFF"/>
                </a:solidFill>
              </a:rPr>
              <a:t>Minimum 3-Year Support</a:t>
            </a:r>
            <a:endParaRPr lang="en-US" sz="1400" dirty="0"/>
          </a:p>
        </p:txBody>
      </p:sp>
      <p:sp>
        <p:nvSpPr>
          <p:cNvPr id="31" name="Text 28"/>
          <p:cNvSpPr/>
          <p:nvPr/>
        </p:nvSpPr>
        <p:spPr>
          <a:xfrm>
            <a:off x="4160520" y="5358384"/>
            <a:ext cx="6199632" cy="274320"/>
          </a:xfrm>
          <a:prstGeom prst="rect">
            <a:avLst/>
          </a:prstGeom>
          <a:noFill/>
          <a:ln/>
        </p:spPr>
        <p:txBody>
          <a:bodyPr wrap="square" lIns="0" tIns="0" rIns="0" bIns="0" rtlCol="0" anchor="ctr">
            <a:normAutofit/>
          </a:bodyPr>
          <a:lstStyle/>
          <a:p>
            <a:pPr indent="0" marL="0">
              <a:buNone/>
            </a:pPr>
            <a:r>
              <a:rPr lang="en-US" sz="1020" dirty="0">
                <a:solidFill>
                  <a:srgbClr val="D7E7EE"/>
                </a:solidFill>
              </a:rPr>
              <a:t>Corrective maintenance • updates • agreed model improvements • integration • performance monitoring • security updates • remote/on-site support</a:t>
            </a:r>
            <a:endParaRPr lang="en-US" sz="1020" dirty="0"/>
          </a:p>
        </p:txBody>
      </p:sp>
      <p:sp>
        <p:nvSpPr>
          <p:cNvPr id="32" name="Text 29"/>
          <p:cNvSpPr/>
          <p:nvPr/>
        </p:nvSpPr>
        <p:spPr>
          <a:xfrm>
            <a:off x="1298448" y="6108192"/>
            <a:ext cx="9601200" cy="292608"/>
          </a:xfrm>
          <a:prstGeom prst="rect">
            <a:avLst/>
          </a:prstGeom>
          <a:noFill/>
          <a:ln/>
        </p:spPr>
        <p:txBody>
          <a:bodyPr wrap="square" lIns="0" tIns="0" rIns="0" bIns="0" rtlCol="0" anchor="ctr">
            <a:normAutofit/>
          </a:bodyPr>
          <a:lstStyle/>
          <a:p>
            <a:pPr algn="ctr" indent="0" marL="0">
              <a:buNone/>
            </a:pPr>
            <a:r>
              <a:rPr lang="en-US" sz="1130" b="1" dirty="0">
                <a:solidFill>
                  <a:srgbClr val="0B1F33"/>
                </a:solidFill>
              </a:rPr>
              <a:t>Acceptance culminates in live drone-feed analytics demonstration, functional/performance testing, UAT and commissioning.</a:t>
            </a:r>
            <a:endParaRPr lang="en-US" sz="1130" dirty="0"/>
          </a:p>
        </p:txBody>
      </p:sp>
      <p:sp>
        <p:nvSpPr>
          <p:cNvPr id="25" name="Slide Number Placeholder 0"/>
          <p:cNvSpPr>
            <a:spLocks noGrp="1"/>
          </p:cNvSpPr>
          <p:nvPr>
            <p:ph type="sldNum" sz="quarter" idx="4294967295"/>
          </p:nvPr>
        </p:nvSpPr>
        <p:spPr>
          <a:xfrm>
            <a:off x="11631168" y="6547104"/>
            <a:ext cx="228600" cy="182880"/>
          </a:xfrm>
          <a:prstGeom prst="rect">
            <a:avLst/>
          </a:prstGeom>
          <a:extLst>
            <a:ext uri="{C572A759-6A51-4108-AA02-DFA0A04FC94B}">
              <ma14:wrappingTextBoxFlag xmlns:ma14="http://schemas.microsoft.com/office/mac/drawingml/2011/main" val="0"/>
            </a:ext>
          </a:extLst>
        </p:spPr>
        <p:txBody>
          <a:bodyPr/>
          <a:lstStyle>
            <a:lvl1pPr>
              <a:defRPr sz="800">
                <a:solidFill>
                  <a:srgbClr val="6B7D89"/>
                </a:solidFill>
                <a:latin typeface="Aptos"/>
                <a:ea typeface="Aptos"/>
                <a:cs typeface="Apto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658368" y="621792"/>
            <a:ext cx="10881360" cy="502920"/>
          </a:xfrm>
          <a:prstGeom prst="rect">
            <a:avLst/>
          </a:prstGeom>
          <a:noFill/>
          <a:ln/>
        </p:spPr>
        <p:txBody>
          <a:bodyPr wrap="square" lIns="0" tIns="0" rIns="0" bIns="0" rtlCol="0" anchor="ctr"/>
          <a:lstStyle/>
          <a:p>
            <a:pPr algn="ctr" indent="0" marL="0">
              <a:buNone/>
            </a:pPr>
            <a:r>
              <a:rPr lang="en-US" sz="3000" b="1" dirty="0">
                <a:solidFill>
                  <a:srgbClr val="FFFFFF"/>
                </a:solidFill>
                <a:latin typeface="Aptos Display" pitchFamily="34" charset="0"/>
                <a:ea typeface="Aptos Display" pitchFamily="34" charset="-122"/>
                <a:cs typeface="Aptos Display" pitchFamily="34" charset="-120"/>
              </a:rPr>
              <a:t>Why SmartQEye Coastal?</a:t>
            </a:r>
            <a:endParaRPr lang="en-US" sz="3000" dirty="0"/>
          </a:p>
        </p:txBody>
      </p:sp>
      <p:sp>
        <p:nvSpPr>
          <p:cNvPr id="3" name="Text 1"/>
          <p:cNvSpPr/>
          <p:nvPr/>
        </p:nvSpPr>
        <p:spPr>
          <a:xfrm>
            <a:off x="1828800" y="1243584"/>
            <a:ext cx="8503920" cy="310896"/>
          </a:xfrm>
          <a:prstGeom prst="rect">
            <a:avLst/>
          </a:prstGeom>
          <a:noFill/>
          <a:ln/>
        </p:spPr>
        <p:txBody>
          <a:bodyPr wrap="square" lIns="0" tIns="0" rIns="0" bIns="0" rtlCol="0" anchor="ctr"/>
          <a:lstStyle/>
          <a:p>
            <a:pPr algn="ctr" indent="0" marL="0">
              <a:buNone/>
            </a:pPr>
            <a:r>
              <a:rPr lang="en-US" sz="1500" dirty="0">
                <a:solidFill>
                  <a:srgbClr val="BFD6E6"/>
                </a:solidFill>
              </a:rPr>
              <a:t>The technical moat is the intelligence system above the detector.</a:t>
            </a:r>
            <a:endParaRPr lang="en-US" sz="1500" dirty="0"/>
          </a:p>
        </p:txBody>
      </p:sp>
      <p:sp>
        <p:nvSpPr>
          <p:cNvPr id="4" name="Shape 2"/>
          <p:cNvSpPr/>
          <p:nvPr/>
        </p:nvSpPr>
        <p:spPr>
          <a:xfrm>
            <a:off x="822960" y="2011680"/>
            <a:ext cx="5074920" cy="841248"/>
          </a:xfrm>
          <a:prstGeom prst="roundRect">
            <a:avLst>
              <a:gd name="adj" fmla="val 6522"/>
            </a:avLst>
          </a:prstGeom>
          <a:solidFill>
            <a:srgbClr val="123548"/>
          </a:solidFill>
          <a:ln w="12700">
            <a:solidFill>
              <a:srgbClr val="29586D"/>
            </a:solidFill>
            <a:prstDash val="solid"/>
          </a:ln>
        </p:spPr>
      </p:sp>
      <p:sp>
        <p:nvSpPr>
          <p:cNvPr id="5" name="Text 3"/>
          <p:cNvSpPr/>
          <p:nvPr/>
        </p:nvSpPr>
        <p:spPr>
          <a:xfrm>
            <a:off x="1005840" y="2167128"/>
            <a:ext cx="1783080" cy="201168"/>
          </a:xfrm>
          <a:prstGeom prst="rect">
            <a:avLst/>
          </a:prstGeom>
          <a:noFill/>
          <a:ln/>
        </p:spPr>
        <p:txBody>
          <a:bodyPr wrap="square" lIns="0" tIns="0" rIns="0" bIns="0" rtlCol="0" anchor="ctr">
            <a:normAutofit/>
          </a:bodyPr>
          <a:lstStyle/>
          <a:p>
            <a:pPr indent="0" marL="0">
              <a:buNone/>
            </a:pPr>
            <a:r>
              <a:rPr lang="en-US" sz="1020" dirty="0">
                <a:solidFill>
                  <a:srgbClr val="9FC6D5"/>
                </a:solidFill>
              </a:rPr>
              <a:t>Not only detection</a:t>
            </a:r>
            <a:endParaRPr lang="en-US" sz="1020" dirty="0"/>
          </a:p>
        </p:txBody>
      </p:sp>
      <p:sp>
        <p:nvSpPr>
          <p:cNvPr id="6" name="Text 4"/>
          <p:cNvSpPr/>
          <p:nvPr/>
        </p:nvSpPr>
        <p:spPr>
          <a:xfrm>
            <a:off x="2816352" y="2130552"/>
            <a:ext cx="292608" cy="256032"/>
          </a:xfrm>
          <a:prstGeom prst="rect">
            <a:avLst/>
          </a:prstGeom>
          <a:noFill/>
          <a:ln/>
        </p:spPr>
        <p:txBody>
          <a:bodyPr wrap="square" lIns="0" tIns="0" rIns="0" bIns="0" rtlCol="0" anchor="ctr"/>
          <a:lstStyle/>
          <a:p>
            <a:pPr algn="ctr" indent="0" marL="0">
              <a:buNone/>
            </a:pPr>
            <a:r>
              <a:rPr lang="en-US" sz="1600" b="1" dirty="0">
                <a:solidFill>
                  <a:srgbClr val="56C9B7"/>
                </a:solidFill>
              </a:rPr>
              <a:t>→</a:t>
            </a:r>
            <a:endParaRPr lang="en-US" sz="1600" dirty="0"/>
          </a:p>
        </p:txBody>
      </p:sp>
      <p:sp>
        <p:nvSpPr>
          <p:cNvPr id="7" name="Text 5"/>
          <p:cNvSpPr/>
          <p:nvPr/>
        </p:nvSpPr>
        <p:spPr>
          <a:xfrm>
            <a:off x="3182112" y="2157984"/>
            <a:ext cx="2468880" cy="292608"/>
          </a:xfrm>
          <a:prstGeom prst="rect">
            <a:avLst/>
          </a:prstGeom>
          <a:noFill/>
          <a:ln/>
        </p:spPr>
        <p:txBody>
          <a:bodyPr wrap="square" lIns="0" tIns="0" rIns="0" bIns="0" rtlCol="0" anchor="ctr">
            <a:normAutofit/>
          </a:bodyPr>
          <a:lstStyle/>
          <a:p>
            <a:pPr indent="0" marL="0">
              <a:buNone/>
            </a:pPr>
            <a:r>
              <a:rPr lang="en-US" sz="1130" b="1" dirty="0">
                <a:solidFill>
                  <a:srgbClr val="FFFFFF"/>
                </a:solidFill>
              </a:rPr>
              <a:t>Persistent Coastal Contacts</a:t>
            </a:r>
            <a:endParaRPr lang="en-US" sz="1130" dirty="0"/>
          </a:p>
        </p:txBody>
      </p:sp>
      <p:sp>
        <p:nvSpPr>
          <p:cNvPr id="8" name="Shape 6"/>
          <p:cNvSpPr/>
          <p:nvPr/>
        </p:nvSpPr>
        <p:spPr>
          <a:xfrm>
            <a:off x="6446520" y="2011680"/>
            <a:ext cx="5074920" cy="841248"/>
          </a:xfrm>
          <a:prstGeom prst="roundRect">
            <a:avLst>
              <a:gd name="adj" fmla="val 6522"/>
            </a:avLst>
          </a:prstGeom>
          <a:solidFill>
            <a:srgbClr val="123548"/>
          </a:solidFill>
          <a:ln w="12700">
            <a:solidFill>
              <a:srgbClr val="29586D"/>
            </a:solidFill>
            <a:prstDash val="solid"/>
          </a:ln>
        </p:spPr>
      </p:sp>
      <p:sp>
        <p:nvSpPr>
          <p:cNvPr id="9" name="Text 7"/>
          <p:cNvSpPr/>
          <p:nvPr/>
        </p:nvSpPr>
        <p:spPr>
          <a:xfrm>
            <a:off x="6629400" y="2167128"/>
            <a:ext cx="1783080" cy="201168"/>
          </a:xfrm>
          <a:prstGeom prst="rect">
            <a:avLst/>
          </a:prstGeom>
          <a:noFill/>
          <a:ln/>
        </p:spPr>
        <p:txBody>
          <a:bodyPr wrap="square" lIns="0" tIns="0" rIns="0" bIns="0" rtlCol="0" anchor="ctr">
            <a:normAutofit/>
          </a:bodyPr>
          <a:lstStyle/>
          <a:p>
            <a:pPr indent="0" marL="0">
              <a:buNone/>
            </a:pPr>
            <a:r>
              <a:rPr lang="en-US" sz="1020" dirty="0">
                <a:solidFill>
                  <a:srgbClr val="9FC6D5"/>
                </a:solidFill>
              </a:rPr>
              <a:t>Not only anomaly scores</a:t>
            </a:r>
            <a:endParaRPr lang="en-US" sz="1020" dirty="0"/>
          </a:p>
        </p:txBody>
      </p:sp>
      <p:sp>
        <p:nvSpPr>
          <p:cNvPr id="10" name="Text 8"/>
          <p:cNvSpPr/>
          <p:nvPr/>
        </p:nvSpPr>
        <p:spPr>
          <a:xfrm>
            <a:off x="8439912" y="2130552"/>
            <a:ext cx="292608" cy="256032"/>
          </a:xfrm>
          <a:prstGeom prst="rect">
            <a:avLst/>
          </a:prstGeom>
          <a:noFill/>
          <a:ln/>
        </p:spPr>
        <p:txBody>
          <a:bodyPr wrap="square" lIns="0" tIns="0" rIns="0" bIns="0" rtlCol="0" anchor="ctr"/>
          <a:lstStyle/>
          <a:p>
            <a:pPr algn="ctr" indent="0" marL="0">
              <a:buNone/>
            </a:pPr>
            <a:r>
              <a:rPr lang="en-US" sz="1600" b="1" dirty="0">
                <a:solidFill>
                  <a:srgbClr val="56C9B7"/>
                </a:solidFill>
              </a:rPr>
              <a:t>→</a:t>
            </a:r>
            <a:endParaRPr lang="en-US" sz="1600" dirty="0"/>
          </a:p>
        </p:txBody>
      </p:sp>
      <p:sp>
        <p:nvSpPr>
          <p:cNvPr id="11" name="Text 9"/>
          <p:cNvSpPr/>
          <p:nvPr/>
        </p:nvSpPr>
        <p:spPr>
          <a:xfrm>
            <a:off x="8805672" y="2157984"/>
            <a:ext cx="2468880" cy="292608"/>
          </a:xfrm>
          <a:prstGeom prst="rect">
            <a:avLst/>
          </a:prstGeom>
          <a:noFill/>
          <a:ln/>
        </p:spPr>
        <p:txBody>
          <a:bodyPr wrap="square" lIns="0" tIns="0" rIns="0" bIns="0" rtlCol="0" anchor="ctr">
            <a:normAutofit/>
          </a:bodyPr>
          <a:lstStyle/>
          <a:p>
            <a:pPr indent="0" marL="0">
              <a:buNone/>
            </a:pPr>
            <a:r>
              <a:rPr lang="en-US" sz="1130" b="1" dirty="0">
                <a:solidFill>
                  <a:srgbClr val="FFFFFF"/>
                </a:solidFill>
              </a:rPr>
              <a:t>Kerala Coastal Context</a:t>
            </a:r>
            <a:endParaRPr lang="en-US" sz="1130" dirty="0"/>
          </a:p>
        </p:txBody>
      </p:sp>
      <p:sp>
        <p:nvSpPr>
          <p:cNvPr id="12" name="Shape 10"/>
          <p:cNvSpPr/>
          <p:nvPr/>
        </p:nvSpPr>
        <p:spPr>
          <a:xfrm>
            <a:off x="822960" y="3090672"/>
            <a:ext cx="5074920" cy="841248"/>
          </a:xfrm>
          <a:prstGeom prst="roundRect">
            <a:avLst>
              <a:gd name="adj" fmla="val 6522"/>
            </a:avLst>
          </a:prstGeom>
          <a:solidFill>
            <a:srgbClr val="123548"/>
          </a:solidFill>
          <a:ln w="12700">
            <a:solidFill>
              <a:srgbClr val="29586D"/>
            </a:solidFill>
            <a:prstDash val="solid"/>
          </a:ln>
        </p:spPr>
      </p:sp>
      <p:sp>
        <p:nvSpPr>
          <p:cNvPr id="13" name="Text 11"/>
          <p:cNvSpPr/>
          <p:nvPr/>
        </p:nvSpPr>
        <p:spPr>
          <a:xfrm>
            <a:off x="1005840" y="3246120"/>
            <a:ext cx="1783080" cy="201168"/>
          </a:xfrm>
          <a:prstGeom prst="rect">
            <a:avLst/>
          </a:prstGeom>
          <a:noFill/>
          <a:ln/>
        </p:spPr>
        <p:txBody>
          <a:bodyPr wrap="square" lIns="0" tIns="0" rIns="0" bIns="0" rtlCol="0" anchor="ctr">
            <a:normAutofit/>
          </a:bodyPr>
          <a:lstStyle/>
          <a:p>
            <a:pPr indent="0" marL="0">
              <a:buNone/>
            </a:pPr>
            <a:r>
              <a:rPr lang="en-US" sz="1020" dirty="0">
                <a:solidFill>
                  <a:srgbClr val="9FC6D5"/>
                </a:solidFill>
              </a:rPr>
              <a:t>Not only video</a:t>
            </a:r>
            <a:endParaRPr lang="en-US" sz="1020" dirty="0"/>
          </a:p>
        </p:txBody>
      </p:sp>
      <p:sp>
        <p:nvSpPr>
          <p:cNvPr id="14" name="Text 12"/>
          <p:cNvSpPr/>
          <p:nvPr/>
        </p:nvSpPr>
        <p:spPr>
          <a:xfrm>
            <a:off x="2816352" y="3209544"/>
            <a:ext cx="292608" cy="256032"/>
          </a:xfrm>
          <a:prstGeom prst="rect">
            <a:avLst/>
          </a:prstGeom>
          <a:noFill/>
          <a:ln/>
        </p:spPr>
        <p:txBody>
          <a:bodyPr wrap="square" lIns="0" tIns="0" rIns="0" bIns="0" rtlCol="0" anchor="ctr"/>
          <a:lstStyle/>
          <a:p>
            <a:pPr algn="ctr" indent="0" marL="0">
              <a:buNone/>
            </a:pPr>
            <a:r>
              <a:rPr lang="en-US" sz="1600" b="1" dirty="0">
                <a:solidFill>
                  <a:srgbClr val="56C9B7"/>
                </a:solidFill>
              </a:rPr>
              <a:t>→</a:t>
            </a:r>
            <a:endParaRPr lang="en-US" sz="1600" dirty="0"/>
          </a:p>
        </p:txBody>
      </p:sp>
      <p:sp>
        <p:nvSpPr>
          <p:cNvPr id="15" name="Text 13"/>
          <p:cNvSpPr/>
          <p:nvPr/>
        </p:nvSpPr>
        <p:spPr>
          <a:xfrm>
            <a:off x="3182112" y="3236976"/>
            <a:ext cx="2468880" cy="292608"/>
          </a:xfrm>
          <a:prstGeom prst="rect">
            <a:avLst/>
          </a:prstGeom>
          <a:noFill/>
          <a:ln/>
        </p:spPr>
        <p:txBody>
          <a:bodyPr wrap="square" lIns="0" tIns="0" rIns="0" bIns="0" rtlCol="0" anchor="ctr">
            <a:normAutofit/>
          </a:bodyPr>
          <a:lstStyle/>
          <a:p>
            <a:pPr indent="0" marL="0">
              <a:buNone/>
            </a:pPr>
            <a:r>
              <a:rPr lang="en-US" sz="1130" b="1" dirty="0">
                <a:solidFill>
                  <a:srgbClr val="FFFFFF"/>
                </a:solidFill>
              </a:rPr>
              <a:t>GIS + Telemetry + Evidence</a:t>
            </a:r>
            <a:endParaRPr lang="en-US" sz="1130" dirty="0"/>
          </a:p>
        </p:txBody>
      </p:sp>
      <p:sp>
        <p:nvSpPr>
          <p:cNvPr id="16" name="Shape 14"/>
          <p:cNvSpPr/>
          <p:nvPr/>
        </p:nvSpPr>
        <p:spPr>
          <a:xfrm>
            <a:off x="6446520" y="3090672"/>
            <a:ext cx="5074920" cy="841248"/>
          </a:xfrm>
          <a:prstGeom prst="roundRect">
            <a:avLst>
              <a:gd name="adj" fmla="val 6522"/>
            </a:avLst>
          </a:prstGeom>
          <a:solidFill>
            <a:srgbClr val="123548"/>
          </a:solidFill>
          <a:ln w="12700">
            <a:solidFill>
              <a:srgbClr val="29586D"/>
            </a:solidFill>
            <a:prstDash val="solid"/>
          </a:ln>
        </p:spPr>
      </p:sp>
      <p:sp>
        <p:nvSpPr>
          <p:cNvPr id="17" name="Text 15"/>
          <p:cNvSpPr/>
          <p:nvPr/>
        </p:nvSpPr>
        <p:spPr>
          <a:xfrm>
            <a:off x="6629400" y="3246120"/>
            <a:ext cx="1783080" cy="201168"/>
          </a:xfrm>
          <a:prstGeom prst="rect">
            <a:avLst/>
          </a:prstGeom>
          <a:noFill/>
          <a:ln/>
        </p:spPr>
        <p:txBody>
          <a:bodyPr wrap="square" lIns="0" tIns="0" rIns="0" bIns="0" rtlCol="0" anchor="ctr">
            <a:normAutofit/>
          </a:bodyPr>
          <a:lstStyle/>
          <a:p>
            <a:pPr indent="0" marL="0">
              <a:buNone/>
            </a:pPr>
            <a:r>
              <a:rPr lang="en-US" sz="1020" dirty="0">
                <a:solidFill>
                  <a:srgbClr val="9FC6D5"/>
                </a:solidFill>
              </a:rPr>
              <a:t>Not one AI model</a:t>
            </a:r>
            <a:endParaRPr lang="en-US" sz="1020" dirty="0"/>
          </a:p>
        </p:txBody>
      </p:sp>
      <p:sp>
        <p:nvSpPr>
          <p:cNvPr id="18" name="Text 16"/>
          <p:cNvSpPr/>
          <p:nvPr/>
        </p:nvSpPr>
        <p:spPr>
          <a:xfrm>
            <a:off x="8439912" y="3209544"/>
            <a:ext cx="292608" cy="256032"/>
          </a:xfrm>
          <a:prstGeom prst="rect">
            <a:avLst/>
          </a:prstGeom>
          <a:noFill/>
          <a:ln/>
        </p:spPr>
        <p:txBody>
          <a:bodyPr wrap="square" lIns="0" tIns="0" rIns="0" bIns="0" rtlCol="0" anchor="ctr"/>
          <a:lstStyle/>
          <a:p>
            <a:pPr algn="ctr" indent="0" marL="0">
              <a:buNone/>
            </a:pPr>
            <a:r>
              <a:rPr lang="en-US" sz="1600" b="1" dirty="0">
                <a:solidFill>
                  <a:srgbClr val="56C9B7"/>
                </a:solidFill>
              </a:rPr>
              <a:t>→</a:t>
            </a:r>
            <a:endParaRPr lang="en-US" sz="1600" dirty="0"/>
          </a:p>
        </p:txBody>
      </p:sp>
      <p:sp>
        <p:nvSpPr>
          <p:cNvPr id="19" name="Text 17"/>
          <p:cNvSpPr/>
          <p:nvPr/>
        </p:nvSpPr>
        <p:spPr>
          <a:xfrm>
            <a:off x="8805672" y="3236976"/>
            <a:ext cx="2468880" cy="292608"/>
          </a:xfrm>
          <a:prstGeom prst="rect">
            <a:avLst/>
          </a:prstGeom>
          <a:noFill/>
          <a:ln/>
        </p:spPr>
        <p:txBody>
          <a:bodyPr wrap="square" lIns="0" tIns="0" rIns="0" bIns="0" rtlCol="0" anchor="ctr">
            <a:normAutofit/>
          </a:bodyPr>
          <a:lstStyle/>
          <a:p>
            <a:pPr indent="0" marL="0">
              <a:buNone/>
            </a:pPr>
            <a:r>
              <a:rPr lang="en-US" sz="1130" b="1" dirty="0">
                <a:solidFill>
                  <a:srgbClr val="FFFFFF"/>
                </a:solidFill>
              </a:rPr>
              <a:t>Replaceable, licence-conscious AI</a:t>
            </a:r>
            <a:endParaRPr lang="en-US" sz="1130" dirty="0"/>
          </a:p>
        </p:txBody>
      </p:sp>
      <p:sp>
        <p:nvSpPr>
          <p:cNvPr id="20" name="Shape 18"/>
          <p:cNvSpPr/>
          <p:nvPr/>
        </p:nvSpPr>
        <p:spPr>
          <a:xfrm>
            <a:off x="822960" y="4169664"/>
            <a:ext cx="5074920" cy="841248"/>
          </a:xfrm>
          <a:prstGeom prst="roundRect">
            <a:avLst>
              <a:gd name="adj" fmla="val 6522"/>
            </a:avLst>
          </a:prstGeom>
          <a:solidFill>
            <a:srgbClr val="123548"/>
          </a:solidFill>
          <a:ln w="12700">
            <a:solidFill>
              <a:srgbClr val="29586D"/>
            </a:solidFill>
            <a:prstDash val="solid"/>
          </a:ln>
        </p:spPr>
      </p:sp>
      <p:sp>
        <p:nvSpPr>
          <p:cNvPr id="21" name="Text 19"/>
          <p:cNvSpPr/>
          <p:nvPr/>
        </p:nvSpPr>
        <p:spPr>
          <a:xfrm>
            <a:off x="1005840" y="4325112"/>
            <a:ext cx="1783080" cy="201168"/>
          </a:xfrm>
          <a:prstGeom prst="rect">
            <a:avLst/>
          </a:prstGeom>
          <a:noFill/>
          <a:ln/>
        </p:spPr>
        <p:txBody>
          <a:bodyPr wrap="square" lIns="0" tIns="0" rIns="0" bIns="0" rtlCol="0" anchor="ctr">
            <a:normAutofit/>
          </a:bodyPr>
          <a:lstStyle/>
          <a:p>
            <a:pPr indent="0" marL="0">
              <a:buNone/>
            </a:pPr>
            <a:r>
              <a:rPr lang="en-US" sz="1020" dirty="0">
                <a:solidFill>
                  <a:srgbClr val="9FC6D5"/>
                </a:solidFill>
              </a:rPr>
              <a:t>Not one compute architecture</a:t>
            </a:r>
            <a:endParaRPr lang="en-US" sz="1020" dirty="0"/>
          </a:p>
        </p:txBody>
      </p:sp>
      <p:sp>
        <p:nvSpPr>
          <p:cNvPr id="22" name="Text 20"/>
          <p:cNvSpPr/>
          <p:nvPr/>
        </p:nvSpPr>
        <p:spPr>
          <a:xfrm>
            <a:off x="2816352" y="4288536"/>
            <a:ext cx="292608" cy="256032"/>
          </a:xfrm>
          <a:prstGeom prst="rect">
            <a:avLst/>
          </a:prstGeom>
          <a:noFill/>
          <a:ln/>
        </p:spPr>
        <p:txBody>
          <a:bodyPr wrap="square" lIns="0" tIns="0" rIns="0" bIns="0" rtlCol="0" anchor="ctr"/>
          <a:lstStyle/>
          <a:p>
            <a:pPr algn="ctr" indent="0" marL="0">
              <a:buNone/>
            </a:pPr>
            <a:r>
              <a:rPr lang="en-US" sz="1600" b="1" dirty="0">
                <a:solidFill>
                  <a:srgbClr val="56C9B7"/>
                </a:solidFill>
              </a:rPr>
              <a:t>→</a:t>
            </a:r>
            <a:endParaRPr lang="en-US" sz="1600" dirty="0"/>
          </a:p>
        </p:txBody>
      </p:sp>
      <p:sp>
        <p:nvSpPr>
          <p:cNvPr id="23" name="Text 21"/>
          <p:cNvSpPr/>
          <p:nvPr/>
        </p:nvSpPr>
        <p:spPr>
          <a:xfrm>
            <a:off x="3182112" y="4315968"/>
            <a:ext cx="2468880" cy="292608"/>
          </a:xfrm>
          <a:prstGeom prst="rect">
            <a:avLst/>
          </a:prstGeom>
          <a:noFill/>
          <a:ln/>
        </p:spPr>
        <p:txBody>
          <a:bodyPr wrap="square" lIns="0" tIns="0" rIns="0" bIns="0" rtlCol="0" anchor="ctr">
            <a:normAutofit/>
          </a:bodyPr>
          <a:lstStyle/>
          <a:p>
            <a:pPr indent="0" marL="0">
              <a:buNone/>
            </a:pPr>
            <a:r>
              <a:rPr lang="en-US" sz="1130" b="1" dirty="0">
                <a:solidFill>
                  <a:srgbClr val="FFFFFF"/>
                </a:solidFill>
              </a:rPr>
              <a:t>Central + Edge + Future UAV Compute</a:t>
            </a:r>
            <a:endParaRPr lang="en-US" sz="1130" dirty="0"/>
          </a:p>
        </p:txBody>
      </p:sp>
      <p:sp>
        <p:nvSpPr>
          <p:cNvPr id="24" name="Shape 22"/>
          <p:cNvSpPr/>
          <p:nvPr/>
        </p:nvSpPr>
        <p:spPr>
          <a:xfrm>
            <a:off x="6446520" y="4169664"/>
            <a:ext cx="5074920" cy="841248"/>
          </a:xfrm>
          <a:prstGeom prst="roundRect">
            <a:avLst>
              <a:gd name="adj" fmla="val 6522"/>
            </a:avLst>
          </a:prstGeom>
          <a:solidFill>
            <a:srgbClr val="123548"/>
          </a:solidFill>
          <a:ln w="12700">
            <a:solidFill>
              <a:srgbClr val="29586D"/>
            </a:solidFill>
            <a:prstDash val="solid"/>
          </a:ln>
        </p:spPr>
      </p:sp>
      <p:sp>
        <p:nvSpPr>
          <p:cNvPr id="25" name="Text 23"/>
          <p:cNvSpPr/>
          <p:nvPr/>
        </p:nvSpPr>
        <p:spPr>
          <a:xfrm>
            <a:off x="6629400" y="4325112"/>
            <a:ext cx="1783080" cy="201168"/>
          </a:xfrm>
          <a:prstGeom prst="rect">
            <a:avLst/>
          </a:prstGeom>
          <a:noFill/>
          <a:ln/>
        </p:spPr>
        <p:txBody>
          <a:bodyPr wrap="square" lIns="0" tIns="0" rIns="0" bIns="0" rtlCol="0" anchor="ctr">
            <a:normAutofit/>
          </a:bodyPr>
          <a:lstStyle/>
          <a:p>
            <a:pPr indent="0" marL="0">
              <a:buNone/>
            </a:pPr>
            <a:r>
              <a:rPr lang="en-US" sz="1020" dirty="0">
                <a:solidFill>
                  <a:srgbClr val="9FC6D5"/>
                </a:solidFill>
              </a:rPr>
              <a:t>Not a greenfield concept</a:t>
            </a:r>
            <a:endParaRPr lang="en-US" sz="1020" dirty="0"/>
          </a:p>
        </p:txBody>
      </p:sp>
      <p:sp>
        <p:nvSpPr>
          <p:cNvPr id="26" name="Text 24"/>
          <p:cNvSpPr/>
          <p:nvPr/>
        </p:nvSpPr>
        <p:spPr>
          <a:xfrm>
            <a:off x="8439912" y="4288536"/>
            <a:ext cx="292608" cy="256032"/>
          </a:xfrm>
          <a:prstGeom prst="rect">
            <a:avLst/>
          </a:prstGeom>
          <a:noFill/>
          <a:ln/>
        </p:spPr>
        <p:txBody>
          <a:bodyPr wrap="square" lIns="0" tIns="0" rIns="0" bIns="0" rtlCol="0" anchor="ctr"/>
          <a:lstStyle/>
          <a:p>
            <a:pPr algn="ctr" indent="0" marL="0">
              <a:buNone/>
            </a:pPr>
            <a:r>
              <a:rPr lang="en-US" sz="1600" b="1" dirty="0">
                <a:solidFill>
                  <a:srgbClr val="56C9B7"/>
                </a:solidFill>
              </a:rPr>
              <a:t>→</a:t>
            </a:r>
            <a:endParaRPr lang="en-US" sz="1600" dirty="0"/>
          </a:p>
        </p:txBody>
      </p:sp>
      <p:sp>
        <p:nvSpPr>
          <p:cNvPr id="27" name="Text 25"/>
          <p:cNvSpPr/>
          <p:nvPr/>
        </p:nvSpPr>
        <p:spPr>
          <a:xfrm>
            <a:off x="8805672" y="4315968"/>
            <a:ext cx="2468880" cy="292608"/>
          </a:xfrm>
          <a:prstGeom prst="rect">
            <a:avLst/>
          </a:prstGeom>
          <a:noFill/>
          <a:ln/>
        </p:spPr>
        <p:txBody>
          <a:bodyPr wrap="square" lIns="0" tIns="0" rIns="0" bIns="0" rtlCol="0" anchor="ctr">
            <a:normAutofit/>
          </a:bodyPr>
          <a:lstStyle/>
          <a:p>
            <a:pPr indent="0" marL="0">
              <a:buNone/>
            </a:pPr>
            <a:r>
              <a:rPr lang="en-US" sz="1130" b="1" dirty="0">
                <a:solidFill>
                  <a:srgbClr val="FFFFFF"/>
                </a:solidFill>
              </a:rPr>
              <a:t>Existing Kerala Police foundation + Working MVP</a:t>
            </a:r>
            <a:endParaRPr lang="en-US" sz="1130" dirty="0"/>
          </a:p>
        </p:txBody>
      </p:sp>
      <p:sp>
        <p:nvSpPr>
          <p:cNvPr id="28" name="Shape 26"/>
          <p:cNvSpPr/>
          <p:nvPr/>
        </p:nvSpPr>
        <p:spPr>
          <a:xfrm>
            <a:off x="1097280" y="5486400"/>
            <a:ext cx="9985248" cy="658368"/>
          </a:xfrm>
          <a:prstGeom prst="roundRect">
            <a:avLst>
              <a:gd name="adj" fmla="val 9722"/>
            </a:avLst>
          </a:prstGeom>
          <a:solidFill>
            <a:srgbClr val="56C9B7"/>
          </a:solidFill>
          <a:ln w="12700">
            <a:solidFill>
              <a:srgbClr val="56C9B7"/>
            </a:solidFill>
            <a:prstDash val="solid"/>
          </a:ln>
        </p:spPr>
      </p:sp>
      <p:sp>
        <p:nvSpPr>
          <p:cNvPr id="29" name="Text 27"/>
          <p:cNvSpPr/>
          <p:nvPr/>
        </p:nvSpPr>
        <p:spPr>
          <a:xfrm>
            <a:off x="1353312" y="5687568"/>
            <a:ext cx="9473184" cy="256032"/>
          </a:xfrm>
          <a:prstGeom prst="rect">
            <a:avLst/>
          </a:prstGeom>
          <a:noFill/>
          <a:ln/>
        </p:spPr>
        <p:txBody>
          <a:bodyPr wrap="square" lIns="0" tIns="0" rIns="0" bIns="0" rtlCol="0" anchor="ctr">
            <a:normAutofit/>
          </a:bodyPr>
          <a:lstStyle/>
          <a:p>
            <a:pPr algn="ctr" indent="0" marL="0">
              <a:buNone/>
            </a:pPr>
            <a:r>
              <a:rPr lang="en-US" sz="1450" b="1" dirty="0">
                <a:solidFill>
                  <a:srgbClr val="0B1F33"/>
                </a:solidFill>
              </a:rPr>
              <a:t>SmartQEye Coastal transforms drone surveillance from isolated detections into persistent, context-aware and evidence-linked coastal intelligence.</a:t>
            </a:r>
            <a:endParaRPr lang="en-US" sz="1450" dirty="0"/>
          </a:p>
        </p:txBody>
      </p:sp>
      <p:sp>
        <p:nvSpPr>
          <p:cNvPr id="30" name="Text 28"/>
          <p:cNvSpPr/>
          <p:nvPr/>
        </p:nvSpPr>
        <p:spPr>
          <a:xfrm>
            <a:off x="3657600" y="6400800"/>
            <a:ext cx="4846320" cy="201168"/>
          </a:xfrm>
          <a:prstGeom prst="rect">
            <a:avLst/>
          </a:prstGeom>
          <a:noFill/>
          <a:ln/>
        </p:spPr>
        <p:txBody>
          <a:bodyPr wrap="square" lIns="0" tIns="0" rIns="0" bIns="0" rtlCol="0" anchor="ctr"/>
          <a:lstStyle/>
          <a:p>
            <a:pPr algn="ctr" indent="0" marL="0">
              <a:buNone/>
            </a:pPr>
            <a:r>
              <a:rPr lang="en-US" sz="950" dirty="0">
                <a:solidFill>
                  <a:srgbClr val="92B6C6"/>
                </a:solidFill>
              </a:rPr>
              <a:t>Quantumweave Intelligence Private Limited</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Quantumweave Intelligence Private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SmartQEye Coastal</dc:title>
  <dc:subject>SmartQEye Coastal – Kerala Police Technical Presentation</dc:subject>
  <dc:creator>Quantumweave Intelligence Private Limited</dc:creator>
  <cp:lastModifiedBy>Quantumweave Intelligence Private Limited</cp:lastModifiedBy>
  <cp:revision>1</cp:revision>
  <dcterms:created xsi:type="dcterms:W3CDTF">2026-10-15T15:46:37Z</dcterms:created>
  <dcterms:modified xsi:type="dcterms:W3CDTF">2026-10-15T15:46:37Z</dcterms:modified>
</cp:coreProperties>
</file>